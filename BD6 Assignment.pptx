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7" r:id="rId5"/>
  </p:sldIdLst>
  <p:sldSz cx="9601200" cy="12801600" type="A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22"/>
    <p:restoredTop sz="94625"/>
  </p:normalViewPr>
  <p:slideViewPr>
    <p:cSldViewPr snapToGrid="0">
      <p:cViewPr>
        <p:scale>
          <a:sx n="110" d="100"/>
          <a:sy n="110" d="100"/>
        </p:scale>
        <p:origin x="624" y="-3832"/>
      </p:cViewPr>
      <p:guideLst/>
    </p:cSldViewPr>
  </p:slideViewPr>
  <p:notesTextViewPr>
    <p:cViewPr>
      <p:scale>
        <a:sx n="20" d="100"/>
        <a:sy n="2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E0DECE-F939-FA46-AFCD-82950D062E73}" type="datetimeFigureOut">
              <a:rPr lang="en-GB" smtClean="0"/>
              <a:t>30/03/2026</a:t>
            </a:fld>
            <a:endParaRPr lang="en-GB"/>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2BEAF4-753D-F040-A46A-77FFC8E9928E}" type="slidenum">
              <a:rPr lang="en-GB" smtClean="0"/>
              <a:t>‹#›</a:t>
            </a:fld>
            <a:endParaRPr lang="en-GB"/>
          </a:p>
        </p:txBody>
      </p:sp>
    </p:spTree>
    <p:extLst>
      <p:ext uri="{BB962C8B-B14F-4D97-AF65-F5344CB8AC3E}">
        <p14:creationId xmlns:p14="http://schemas.microsoft.com/office/powerpoint/2010/main" val="1054406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2BEAF4-753D-F040-A46A-77FFC8E9928E}" type="slidenum">
              <a:rPr lang="en-GB" smtClean="0"/>
              <a:t>1</a:t>
            </a:fld>
            <a:endParaRPr lang="en-GB"/>
          </a:p>
        </p:txBody>
      </p:sp>
    </p:spTree>
    <p:extLst>
      <p:ext uri="{BB962C8B-B14F-4D97-AF65-F5344CB8AC3E}">
        <p14:creationId xmlns:p14="http://schemas.microsoft.com/office/powerpoint/2010/main" val="3114449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5957-A6EF-32E7-E3D1-1B003C9F61BD}"/>
              </a:ext>
            </a:extLst>
          </p:cNvPr>
          <p:cNvSpPr>
            <a:spLocks noGrp="1"/>
          </p:cNvSpPr>
          <p:nvPr>
            <p:ph type="ctrTitle"/>
          </p:nvPr>
        </p:nvSpPr>
        <p:spPr>
          <a:xfrm>
            <a:off x="1200150" y="2095078"/>
            <a:ext cx="7200900" cy="4456853"/>
          </a:xfrm>
        </p:spPr>
        <p:txBody>
          <a:bodyPr anchor="b"/>
          <a:lstStyle>
            <a:lvl1pPr algn="ctr">
              <a:defRPr sz="11200"/>
            </a:lvl1pPr>
          </a:lstStyle>
          <a:p>
            <a:r>
              <a:rPr lang="en-US"/>
              <a:t>Click to edit Master title style</a:t>
            </a:r>
            <a:endParaRPr lang="en-GB"/>
          </a:p>
        </p:txBody>
      </p:sp>
      <p:sp>
        <p:nvSpPr>
          <p:cNvPr id="3" name="Subtitle 2">
            <a:extLst>
              <a:ext uri="{FF2B5EF4-FFF2-40B4-BE49-F238E27FC236}">
                <a16:creationId xmlns:a16="http://schemas.microsoft.com/office/drawing/2014/main" id="{E3825EEC-0A7C-154A-78AF-21307B34CF47}"/>
              </a:ext>
            </a:extLst>
          </p:cNvPr>
          <p:cNvSpPr>
            <a:spLocks noGrp="1"/>
          </p:cNvSpPr>
          <p:nvPr>
            <p:ph type="subTitle" idx="1"/>
          </p:nvPr>
        </p:nvSpPr>
        <p:spPr>
          <a:xfrm>
            <a:off x="1200150" y="6723804"/>
            <a:ext cx="7200900" cy="3090756"/>
          </a:xfrm>
        </p:spPr>
        <p:txBody>
          <a:bodyPr/>
          <a:lstStyle>
            <a:lvl1pPr marL="0" indent="0" algn="ctr">
              <a:buNone/>
              <a:defRPr sz="4480"/>
            </a:lvl1pPr>
            <a:lvl2pPr marL="853455" indent="0" algn="ctr">
              <a:buNone/>
              <a:defRPr sz="3733"/>
            </a:lvl2pPr>
            <a:lvl3pPr marL="1706910" indent="0" algn="ctr">
              <a:buNone/>
              <a:defRPr sz="3360"/>
            </a:lvl3pPr>
            <a:lvl4pPr marL="2560366" indent="0" algn="ctr">
              <a:buNone/>
              <a:defRPr sz="2987"/>
            </a:lvl4pPr>
            <a:lvl5pPr marL="3413821" indent="0" algn="ctr">
              <a:buNone/>
              <a:defRPr sz="2987"/>
            </a:lvl5pPr>
            <a:lvl6pPr marL="4267276" indent="0" algn="ctr">
              <a:buNone/>
              <a:defRPr sz="2987"/>
            </a:lvl6pPr>
            <a:lvl7pPr marL="5120731" indent="0" algn="ctr">
              <a:buNone/>
              <a:defRPr sz="2987"/>
            </a:lvl7pPr>
            <a:lvl8pPr marL="5974187" indent="0" algn="ctr">
              <a:buNone/>
              <a:defRPr sz="2987"/>
            </a:lvl8pPr>
            <a:lvl9pPr marL="6827642" indent="0" algn="ctr">
              <a:buNone/>
              <a:defRPr sz="2987"/>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5F32E64-FDCA-3477-2C2F-6351F106E4A0}"/>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5" name="Footer Placeholder 4">
            <a:extLst>
              <a:ext uri="{FF2B5EF4-FFF2-40B4-BE49-F238E27FC236}">
                <a16:creationId xmlns:a16="http://schemas.microsoft.com/office/drawing/2014/main" id="{5F0E7E88-14E3-DDE4-83DB-A47D688C31C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4BC03FC-2D55-6B61-A367-2D593B640668}"/>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42080403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64DFE-1C4E-BAD9-D3B4-913D786F56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B9E0584-A067-E8B2-2ADF-8B5A138B5D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A90663-C45E-4197-AA0A-34B4FF7EC89A}"/>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5" name="Footer Placeholder 4">
            <a:extLst>
              <a:ext uri="{FF2B5EF4-FFF2-40B4-BE49-F238E27FC236}">
                <a16:creationId xmlns:a16="http://schemas.microsoft.com/office/drawing/2014/main" id="{AA71D409-2079-EBFB-DA3C-969592ECA96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714A8983-65A7-BE7A-3ECB-60F797C9CACC}"/>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2452001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CD998-78BB-45C0-DC77-BFEB31D88B88}"/>
              </a:ext>
            </a:extLst>
          </p:cNvPr>
          <p:cNvSpPr>
            <a:spLocks noGrp="1"/>
          </p:cNvSpPr>
          <p:nvPr>
            <p:ph type="title"/>
          </p:nvPr>
        </p:nvSpPr>
        <p:spPr>
          <a:xfrm>
            <a:off x="655082" y="3191512"/>
            <a:ext cx="8281035" cy="5325109"/>
          </a:xfrm>
        </p:spPr>
        <p:txBody>
          <a:bodyPr anchor="b"/>
          <a:lstStyle>
            <a:lvl1pPr>
              <a:defRPr sz="11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927812D-600D-7B2D-69A4-F680EBB7A2CC}"/>
              </a:ext>
            </a:extLst>
          </p:cNvPr>
          <p:cNvSpPr>
            <a:spLocks noGrp="1"/>
          </p:cNvSpPr>
          <p:nvPr>
            <p:ph type="body" idx="1"/>
          </p:nvPr>
        </p:nvSpPr>
        <p:spPr>
          <a:xfrm>
            <a:off x="655082" y="8566999"/>
            <a:ext cx="8281035" cy="2800349"/>
          </a:xfrm>
        </p:spPr>
        <p:txBody>
          <a:bodyPr/>
          <a:lstStyle>
            <a:lvl1pPr marL="0" indent="0">
              <a:buNone/>
              <a:defRPr sz="4480">
                <a:solidFill>
                  <a:schemeClr val="tx1">
                    <a:tint val="75000"/>
                  </a:schemeClr>
                </a:solidFill>
              </a:defRPr>
            </a:lvl1pPr>
            <a:lvl2pPr marL="853455" indent="0">
              <a:buNone/>
              <a:defRPr sz="3733">
                <a:solidFill>
                  <a:schemeClr val="tx1">
                    <a:tint val="75000"/>
                  </a:schemeClr>
                </a:solidFill>
              </a:defRPr>
            </a:lvl2pPr>
            <a:lvl3pPr marL="1706910" indent="0">
              <a:buNone/>
              <a:defRPr sz="3360">
                <a:solidFill>
                  <a:schemeClr val="tx1">
                    <a:tint val="75000"/>
                  </a:schemeClr>
                </a:solidFill>
              </a:defRPr>
            </a:lvl3pPr>
            <a:lvl4pPr marL="2560366" indent="0">
              <a:buNone/>
              <a:defRPr sz="2987">
                <a:solidFill>
                  <a:schemeClr val="tx1">
                    <a:tint val="75000"/>
                  </a:schemeClr>
                </a:solidFill>
              </a:defRPr>
            </a:lvl4pPr>
            <a:lvl5pPr marL="3413821" indent="0">
              <a:buNone/>
              <a:defRPr sz="2987">
                <a:solidFill>
                  <a:schemeClr val="tx1">
                    <a:tint val="75000"/>
                  </a:schemeClr>
                </a:solidFill>
              </a:defRPr>
            </a:lvl5pPr>
            <a:lvl6pPr marL="4267276" indent="0">
              <a:buNone/>
              <a:defRPr sz="2987">
                <a:solidFill>
                  <a:schemeClr val="tx1">
                    <a:tint val="75000"/>
                  </a:schemeClr>
                </a:solidFill>
              </a:defRPr>
            </a:lvl6pPr>
            <a:lvl7pPr marL="5120731" indent="0">
              <a:buNone/>
              <a:defRPr sz="2987">
                <a:solidFill>
                  <a:schemeClr val="tx1">
                    <a:tint val="75000"/>
                  </a:schemeClr>
                </a:solidFill>
              </a:defRPr>
            </a:lvl7pPr>
            <a:lvl8pPr marL="5974187" indent="0">
              <a:buNone/>
              <a:defRPr sz="2987">
                <a:solidFill>
                  <a:schemeClr val="tx1">
                    <a:tint val="75000"/>
                  </a:schemeClr>
                </a:solidFill>
              </a:defRPr>
            </a:lvl8pPr>
            <a:lvl9pPr marL="6827642" indent="0">
              <a:buNone/>
              <a:defRPr sz="298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A42C1A-1D43-FD79-27DC-0F688D9BEE95}"/>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5" name="Footer Placeholder 4">
            <a:extLst>
              <a:ext uri="{FF2B5EF4-FFF2-40B4-BE49-F238E27FC236}">
                <a16:creationId xmlns:a16="http://schemas.microsoft.com/office/drawing/2014/main" id="{C5003866-6470-3D4A-38A7-21AF758C6C5A}"/>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F6F41C7-6E95-5BAF-A838-B73FC74B464A}"/>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105851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75D1E-3E39-8C74-2CFE-E9F426D6FF9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6384DC3-52C3-DA95-4ED9-F089E646D969}"/>
              </a:ext>
            </a:extLst>
          </p:cNvPr>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333F7AE-7948-6C06-5E53-C0B84A456129}"/>
              </a:ext>
            </a:extLst>
          </p:cNvPr>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1209914-CFA9-9D6C-9AD7-64D2B8C22830}"/>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6" name="Footer Placeholder 5">
            <a:extLst>
              <a:ext uri="{FF2B5EF4-FFF2-40B4-BE49-F238E27FC236}">
                <a16:creationId xmlns:a16="http://schemas.microsoft.com/office/drawing/2014/main" id="{FAA3A4E8-A471-C661-4D2B-1C50B9803F64}"/>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95EED025-15FD-E1A6-D3D1-DAB417877C77}"/>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4020925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9F92-4706-3DDC-7BA6-907307250544}"/>
              </a:ext>
            </a:extLst>
          </p:cNvPr>
          <p:cNvSpPr>
            <a:spLocks noGrp="1"/>
          </p:cNvSpPr>
          <p:nvPr>
            <p:ph type="title"/>
          </p:nvPr>
        </p:nvSpPr>
        <p:spPr>
          <a:xfrm>
            <a:off x="661333" y="681568"/>
            <a:ext cx="8281035" cy="2474384"/>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2E1805-710E-6EE8-72D2-7E35549937A1}"/>
              </a:ext>
            </a:extLst>
          </p:cNvPr>
          <p:cNvSpPr>
            <a:spLocks noGrp="1"/>
          </p:cNvSpPr>
          <p:nvPr>
            <p:ph type="body" idx="1"/>
          </p:nvPr>
        </p:nvSpPr>
        <p:spPr>
          <a:xfrm>
            <a:off x="661334" y="3138171"/>
            <a:ext cx="4061757"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4" name="Content Placeholder 3">
            <a:extLst>
              <a:ext uri="{FF2B5EF4-FFF2-40B4-BE49-F238E27FC236}">
                <a16:creationId xmlns:a16="http://schemas.microsoft.com/office/drawing/2014/main" id="{3074222E-79C4-C13E-F7DA-7A265BA5D986}"/>
              </a:ext>
            </a:extLst>
          </p:cNvPr>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91C5D034-B89B-CCDE-6FB7-F6E8EA64E10C}"/>
              </a:ext>
            </a:extLst>
          </p:cNvPr>
          <p:cNvSpPr>
            <a:spLocks noGrp="1"/>
          </p:cNvSpPr>
          <p:nvPr>
            <p:ph type="body" sz="quarter" idx="3"/>
          </p:nvPr>
        </p:nvSpPr>
        <p:spPr>
          <a:xfrm>
            <a:off x="4860607" y="3138171"/>
            <a:ext cx="4081761" cy="1537969"/>
          </a:xfrm>
        </p:spPr>
        <p:txBody>
          <a:bodyPr anchor="b"/>
          <a:lstStyle>
            <a:lvl1pPr marL="0" indent="0">
              <a:buNone/>
              <a:defRPr sz="4480" b="1"/>
            </a:lvl1pPr>
            <a:lvl2pPr marL="853455" indent="0">
              <a:buNone/>
              <a:defRPr sz="3733" b="1"/>
            </a:lvl2pPr>
            <a:lvl3pPr marL="1706910" indent="0">
              <a:buNone/>
              <a:defRPr sz="3360" b="1"/>
            </a:lvl3pPr>
            <a:lvl4pPr marL="2560366" indent="0">
              <a:buNone/>
              <a:defRPr sz="2987" b="1"/>
            </a:lvl4pPr>
            <a:lvl5pPr marL="3413821" indent="0">
              <a:buNone/>
              <a:defRPr sz="2987" b="1"/>
            </a:lvl5pPr>
            <a:lvl6pPr marL="4267276" indent="0">
              <a:buNone/>
              <a:defRPr sz="2987" b="1"/>
            </a:lvl6pPr>
            <a:lvl7pPr marL="5120731" indent="0">
              <a:buNone/>
              <a:defRPr sz="2987" b="1"/>
            </a:lvl7pPr>
            <a:lvl8pPr marL="5974187" indent="0">
              <a:buNone/>
              <a:defRPr sz="2987" b="1"/>
            </a:lvl8pPr>
            <a:lvl9pPr marL="6827642" indent="0">
              <a:buNone/>
              <a:defRPr sz="2987" b="1"/>
            </a:lvl9pPr>
          </a:lstStyle>
          <a:p>
            <a:pPr lvl="0"/>
            <a:r>
              <a:rPr lang="en-US"/>
              <a:t>Click to edit Master text styles</a:t>
            </a:r>
          </a:p>
        </p:txBody>
      </p:sp>
      <p:sp>
        <p:nvSpPr>
          <p:cNvPr id="6" name="Content Placeholder 5">
            <a:extLst>
              <a:ext uri="{FF2B5EF4-FFF2-40B4-BE49-F238E27FC236}">
                <a16:creationId xmlns:a16="http://schemas.microsoft.com/office/drawing/2014/main" id="{CB137708-0F32-5EAE-16E3-5CEC2C48DDEC}"/>
              </a:ext>
            </a:extLst>
          </p:cNvPr>
          <p:cNvSpPr>
            <a:spLocks noGrp="1"/>
          </p:cNvSpPr>
          <p:nvPr>
            <p:ph sz="quarter" idx="4"/>
          </p:nvPr>
        </p:nvSpPr>
        <p:spPr>
          <a:xfrm>
            <a:off x="4860607"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3509398-9208-6CE7-B5D8-922184E484D3}"/>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8" name="Footer Placeholder 7">
            <a:extLst>
              <a:ext uri="{FF2B5EF4-FFF2-40B4-BE49-F238E27FC236}">
                <a16:creationId xmlns:a16="http://schemas.microsoft.com/office/drawing/2014/main" id="{17FCADD5-DD6F-640A-A2AC-6FCEB414556C}"/>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D906E592-D0B8-9C85-06A0-398F62216259}"/>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3447913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F9798-5B85-A4F2-E101-1121C3F9495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CF1F383-63DE-D0B8-8856-624481017098}"/>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4" name="Footer Placeholder 3">
            <a:extLst>
              <a:ext uri="{FF2B5EF4-FFF2-40B4-BE49-F238E27FC236}">
                <a16:creationId xmlns:a16="http://schemas.microsoft.com/office/drawing/2014/main" id="{F514E45E-B824-F49A-D550-DFBBC2360D6D}"/>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D4DA846F-17E7-5BAF-65E8-E18B1D8235C5}"/>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3867224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EA2AD3-BC1E-9021-B75C-7BB7BBA930D4}"/>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3" name="Footer Placeholder 2">
            <a:extLst>
              <a:ext uri="{FF2B5EF4-FFF2-40B4-BE49-F238E27FC236}">
                <a16:creationId xmlns:a16="http://schemas.microsoft.com/office/drawing/2014/main" id="{3D601FD4-959E-CE8B-CAD5-C29DF791AB7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CE5199D-9EFE-4D3A-F830-FDE667B914E3}"/>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12007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2A318-38E3-4775-8C91-13BCC817BF4A}"/>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7E83DCD-037A-8390-B751-90536D891278}"/>
              </a:ext>
            </a:extLst>
          </p:cNvPr>
          <p:cNvSpPr>
            <a:spLocks noGrp="1"/>
          </p:cNvSpPr>
          <p:nvPr>
            <p:ph idx="1"/>
          </p:nvPr>
        </p:nvSpPr>
        <p:spPr>
          <a:xfrm>
            <a:off x="4081760" y="1843194"/>
            <a:ext cx="4860608" cy="9097433"/>
          </a:xfrm>
        </p:spPr>
        <p:txBody>
          <a:bodyPr/>
          <a:lstStyle>
            <a:lvl1pPr>
              <a:defRPr sz="5973"/>
            </a:lvl1pPr>
            <a:lvl2pPr>
              <a:defRPr sz="5227"/>
            </a:lvl2pPr>
            <a:lvl3pPr>
              <a:defRPr sz="4480"/>
            </a:lvl3pPr>
            <a:lvl4pPr>
              <a:defRPr sz="3733"/>
            </a:lvl4pPr>
            <a:lvl5pPr>
              <a:defRPr sz="3733"/>
            </a:lvl5pPr>
            <a:lvl6pPr>
              <a:defRPr sz="3733"/>
            </a:lvl6pPr>
            <a:lvl7pPr>
              <a:defRPr sz="3733"/>
            </a:lvl7pPr>
            <a:lvl8pPr>
              <a:defRPr sz="3733"/>
            </a:lvl8pPr>
            <a:lvl9pPr>
              <a:defRPr sz="37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5575D34-C1AA-27C9-3C46-0D6DD3484AF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52E1DB74-5801-1CA3-51E5-D0BCBA37E577}"/>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6" name="Footer Placeholder 5">
            <a:extLst>
              <a:ext uri="{FF2B5EF4-FFF2-40B4-BE49-F238E27FC236}">
                <a16:creationId xmlns:a16="http://schemas.microsoft.com/office/drawing/2014/main" id="{010D4AE3-42FF-B0A6-1279-C81F30D19811}"/>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4399B40-3CC6-20CD-8709-BABE62158F0D}"/>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1334135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98D11-6676-AD97-54F8-77FB651B737E}"/>
              </a:ext>
            </a:extLst>
          </p:cNvPr>
          <p:cNvSpPr>
            <a:spLocks noGrp="1"/>
          </p:cNvSpPr>
          <p:nvPr>
            <p:ph type="title"/>
          </p:nvPr>
        </p:nvSpPr>
        <p:spPr>
          <a:xfrm>
            <a:off x="661333" y="853440"/>
            <a:ext cx="3096637" cy="2987040"/>
          </a:xfrm>
        </p:spPr>
        <p:txBody>
          <a:bodyPr anchor="b"/>
          <a:lstStyle>
            <a:lvl1pPr>
              <a:defRPr sz="5973"/>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77260A-7003-5D76-4AD8-81E5B66EBC21}"/>
              </a:ext>
            </a:extLst>
          </p:cNvPr>
          <p:cNvSpPr>
            <a:spLocks noGrp="1"/>
          </p:cNvSpPr>
          <p:nvPr>
            <p:ph type="pic" idx="1"/>
          </p:nvPr>
        </p:nvSpPr>
        <p:spPr>
          <a:xfrm>
            <a:off x="4081760" y="1843194"/>
            <a:ext cx="4860608" cy="9097433"/>
          </a:xfrm>
        </p:spPr>
        <p:txBody>
          <a:bodyPr/>
          <a:lstStyle>
            <a:lvl1pPr marL="0" indent="0">
              <a:buNone/>
              <a:defRPr sz="5973"/>
            </a:lvl1pPr>
            <a:lvl2pPr marL="853455" indent="0">
              <a:buNone/>
              <a:defRPr sz="5227"/>
            </a:lvl2pPr>
            <a:lvl3pPr marL="1706910" indent="0">
              <a:buNone/>
              <a:defRPr sz="4480"/>
            </a:lvl3pPr>
            <a:lvl4pPr marL="2560366" indent="0">
              <a:buNone/>
              <a:defRPr sz="3733"/>
            </a:lvl4pPr>
            <a:lvl5pPr marL="3413821" indent="0">
              <a:buNone/>
              <a:defRPr sz="3733"/>
            </a:lvl5pPr>
            <a:lvl6pPr marL="4267276" indent="0">
              <a:buNone/>
              <a:defRPr sz="3733"/>
            </a:lvl6pPr>
            <a:lvl7pPr marL="5120731" indent="0">
              <a:buNone/>
              <a:defRPr sz="3733"/>
            </a:lvl7pPr>
            <a:lvl8pPr marL="5974187" indent="0">
              <a:buNone/>
              <a:defRPr sz="3733"/>
            </a:lvl8pPr>
            <a:lvl9pPr marL="6827642" indent="0">
              <a:buNone/>
              <a:defRPr sz="3733"/>
            </a:lvl9pPr>
          </a:lstStyle>
          <a:p>
            <a:endParaRPr lang="en-GB" dirty="0"/>
          </a:p>
        </p:txBody>
      </p:sp>
      <p:sp>
        <p:nvSpPr>
          <p:cNvPr id="4" name="Text Placeholder 3">
            <a:extLst>
              <a:ext uri="{FF2B5EF4-FFF2-40B4-BE49-F238E27FC236}">
                <a16:creationId xmlns:a16="http://schemas.microsoft.com/office/drawing/2014/main" id="{72E64FAF-1B0B-C0E4-BB4A-C8771E4BD8B7}"/>
              </a:ext>
            </a:extLst>
          </p:cNvPr>
          <p:cNvSpPr>
            <a:spLocks noGrp="1"/>
          </p:cNvSpPr>
          <p:nvPr>
            <p:ph type="body" sz="half" idx="2"/>
          </p:nvPr>
        </p:nvSpPr>
        <p:spPr>
          <a:xfrm>
            <a:off x="661333" y="3840480"/>
            <a:ext cx="3096637" cy="7114964"/>
          </a:xfrm>
        </p:spPr>
        <p:txBody>
          <a:bodyPr/>
          <a:lstStyle>
            <a:lvl1pPr marL="0" indent="0">
              <a:buNone/>
              <a:defRPr sz="2987"/>
            </a:lvl1pPr>
            <a:lvl2pPr marL="853455" indent="0">
              <a:buNone/>
              <a:defRPr sz="2613"/>
            </a:lvl2pPr>
            <a:lvl3pPr marL="1706910" indent="0">
              <a:buNone/>
              <a:defRPr sz="2240"/>
            </a:lvl3pPr>
            <a:lvl4pPr marL="2560366" indent="0">
              <a:buNone/>
              <a:defRPr sz="1867"/>
            </a:lvl4pPr>
            <a:lvl5pPr marL="3413821" indent="0">
              <a:buNone/>
              <a:defRPr sz="1867"/>
            </a:lvl5pPr>
            <a:lvl6pPr marL="4267276" indent="0">
              <a:buNone/>
              <a:defRPr sz="1867"/>
            </a:lvl6pPr>
            <a:lvl7pPr marL="5120731" indent="0">
              <a:buNone/>
              <a:defRPr sz="1867"/>
            </a:lvl7pPr>
            <a:lvl8pPr marL="5974187" indent="0">
              <a:buNone/>
              <a:defRPr sz="1867"/>
            </a:lvl8pPr>
            <a:lvl9pPr marL="6827642" indent="0">
              <a:buNone/>
              <a:defRPr sz="1867"/>
            </a:lvl9pPr>
          </a:lstStyle>
          <a:p>
            <a:pPr lvl="0"/>
            <a:r>
              <a:rPr lang="en-US"/>
              <a:t>Click to edit Master text styles</a:t>
            </a:r>
          </a:p>
        </p:txBody>
      </p:sp>
      <p:sp>
        <p:nvSpPr>
          <p:cNvPr id="5" name="Date Placeholder 4">
            <a:extLst>
              <a:ext uri="{FF2B5EF4-FFF2-40B4-BE49-F238E27FC236}">
                <a16:creationId xmlns:a16="http://schemas.microsoft.com/office/drawing/2014/main" id="{84781043-F4E0-B6B2-9B02-A39D0C61B15F}"/>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6" name="Footer Placeholder 5">
            <a:extLst>
              <a:ext uri="{FF2B5EF4-FFF2-40B4-BE49-F238E27FC236}">
                <a16:creationId xmlns:a16="http://schemas.microsoft.com/office/drawing/2014/main" id="{D24F4448-4867-29B0-B381-ABD2324B4EDB}"/>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2FACF4C-402B-97E5-D6F8-6282619D925D}"/>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2778731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EB5B2-D5B0-19AC-BEB0-9D73849D3E5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06005CA-94BC-E16C-EF84-344BD073F8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5F94088-AE02-9F42-0711-DB0AF9A0CDB3}"/>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5" name="Footer Placeholder 4">
            <a:extLst>
              <a:ext uri="{FF2B5EF4-FFF2-40B4-BE49-F238E27FC236}">
                <a16:creationId xmlns:a16="http://schemas.microsoft.com/office/drawing/2014/main" id="{7FA0081D-87C2-4B1B-DDE0-CC3F00DF20B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C445E1E-A0A0-BC08-735D-62C39D971EA0}"/>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655154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DBB0D-0647-BD14-ACDE-3FE29F7DAF94}"/>
              </a:ext>
            </a:extLst>
          </p:cNvPr>
          <p:cNvSpPr>
            <a:spLocks noGrp="1"/>
          </p:cNvSpPr>
          <p:nvPr>
            <p:ph type="title" orient="vert"/>
          </p:nvPr>
        </p:nvSpPr>
        <p:spPr>
          <a:xfrm>
            <a:off x="6870859" y="681567"/>
            <a:ext cx="2070259" cy="108487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91E2EB1-B200-E53F-4C09-07E4B9A25240}"/>
              </a:ext>
            </a:extLst>
          </p:cNvPr>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5D952A-342F-8455-302E-FD29E5066A15}"/>
              </a:ext>
            </a:extLst>
          </p:cNvPr>
          <p:cNvSpPr>
            <a:spLocks noGrp="1"/>
          </p:cNvSpPr>
          <p:nvPr>
            <p:ph type="dt" sz="half" idx="10"/>
          </p:nvPr>
        </p:nvSpPr>
        <p:spPr/>
        <p:txBody>
          <a:bodyPr/>
          <a:lstStyle/>
          <a:p>
            <a:fld id="{47641A74-98BD-4B3C-827E-E8E43FD96C93}" type="datetimeFigureOut">
              <a:rPr lang="en-GB" smtClean="0"/>
              <a:t>27/03/2026</a:t>
            </a:fld>
            <a:endParaRPr lang="en-GB" dirty="0"/>
          </a:p>
        </p:txBody>
      </p:sp>
      <p:sp>
        <p:nvSpPr>
          <p:cNvPr id="5" name="Footer Placeholder 4">
            <a:extLst>
              <a:ext uri="{FF2B5EF4-FFF2-40B4-BE49-F238E27FC236}">
                <a16:creationId xmlns:a16="http://schemas.microsoft.com/office/drawing/2014/main" id="{22F88315-D6D6-B195-E85D-6EE3849FE9A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E1E61F3-CA3E-E61E-9D5D-F0E721CF0231}"/>
              </a:ext>
            </a:extLst>
          </p:cNvPr>
          <p:cNvSpPr>
            <a:spLocks noGrp="1"/>
          </p:cNvSpPr>
          <p:nvPr>
            <p:ph type="sldNum" sz="quarter" idx="12"/>
          </p:nvPr>
        </p:nvSpPr>
        <p:spPr/>
        <p:txBody>
          <a:bodyPr/>
          <a:lstStyle/>
          <a:p>
            <a:fld id="{F88AA56C-1734-4119-BA56-AE67025E1ADC}" type="slidenum">
              <a:rPr lang="en-GB" smtClean="0"/>
              <a:t>‹#›</a:t>
            </a:fld>
            <a:endParaRPr lang="en-GB" dirty="0"/>
          </a:p>
        </p:txBody>
      </p:sp>
    </p:spTree>
    <p:extLst>
      <p:ext uri="{BB962C8B-B14F-4D97-AF65-F5344CB8AC3E}">
        <p14:creationId xmlns:p14="http://schemas.microsoft.com/office/powerpoint/2010/main" val="3624505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3BBE65-6769-7B1F-8E17-8E4DEE0F5E6F}"/>
              </a:ext>
            </a:extLst>
          </p:cNvPr>
          <p:cNvSpPr>
            <a:spLocks noGrp="1"/>
          </p:cNvSpPr>
          <p:nvPr>
            <p:ph type="title"/>
          </p:nvPr>
        </p:nvSpPr>
        <p:spPr>
          <a:xfrm>
            <a:off x="660083" y="681568"/>
            <a:ext cx="8281035" cy="2474384"/>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9B3C84-1ABC-9785-51AA-DEFE5FD58DE4}"/>
              </a:ext>
            </a:extLst>
          </p:cNvPr>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4952F6-A5E3-AE07-1374-AB3E6483774A}"/>
              </a:ext>
            </a:extLst>
          </p:cNvPr>
          <p:cNvSpPr>
            <a:spLocks noGrp="1"/>
          </p:cNvSpPr>
          <p:nvPr>
            <p:ph type="dt" sz="half" idx="2"/>
          </p:nvPr>
        </p:nvSpPr>
        <p:spPr>
          <a:xfrm>
            <a:off x="660083" y="11865187"/>
            <a:ext cx="2160270" cy="681567"/>
          </a:xfrm>
          <a:prstGeom prst="rect">
            <a:avLst/>
          </a:prstGeom>
        </p:spPr>
        <p:txBody>
          <a:bodyPr vert="horz" lIns="91440" tIns="45720" rIns="91440" bIns="45720" rtlCol="0" anchor="ctr"/>
          <a:lstStyle>
            <a:lvl1pPr algn="l">
              <a:defRPr sz="2240">
                <a:solidFill>
                  <a:schemeClr val="tx1">
                    <a:tint val="75000"/>
                  </a:schemeClr>
                </a:solidFill>
              </a:defRPr>
            </a:lvl1pPr>
          </a:lstStyle>
          <a:p>
            <a:fld id="{47641A74-98BD-4B3C-827E-E8E43FD96C93}" type="datetimeFigureOut">
              <a:rPr lang="en-GB" smtClean="0"/>
              <a:t>27/03/2026</a:t>
            </a:fld>
            <a:endParaRPr lang="en-GB" dirty="0"/>
          </a:p>
        </p:txBody>
      </p:sp>
      <p:sp>
        <p:nvSpPr>
          <p:cNvPr id="5" name="Footer Placeholder 4">
            <a:extLst>
              <a:ext uri="{FF2B5EF4-FFF2-40B4-BE49-F238E27FC236}">
                <a16:creationId xmlns:a16="http://schemas.microsoft.com/office/drawing/2014/main" id="{2DD11E92-5A95-C483-050F-E7CB60E47E38}"/>
              </a:ext>
            </a:extLst>
          </p:cNvPr>
          <p:cNvSpPr>
            <a:spLocks noGrp="1"/>
          </p:cNvSpPr>
          <p:nvPr>
            <p:ph type="ftr" sz="quarter" idx="3"/>
          </p:nvPr>
        </p:nvSpPr>
        <p:spPr>
          <a:xfrm>
            <a:off x="3180398" y="11865187"/>
            <a:ext cx="3240405" cy="681567"/>
          </a:xfrm>
          <a:prstGeom prst="rect">
            <a:avLst/>
          </a:prstGeom>
        </p:spPr>
        <p:txBody>
          <a:bodyPr vert="horz" lIns="91440" tIns="45720" rIns="91440" bIns="45720" rtlCol="0" anchor="ctr"/>
          <a:lstStyle>
            <a:lvl1pPr algn="ctr">
              <a:defRPr sz="224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A63E2AB0-37CA-182D-9940-8EDF9D524C17}"/>
              </a:ext>
            </a:extLst>
          </p:cNvPr>
          <p:cNvSpPr>
            <a:spLocks noGrp="1"/>
          </p:cNvSpPr>
          <p:nvPr>
            <p:ph type="sldNum" sz="quarter" idx="4"/>
          </p:nvPr>
        </p:nvSpPr>
        <p:spPr>
          <a:xfrm>
            <a:off x="6780848" y="11865187"/>
            <a:ext cx="2160270" cy="681567"/>
          </a:xfrm>
          <a:prstGeom prst="rect">
            <a:avLst/>
          </a:prstGeom>
        </p:spPr>
        <p:txBody>
          <a:bodyPr vert="horz" lIns="91440" tIns="45720" rIns="91440" bIns="45720" rtlCol="0" anchor="ctr"/>
          <a:lstStyle>
            <a:lvl1pPr algn="r">
              <a:defRPr sz="2240">
                <a:solidFill>
                  <a:schemeClr val="tx1">
                    <a:tint val="75000"/>
                  </a:schemeClr>
                </a:solidFill>
              </a:defRPr>
            </a:lvl1pPr>
          </a:lstStyle>
          <a:p>
            <a:fld id="{F88AA56C-1734-4119-BA56-AE67025E1ADC}" type="slidenum">
              <a:rPr lang="en-GB" smtClean="0"/>
              <a:t>‹#›</a:t>
            </a:fld>
            <a:endParaRPr lang="en-GB" dirty="0"/>
          </a:p>
        </p:txBody>
      </p:sp>
    </p:spTree>
    <p:extLst>
      <p:ext uri="{BB962C8B-B14F-4D97-AF65-F5344CB8AC3E}">
        <p14:creationId xmlns:p14="http://schemas.microsoft.com/office/powerpoint/2010/main" val="1527400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706910" rtl="0" eaLnBrk="1" latinLnBrk="0" hangingPunct="1">
        <a:lnSpc>
          <a:spcPct val="90000"/>
        </a:lnSpc>
        <a:spcBef>
          <a:spcPct val="0"/>
        </a:spcBef>
        <a:buNone/>
        <a:defRPr sz="8213" kern="1200">
          <a:solidFill>
            <a:schemeClr val="tx1"/>
          </a:solidFill>
          <a:latin typeface="+mj-lt"/>
          <a:ea typeface="+mj-ea"/>
          <a:cs typeface="+mj-cs"/>
        </a:defRPr>
      </a:lvl1pPr>
    </p:titleStyle>
    <p:bodyStyle>
      <a:lvl1pPr marL="426728" indent="-426728" algn="l" defTabSz="1706910" rtl="0" eaLnBrk="1" latinLnBrk="0" hangingPunct="1">
        <a:lnSpc>
          <a:spcPct val="90000"/>
        </a:lnSpc>
        <a:spcBef>
          <a:spcPts val="1867"/>
        </a:spcBef>
        <a:buFont typeface="Arial" panose="020B0604020202020204" pitchFamily="34" charset="0"/>
        <a:buChar char="•"/>
        <a:defRPr sz="5227" kern="1200">
          <a:solidFill>
            <a:schemeClr val="tx1"/>
          </a:solidFill>
          <a:latin typeface="+mn-lt"/>
          <a:ea typeface="+mn-ea"/>
          <a:cs typeface="+mn-cs"/>
        </a:defRPr>
      </a:lvl1pPr>
      <a:lvl2pPr marL="1280183" indent="-426728" algn="l" defTabSz="1706910" rtl="0" eaLnBrk="1" latinLnBrk="0" hangingPunct="1">
        <a:lnSpc>
          <a:spcPct val="90000"/>
        </a:lnSpc>
        <a:spcBef>
          <a:spcPts val="933"/>
        </a:spcBef>
        <a:buFont typeface="Arial" panose="020B0604020202020204" pitchFamily="34" charset="0"/>
        <a:buChar char="•"/>
        <a:defRPr sz="4480" kern="1200">
          <a:solidFill>
            <a:schemeClr val="tx1"/>
          </a:solidFill>
          <a:latin typeface="+mn-lt"/>
          <a:ea typeface="+mn-ea"/>
          <a:cs typeface="+mn-cs"/>
        </a:defRPr>
      </a:lvl2pPr>
      <a:lvl3pPr marL="2133638" indent="-426728" algn="l" defTabSz="1706910" rtl="0" eaLnBrk="1" latinLnBrk="0" hangingPunct="1">
        <a:lnSpc>
          <a:spcPct val="90000"/>
        </a:lnSpc>
        <a:spcBef>
          <a:spcPts val="933"/>
        </a:spcBef>
        <a:buFont typeface="Arial" panose="020B0604020202020204" pitchFamily="34" charset="0"/>
        <a:buChar char="•"/>
        <a:defRPr sz="3733" kern="1200">
          <a:solidFill>
            <a:schemeClr val="tx1"/>
          </a:solidFill>
          <a:latin typeface="+mn-lt"/>
          <a:ea typeface="+mn-ea"/>
          <a:cs typeface="+mn-cs"/>
        </a:defRPr>
      </a:lvl3pPr>
      <a:lvl4pPr marL="2987093"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4pPr>
      <a:lvl5pPr marL="384054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5pPr>
      <a:lvl6pPr marL="469400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6pPr>
      <a:lvl7pPr marL="5547459"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7pPr>
      <a:lvl8pPr marL="6400914"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8pPr>
      <a:lvl9pPr marL="7254370" indent="-426728" algn="l" defTabSz="1706910" rtl="0" eaLnBrk="1" latinLnBrk="0" hangingPunct="1">
        <a:lnSpc>
          <a:spcPct val="90000"/>
        </a:lnSpc>
        <a:spcBef>
          <a:spcPts val="933"/>
        </a:spcBef>
        <a:buFont typeface="Arial" panose="020B0604020202020204" pitchFamily="34" charset="0"/>
        <a:buChar char="•"/>
        <a:defRPr sz="3360" kern="1200">
          <a:solidFill>
            <a:schemeClr val="tx1"/>
          </a:solidFill>
          <a:latin typeface="+mn-lt"/>
          <a:ea typeface="+mn-ea"/>
          <a:cs typeface="+mn-cs"/>
        </a:defRPr>
      </a:lvl9pPr>
    </p:bodyStyle>
    <p:otherStyle>
      <a:defPPr>
        <a:defRPr lang="en-US"/>
      </a:defPPr>
      <a:lvl1pPr marL="0" algn="l" defTabSz="1706910" rtl="0" eaLnBrk="1" latinLnBrk="0" hangingPunct="1">
        <a:defRPr sz="3360" kern="1200">
          <a:solidFill>
            <a:schemeClr val="tx1"/>
          </a:solidFill>
          <a:latin typeface="+mn-lt"/>
          <a:ea typeface="+mn-ea"/>
          <a:cs typeface="+mn-cs"/>
        </a:defRPr>
      </a:lvl1pPr>
      <a:lvl2pPr marL="853455" algn="l" defTabSz="1706910" rtl="0" eaLnBrk="1" latinLnBrk="0" hangingPunct="1">
        <a:defRPr sz="3360" kern="1200">
          <a:solidFill>
            <a:schemeClr val="tx1"/>
          </a:solidFill>
          <a:latin typeface="+mn-lt"/>
          <a:ea typeface="+mn-ea"/>
          <a:cs typeface="+mn-cs"/>
        </a:defRPr>
      </a:lvl2pPr>
      <a:lvl3pPr marL="1706910" algn="l" defTabSz="1706910" rtl="0" eaLnBrk="1" latinLnBrk="0" hangingPunct="1">
        <a:defRPr sz="3360" kern="1200">
          <a:solidFill>
            <a:schemeClr val="tx1"/>
          </a:solidFill>
          <a:latin typeface="+mn-lt"/>
          <a:ea typeface="+mn-ea"/>
          <a:cs typeface="+mn-cs"/>
        </a:defRPr>
      </a:lvl3pPr>
      <a:lvl4pPr marL="2560366" algn="l" defTabSz="1706910" rtl="0" eaLnBrk="1" latinLnBrk="0" hangingPunct="1">
        <a:defRPr sz="3360" kern="1200">
          <a:solidFill>
            <a:schemeClr val="tx1"/>
          </a:solidFill>
          <a:latin typeface="+mn-lt"/>
          <a:ea typeface="+mn-ea"/>
          <a:cs typeface="+mn-cs"/>
        </a:defRPr>
      </a:lvl4pPr>
      <a:lvl5pPr marL="3413821" algn="l" defTabSz="1706910" rtl="0" eaLnBrk="1" latinLnBrk="0" hangingPunct="1">
        <a:defRPr sz="3360" kern="1200">
          <a:solidFill>
            <a:schemeClr val="tx1"/>
          </a:solidFill>
          <a:latin typeface="+mn-lt"/>
          <a:ea typeface="+mn-ea"/>
          <a:cs typeface="+mn-cs"/>
        </a:defRPr>
      </a:lvl5pPr>
      <a:lvl6pPr marL="4267276" algn="l" defTabSz="1706910" rtl="0" eaLnBrk="1" latinLnBrk="0" hangingPunct="1">
        <a:defRPr sz="3360" kern="1200">
          <a:solidFill>
            <a:schemeClr val="tx1"/>
          </a:solidFill>
          <a:latin typeface="+mn-lt"/>
          <a:ea typeface="+mn-ea"/>
          <a:cs typeface="+mn-cs"/>
        </a:defRPr>
      </a:lvl6pPr>
      <a:lvl7pPr marL="5120731" algn="l" defTabSz="1706910" rtl="0" eaLnBrk="1" latinLnBrk="0" hangingPunct="1">
        <a:defRPr sz="3360" kern="1200">
          <a:solidFill>
            <a:schemeClr val="tx1"/>
          </a:solidFill>
          <a:latin typeface="+mn-lt"/>
          <a:ea typeface="+mn-ea"/>
          <a:cs typeface="+mn-cs"/>
        </a:defRPr>
      </a:lvl7pPr>
      <a:lvl8pPr marL="5974187" algn="l" defTabSz="1706910" rtl="0" eaLnBrk="1" latinLnBrk="0" hangingPunct="1">
        <a:defRPr sz="3360" kern="1200">
          <a:solidFill>
            <a:schemeClr val="tx1"/>
          </a:solidFill>
          <a:latin typeface="+mn-lt"/>
          <a:ea typeface="+mn-ea"/>
          <a:cs typeface="+mn-cs"/>
        </a:defRPr>
      </a:lvl8pPr>
      <a:lvl9pPr marL="6827642" algn="l" defTabSz="1706910" rtl="0" eaLnBrk="1" latinLnBrk="0" hangingPunct="1">
        <a:defRPr sz="33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 name="Picture 47">
            <a:extLst>
              <a:ext uri="{FF2B5EF4-FFF2-40B4-BE49-F238E27FC236}">
                <a16:creationId xmlns:a16="http://schemas.microsoft.com/office/drawing/2014/main" id="{5F126031-DD53-40D9-0C7F-5E458091FC20}"/>
              </a:ext>
            </a:extLst>
          </p:cNvPr>
          <p:cNvPicPr>
            <a:picLocks noChangeAspect="1"/>
          </p:cNvPicPr>
          <p:nvPr/>
        </p:nvPicPr>
        <p:blipFill>
          <a:blip r:embed="rId3"/>
          <a:stretch>
            <a:fillRect/>
          </a:stretch>
        </p:blipFill>
        <p:spPr>
          <a:xfrm>
            <a:off x="7369696" y="8341457"/>
            <a:ext cx="1689656" cy="923344"/>
          </a:xfrm>
          <a:prstGeom prst="rect">
            <a:avLst/>
          </a:prstGeom>
        </p:spPr>
      </p:pic>
      <p:sp>
        <p:nvSpPr>
          <p:cNvPr id="47" name="TextBox 1">
            <a:extLst>
              <a:ext uri="{FF2B5EF4-FFF2-40B4-BE49-F238E27FC236}">
                <a16:creationId xmlns:a16="http://schemas.microsoft.com/office/drawing/2014/main" id="{AFF3AFDD-3804-075E-4BC9-89A45A239C98}"/>
              </a:ext>
            </a:extLst>
          </p:cNvPr>
          <p:cNvSpPr txBox="1"/>
          <p:nvPr/>
        </p:nvSpPr>
        <p:spPr>
          <a:xfrm>
            <a:off x="6809773" y="7370937"/>
            <a:ext cx="2613195" cy="5349600"/>
          </a:xfrm>
          <a:prstGeom prst="rect">
            <a:avLst/>
          </a:prstGeom>
          <a:noFill/>
          <a:ln w="38100">
            <a:solidFill>
              <a:schemeClr val="accent1">
                <a:lumMod val="60000"/>
                <a:lumOff val="40000"/>
              </a:schemeClr>
            </a:solidFill>
          </a:ln>
        </p:spPr>
        <p:style>
          <a:lnRef idx="0">
            <a:scrgbClr r="0" g="0" b="0"/>
          </a:lnRef>
          <a:fillRef idx="0">
            <a:scrgbClr r="0" g="0" b="0"/>
          </a:fillRef>
          <a:effectRef idx="0">
            <a:scrgbClr r="0" g="0" b="0"/>
          </a:effectRef>
          <a:fontRef idx="major"/>
        </p:style>
        <p:txBody>
          <a:bodyPr wrap="square" lIns="91440" tIns="45720" rIns="91440" bIns="4572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6. Final Model </a:t>
            </a:r>
            <a:r>
              <a:rPr lang="en-GB" sz="1600" dirty="0">
                <a:solidFill>
                  <a:prstClr val="black"/>
                </a:solidFill>
                <a:latin typeface="Calibri" panose="020F0502020204030204"/>
              </a:rPr>
              <a:t>&amp; </a:t>
            </a: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Results</a:t>
            </a:r>
          </a:p>
          <a:p>
            <a:pPr lvl="0" defTabSz="1706910">
              <a:defRPr/>
            </a:pPr>
            <a:r>
              <a:rPr lang="en-GB" sz="1000" dirty="0">
                <a:solidFill>
                  <a:prstClr val="black"/>
                </a:solidFill>
                <a:latin typeface="+mn-lt"/>
              </a:rPr>
              <a:t>After applying Feature Selection method, </a:t>
            </a:r>
            <a:r>
              <a:rPr lang="en-GB" sz="1000" b="1" dirty="0">
                <a:solidFill>
                  <a:prstClr val="black"/>
                </a:solidFill>
                <a:latin typeface="+mn-lt"/>
              </a:rPr>
              <a:t>Logistic Regression achieved the best performance, with the highest recall (Recall = 0.935, AUC = 0.972)</a:t>
            </a:r>
            <a:r>
              <a:rPr lang="en-GB" sz="1000" dirty="0">
                <a:solidFill>
                  <a:prstClr val="black"/>
                </a:solidFill>
                <a:latin typeface="+mn-lt"/>
              </a:rPr>
              <a:t>, and was therefore selected as the final model. </a:t>
            </a:r>
          </a:p>
          <a:p>
            <a:pPr lvl="0" defTabSz="1706910">
              <a:defRPr/>
            </a:pPr>
            <a:endParaRPr kumimoji="0" lang="en-GB" sz="1000" b="0" i="0" u="none" strike="noStrike" kern="1200" cap="none" spc="0" normalizeH="0" baseline="0" noProof="0" dirty="0">
              <a:ln>
                <a:noFill/>
              </a:ln>
              <a:solidFill>
                <a:prstClr val="black"/>
              </a:solidFill>
              <a:effectLst/>
              <a:uLnTx/>
              <a:uFillTx/>
              <a:latin typeface="+mn-lt"/>
              <a:ea typeface="+mn-ea"/>
              <a:cs typeface="+mn-cs"/>
            </a:endParaRPr>
          </a:p>
          <a:p>
            <a:pPr lvl="0" defTabSz="1706910">
              <a:defRPr/>
            </a:pPr>
            <a:endParaRPr lang="en-GB" sz="1000" dirty="0">
              <a:solidFill>
                <a:prstClr val="black"/>
              </a:solidFill>
              <a:latin typeface="+mn-lt"/>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mn-lt"/>
              <a:ea typeface="+mn-ea"/>
              <a:cs typeface="+mn-cs"/>
            </a:endParaRPr>
          </a:p>
          <a:p>
            <a:pPr lvl="0" defTabSz="1706910">
              <a:defRPr/>
            </a:pPr>
            <a:endParaRPr lang="en-GB" sz="1000" noProof="0" dirty="0">
              <a:solidFill>
                <a:prstClr val="black"/>
              </a:solidFill>
              <a:latin typeface="+mn-lt"/>
            </a:endParaRPr>
          </a:p>
          <a:p>
            <a:pPr lvl="0" defTabSz="1706910">
              <a:defRPr/>
            </a:pPr>
            <a:endParaRPr kumimoji="0" lang="ru-RU" sz="1000" b="0" i="0" u="none" strike="noStrike" kern="1200" cap="none" spc="0" normalizeH="0" baseline="0" noProof="0" dirty="0">
              <a:ln>
                <a:noFill/>
              </a:ln>
              <a:solidFill>
                <a:prstClr val="black"/>
              </a:solidFill>
              <a:effectLst/>
              <a:uLnTx/>
              <a:uFillTx/>
              <a:latin typeface="+mn-lt"/>
              <a:ea typeface="+mn-ea"/>
              <a:cs typeface="+mn-cs"/>
            </a:endParaRPr>
          </a:p>
          <a:p>
            <a:pPr lvl="0" defTabSz="1706910">
              <a:defRPr/>
            </a:pPr>
            <a:endParaRPr kumimoji="0" lang="ru-RU" sz="1000" b="1" i="0" u="none" strike="noStrike" kern="1200" cap="none" spc="0" normalizeH="0" baseline="0" noProof="0" dirty="0">
              <a:ln>
                <a:noFill/>
              </a:ln>
              <a:solidFill>
                <a:prstClr val="black"/>
              </a:solidFill>
              <a:effectLst/>
              <a:uLnTx/>
              <a:uFillTx/>
              <a:latin typeface="+mn-lt"/>
              <a:ea typeface="+mn-ea"/>
              <a:cs typeface="+mn-cs"/>
            </a:endParaRPr>
          </a:p>
          <a:p>
            <a:pPr lvl="0" defTabSz="1706910">
              <a:defRPr/>
            </a:pPr>
            <a:r>
              <a:rPr kumimoji="0" lang="en-GB" sz="1000" b="1" i="0" u="none" strike="noStrike" kern="1200" cap="none" spc="0" normalizeH="0" baseline="0" noProof="0" dirty="0">
                <a:ln>
                  <a:noFill/>
                </a:ln>
                <a:solidFill>
                  <a:prstClr val="black"/>
                </a:solidFill>
                <a:effectLst/>
                <a:uLnTx/>
                <a:uFillTx/>
                <a:latin typeface="+mn-lt"/>
                <a:ea typeface="+mn-ea"/>
                <a:cs typeface="+mn-cs"/>
              </a:rPr>
              <a:t>Confusion Matrix shows the following:</a:t>
            </a:r>
          </a:p>
          <a:p>
            <a:pPr lvl="0" defTabSz="1706910">
              <a:defRPr/>
            </a:pPr>
            <a:r>
              <a:rPr lang="en-GB" sz="1000" i="1" dirty="0">
                <a:latin typeface="+mn-lt"/>
                <a:ea typeface="Calibri"/>
                <a:cs typeface="Calibri"/>
              </a:rPr>
              <a:t>• </a:t>
            </a:r>
            <a:r>
              <a:rPr lang="en-GB" sz="1000" dirty="0">
                <a:solidFill>
                  <a:prstClr val="black"/>
                </a:solidFill>
                <a:latin typeface="+mn-lt"/>
              </a:rPr>
              <a:t>True Negatives </a:t>
            </a:r>
            <a:r>
              <a:rPr lang="en-GB" sz="1000" b="1" dirty="0">
                <a:solidFill>
                  <a:prstClr val="black"/>
                </a:solidFill>
                <a:latin typeface="+mn-lt"/>
              </a:rPr>
              <a:t>(TN) = 81 </a:t>
            </a:r>
            <a:endParaRPr lang="ru-RU" sz="1000" b="1" dirty="0">
              <a:solidFill>
                <a:prstClr val="black"/>
              </a:solidFill>
              <a:latin typeface="+mn-lt"/>
            </a:endParaRPr>
          </a:p>
          <a:p>
            <a:pPr lvl="0" defTabSz="1706910">
              <a:defRPr/>
            </a:pPr>
            <a:r>
              <a:rPr lang="ru-RU" sz="1000" dirty="0">
                <a:solidFill>
                  <a:prstClr val="black"/>
                </a:solidFill>
                <a:latin typeface="+mn-lt"/>
              </a:rPr>
              <a:t>   </a:t>
            </a:r>
            <a:r>
              <a:rPr lang="en-GB" sz="1000" dirty="0">
                <a:solidFill>
                  <a:prstClr val="black"/>
                </a:solidFill>
                <a:latin typeface="+mn-lt"/>
              </a:rPr>
              <a:t>(correctly predicted no failure);</a:t>
            </a:r>
          </a:p>
          <a:p>
            <a:pPr lvl="0" defTabSz="1706910">
              <a:defRPr/>
            </a:pPr>
            <a:r>
              <a:rPr lang="en-GB" sz="1000" i="1" dirty="0">
                <a:latin typeface="+mn-lt"/>
                <a:ea typeface="Calibri"/>
                <a:cs typeface="Calibri"/>
              </a:rPr>
              <a:t>• </a:t>
            </a:r>
            <a:r>
              <a:rPr lang="en-GB" sz="1000" dirty="0">
                <a:solidFill>
                  <a:prstClr val="black"/>
                </a:solidFill>
                <a:latin typeface="+mn-lt"/>
              </a:rPr>
              <a:t>False Positives </a:t>
            </a:r>
            <a:r>
              <a:rPr lang="en-GB" sz="1000" b="1" dirty="0">
                <a:solidFill>
                  <a:prstClr val="black"/>
                </a:solidFill>
                <a:latin typeface="+mn-lt"/>
              </a:rPr>
              <a:t>(FP) = 5 </a:t>
            </a:r>
            <a:endParaRPr lang="ru-RU" sz="1000" b="1" dirty="0">
              <a:solidFill>
                <a:prstClr val="black"/>
              </a:solidFill>
              <a:latin typeface="+mn-lt"/>
            </a:endParaRPr>
          </a:p>
          <a:p>
            <a:pPr lvl="0" defTabSz="1706910">
              <a:defRPr/>
            </a:pPr>
            <a:r>
              <a:rPr lang="ru-RU" sz="1000" dirty="0">
                <a:solidFill>
                  <a:prstClr val="black"/>
                </a:solidFill>
                <a:latin typeface="+mn-lt"/>
              </a:rPr>
              <a:t>   </a:t>
            </a:r>
            <a:r>
              <a:rPr lang="en-GB" sz="1000" dirty="0">
                <a:solidFill>
                  <a:prstClr val="black"/>
                </a:solidFill>
                <a:latin typeface="+mn-lt"/>
              </a:rPr>
              <a:t>(predicted a failure when none occurred);</a:t>
            </a:r>
          </a:p>
          <a:p>
            <a:pPr lvl="0" defTabSz="1706910">
              <a:defRPr/>
            </a:pPr>
            <a:r>
              <a:rPr lang="en-GB" sz="1000" i="1" dirty="0">
                <a:latin typeface="+mn-lt"/>
                <a:ea typeface="Calibri"/>
                <a:cs typeface="Calibri"/>
              </a:rPr>
              <a:t>• </a:t>
            </a:r>
            <a:r>
              <a:rPr lang="en-GB" sz="1000" dirty="0">
                <a:solidFill>
                  <a:prstClr val="black"/>
                </a:solidFill>
                <a:latin typeface="+mn-lt"/>
              </a:rPr>
              <a:t>False Negatives </a:t>
            </a:r>
            <a:r>
              <a:rPr lang="en-GB" sz="1000" b="1" dirty="0">
                <a:solidFill>
                  <a:prstClr val="black"/>
                </a:solidFill>
                <a:latin typeface="+mn-lt"/>
              </a:rPr>
              <a:t>(FN) = 5 </a:t>
            </a:r>
            <a:endParaRPr lang="ru-RU" sz="1000" b="1" dirty="0">
              <a:solidFill>
                <a:prstClr val="black"/>
              </a:solidFill>
              <a:latin typeface="+mn-lt"/>
            </a:endParaRPr>
          </a:p>
          <a:p>
            <a:pPr lvl="0" defTabSz="1706910">
              <a:defRPr/>
            </a:pPr>
            <a:r>
              <a:rPr lang="ru-RU" sz="1000" dirty="0">
                <a:solidFill>
                  <a:prstClr val="black"/>
                </a:solidFill>
                <a:latin typeface="+mn-lt"/>
              </a:rPr>
              <a:t>   </a:t>
            </a:r>
            <a:r>
              <a:rPr lang="en-GB" sz="1000" dirty="0">
                <a:solidFill>
                  <a:prstClr val="black"/>
                </a:solidFill>
                <a:latin typeface="+mn-lt"/>
              </a:rPr>
              <a:t>(the model missed a failure case);</a:t>
            </a:r>
          </a:p>
          <a:p>
            <a:pPr lvl="0" defTabSz="1706910">
              <a:defRPr/>
            </a:pPr>
            <a:r>
              <a:rPr lang="en-GB" sz="1000" i="1" dirty="0">
                <a:latin typeface="+mn-lt"/>
                <a:ea typeface="Calibri"/>
                <a:cs typeface="Calibri"/>
              </a:rPr>
              <a:t>• </a:t>
            </a:r>
            <a:r>
              <a:rPr lang="en-GB" sz="1000" dirty="0">
                <a:solidFill>
                  <a:prstClr val="black"/>
                </a:solidFill>
                <a:latin typeface="+mn-lt"/>
              </a:rPr>
              <a:t>True Positives </a:t>
            </a:r>
            <a:r>
              <a:rPr lang="en-GB" sz="1000" b="1" dirty="0">
                <a:solidFill>
                  <a:prstClr val="black"/>
                </a:solidFill>
                <a:latin typeface="+mn-lt"/>
              </a:rPr>
              <a:t>(TP) = 42 </a:t>
            </a:r>
            <a:endParaRPr lang="ru-RU" sz="1000" b="1" dirty="0">
              <a:solidFill>
                <a:prstClr val="black"/>
              </a:solidFill>
              <a:latin typeface="+mn-lt"/>
            </a:endParaRPr>
          </a:p>
          <a:p>
            <a:pPr lvl="0" defTabSz="1706910">
              <a:defRPr/>
            </a:pPr>
            <a:r>
              <a:rPr lang="ru-RU" sz="1000" dirty="0">
                <a:solidFill>
                  <a:prstClr val="black"/>
                </a:solidFill>
                <a:latin typeface="+mn-lt"/>
              </a:rPr>
              <a:t>   </a:t>
            </a:r>
            <a:r>
              <a:rPr lang="en-GB" sz="1000" dirty="0">
                <a:solidFill>
                  <a:prstClr val="black"/>
                </a:solidFill>
                <a:latin typeface="+mn-lt"/>
              </a:rPr>
              <a:t>(correctly detected failure cases). </a:t>
            </a:r>
          </a:p>
          <a:p>
            <a:pPr lvl="0" defTabSz="1706910">
              <a:defRPr/>
            </a:pPr>
            <a:r>
              <a:rPr lang="en-GB" sz="1000" b="1" dirty="0">
                <a:solidFill>
                  <a:prstClr val="black"/>
                </a:solidFill>
                <a:latin typeface="+mn-lt"/>
              </a:rPr>
              <a:t>Recall = TP / (TP + FN) = 42 / (42 + 5) ≈ 0.894</a:t>
            </a:r>
          </a:p>
          <a:p>
            <a:pPr lvl="0" defTabSz="1706910">
              <a:defRPr/>
            </a:pPr>
            <a:r>
              <a:rPr lang="en-GB" sz="1000" i="1" dirty="0">
                <a:solidFill>
                  <a:prstClr val="black"/>
                </a:solidFill>
                <a:latin typeface="+mn-lt"/>
              </a:rPr>
              <a:t>This means that the model correctly identifies about 89.4% of all failure cases. </a:t>
            </a:r>
            <a:endParaRPr lang="ru-RU" sz="1000" dirty="0">
              <a:solidFill>
                <a:prstClr val="black"/>
              </a:solidFill>
              <a:latin typeface="+mn-lt"/>
            </a:endParaRPr>
          </a:p>
          <a:p>
            <a:pPr lvl="0" defTabSz="1706910">
              <a:defRPr/>
            </a:pPr>
            <a:r>
              <a:rPr lang="en-GB" sz="1000" dirty="0">
                <a:solidFill>
                  <a:prstClr val="black"/>
                </a:solidFill>
                <a:latin typeface="+mn-lt"/>
              </a:rPr>
              <a:t>The Recall obtained from the confusion matrix differs slightly from the cross-validation result, as it is calculated on a single test split rather than averaged across 5 folds. Cross-validation provides a more robust assessment of model performance, while the confusion matrix reflects performance on a specific dataset.</a:t>
            </a:r>
          </a:p>
          <a:p>
            <a:pPr lvl="0" defTabSz="1706910">
              <a:defRPr/>
            </a:pPr>
            <a:r>
              <a:rPr kumimoji="0" lang="en-GB" sz="1000" b="1" i="0" u="none" strike="noStrike" kern="1200" cap="none" spc="0" normalizeH="0" baseline="0" noProof="0" dirty="0">
                <a:ln>
                  <a:noFill/>
                </a:ln>
                <a:solidFill>
                  <a:prstClr val="black"/>
                </a:solidFill>
                <a:effectLst/>
                <a:uLnTx/>
                <a:uFillTx/>
                <a:latin typeface="+mn-lt"/>
                <a:ea typeface="+mn-ea"/>
                <a:cs typeface="+mn-cs"/>
              </a:rPr>
              <a:t>Overall</a:t>
            </a:r>
            <a:r>
              <a:rPr lang="en-GB" sz="1000" b="1" dirty="0">
                <a:solidFill>
                  <a:prstClr val="black"/>
                </a:solidFill>
                <a:latin typeface="+mn-lt"/>
              </a:rPr>
              <a:t>, the relatively low number of false negatives indicates that the model is effective at identifying high-risk cases.</a:t>
            </a:r>
            <a:endParaRPr kumimoji="0" lang="en-GB" sz="1000" b="1" i="0" u="none" strike="noStrike" kern="1200" cap="none" spc="0" normalizeH="0" baseline="0" noProof="0" dirty="0">
              <a:ln>
                <a:noFill/>
              </a:ln>
              <a:solidFill>
                <a:prstClr val="black"/>
              </a:solidFill>
              <a:effectLst/>
              <a:uLnTx/>
              <a:uFillTx/>
              <a:latin typeface="+mn-lt"/>
              <a:ea typeface="+mn-ea"/>
              <a:cs typeface="+mn-cs"/>
            </a:endParaRPr>
          </a:p>
        </p:txBody>
      </p:sp>
      <p:grpSp>
        <p:nvGrpSpPr>
          <p:cNvPr id="46" name="Group 45">
            <a:extLst>
              <a:ext uri="{FF2B5EF4-FFF2-40B4-BE49-F238E27FC236}">
                <a16:creationId xmlns:a16="http://schemas.microsoft.com/office/drawing/2014/main" id="{F5D19067-2CC8-9932-8C17-51A16E8969FB}"/>
              </a:ext>
            </a:extLst>
          </p:cNvPr>
          <p:cNvGrpSpPr/>
          <p:nvPr/>
        </p:nvGrpSpPr>
        <p:grpSpPr>
          <a:xfrm>
            <a:off x="6887534" y="6412660"/>
            <a:ext cx="2390472" cy="878254"/>
            <a:chOff x="6887534" y="6940579"/>
            <a:chExt cx="2390472" cy="878254"/>
          </a:xfrm>
        </p:grpSpPr>
        <p:pic>
          <p:nvPicPr>
            <p:cNvPr id="44" name="Picture 43">
              <a:extLst>
                <a:ext uri="{FF2B5EF4-FFF2-40B4-BE49-F238E27FC236}">
                  <a16:creationId xmlns:a16="http://schemas.microsoft.com/office/drawing/2014/main" id="{EA77F69F-3B18-A26C-CEE3-5258A87A943F}"/>
                </a:ext>
              </a:extLst>
            </p:cNvPr>
            <p:cNvPicPr>
              <a:picLocks noChangeAspect="1"/>
            </p:cNvPicPr>
            <p:nvPr/>
          </p:nvPicPr>
          <p:blipFill>
            <a:blip r:embed="rId4"/>
            <a:stretch>
              <a:fillRect/>
            </a:stretch>
          </p:blipFill>
          <p:spPr>
            <a:xfrm>
              <a:off x="6887534" y="6956223"/>
              <a:ext cx="1063481" cy="862610"/>
            </a:xfrm>
            <a:prstGeom prst="rect">
              <a:avLst/>
            </a:prstGeom>
          </p:spPr>
        </p:pic>
        <p:pic>
          <p:nvPicPr>
            <p:cNvPr id="45" name="Picture 44">
              <a:extLst>
                <a:ext uri="{FF2B5EF4-FFF2-40B4-BE49-F238E27FC236}">
                  <a16:creationId xmlns:a16="http://schemas.microsoft.com/office/drawing/2014/main" id="{2AA08488-883E-E6AE-AA45-4A91D7FDBF07}"/>
                </a:ext>
              </a:extLst>
            </p:cNvPr>
            <p:cNvPicPr>
              <a:picLocks noChangeAspect="1"/>
            </p:cNvPicPr>
            <p:nvPr/>
          </p:nvPicPr>
          <p:blipFill>
            <a:blip r:embed="rId5"/>
            <a:stretch>
              <a:fillRect/>
            </a:stretch>
          </p:blipFill>
          <p:spPr>
            <a:xfrm>
              <a:off x="8214524" y="6940579"/>
              <a:ext cx="1063482" cy="865067"/>
            </a:xfrm>
            <a:prstGeom prst="rect">
              <a:avLst/>
            </a:prstGeom>
          </p:spPr>
        </p:pic>
      </p:grpSp>
      <p:sp>
        <p:nvSpPr>
          <p:cNvPr id="43" name="TextBox 42">
            <a:extLst>
              <a:ext uri="{FF2B5EF4-FFF2-40B4-BE49-F238E27FC236}">
                <a16:creationId xmlns:a16="http://schemas.microsoft.com/office/drawing/2014/main" id="{1840F2E3-D0CB-6A22-247B-2C71641C1CF8}"/>
              </a:ext>
            </a:extLst>
          </p:cNvPr>
          <p:cNvSpPr txBox="1"/>
          <p:nvPr/>
        </p:nvSpPr>
        <p:spPr>
          <a:xfrm>
            <a:off x="6823500" y="5907527"/>
            <a:ext cx="2599468" cy="1404000"/>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4. Data Preparation</a:t>
            </a:r>
          </a:p>
          <a:p>
            <a:pPr lvl="0" defTabSz="1706910">
              <a:defRPr/>
            </a:pPr>
            <a:r>
              <a:rPr lang="en-GB" sz="1000" dirty="0">
                <a:solidFill>
                  <a:prstClr val="black"/>
                </a:solidFill>
              </a:rPr>
              <a:t>The </a:t>
            </a:r>
            <a:r>
              <a:rPr lang="en-GB" sz="1000" dirty="0" err="1">
                <a:solidFill>
                  <a:prstClr val="black"/>
                </a:solidFill>
              </a:rPr>
              <a:t>inspection_window</a:t>
            </a:r>
            <a:r>
              <a:rPr lang="en-GB" sz="1000" dirty="0">
                <a:solidFill>
                  <a:prstClr val="black"/>
                </a:solidFill>
              </a:rPr>
              <a:t> variable before and </a:t>
            </a:r>
            <a:r>
              <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rPr>
              <a:t>after cleaning. </a:t>
            </a: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lang="en-GB" sz="1000" dirty="0">
              <a:solidFill>
                <a:prstClr val="black"/>
              </a:solidFill>
              <a:latin typeface="Calibri" panose="020F0502020204030204"/>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kumimoji="0" lang="en-GB"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lvl="0" defTabSz="1706910">
              <a:defRPr/>
            </a:pPr>
            <a:endParaRPr lang="en-GB" sz="1050" b="0" i="0" u="none" strike="noStrike" kern="1200" cap="none" spc="0" normalizeH="0" baseline="0" noProof="0" dirty="0">
              <a:ln>
                <a:noFill/>
              </a:ln>
              <a:solidFill>
                <a:prstClr val="black"/>
              </a:solidFill>
              <a:effectLst/>
              <a:uLnTx/>
              <a:uFillTx/>
              <a:latin typeface="Calibri" panose="020F0502020204030204"/>
              <a:ea typeface="Calibri"/>
              <a:cs typeface="Calibri"/>
            </a:endParaRPr>
          </a:p>
        </p:txBody>
      </p:sp>
      <p:sp>
        <p:nvSpPr>
          <p:cNvPr id="9" name="TextBox 8">
            <a:extLst>
              <a:ext uri="{FF2B5EF4-FFF2-40B4-BE49-F238E27FC236}">
                <a16:creationId xmlns:a16="http://schemas.microsoft.com/office/drawing/2014/main" id="{F206284C-0E38-E129-A921-7FCAD4177EEC}"/>
              </a:ext>
            </a:extLst>
          </p:cNvPr>
          <p:cNvSpPr txBox="1"/>
          <p:nvPr/>
        </p:nvSpPr>
        <p:spPr>
          <a:xfrm>
            <a:off x="358007" y="337535"/>
            <a:ext cx="9064961" cy="5508000"/>
          </a:xfrm>
          <a:prstGeom prst="rect">
            <a:avLst/>
          </a:prstGeom>
          <a:noFill/>
          <a:ln w="38100">
            <a:solidFill>
              <a:schemeClr val="accent1">
                <a:lumMod val="60000"/>
                <a:lumOff val="40000"/>
              </a:schemeClr>
            </a:solidFill>
          </a:ln>
        </p:spPr>
        <p:txBody>
          <a:bodyPr wrap="square" lIns="91440" tIns="45720" rIns="91440" bIns="45720" anchor="t">
            <a:spAutoFit/>
          </a:bodyPr>
          <a:lstStyle/>
          <a:p>
            <a:pPr>
              <a:tabLst>
                <a:tab pos="219075" algn="l"/>
              </a:tabLst>
            </a:pPr>
            <a:r>
              <a:rPr lang="en-GB" sz="1600" dirty="0"/>
              <a:t>2. Project Methodology</a:t>
            </a:r>
          </a:p>
          <a:p>
            <a:pPr>
              <a:tabLst>
                <a:tab pos="219075" algn="l"/>
              </a:tabLst>
            </a:pPr>
            <a:r>
              <a:rPr lang="en-GB" sz="1000" b="1" dirty="0">
                <a:highlight>
                  <a:srgbClr val="00FFFF"/>
                </a:highlight>
              </a:rPr>
              <a:t> 1.  Task Understanding </a:t>
            </a:r>
            <a:r>
              <a:rPr lang="en-GB" sz="1000" b="1" dirty="0"/>
              <a:t>  </a:t>
            </a:r>
            <a:r>
              <a:rPr lang="en-GB" sz="1000" dirty="0">
                <a:ea typeface="Calibri"/>
                <a:cs typeface="Calibri"/>
              </a:rPr>
              <a:t>This is a binary classification task with the target variable </a:t>
            </a:r>
            <a:r>
              <a:rPr lang="en-GB" sz="1000" i="1" dirty="0">
                <a:ea typeface="Calibri"/>
                <a:cs typeface="Calibri"/>
              </a:rPr>
              <a:t>failure</a:t>
            </a:r>
            <a:r>
              <a:rPr lang="en-GB" sz="1000" dirty="0">
                <a:ea typeface="Calibri"/>
                <a:cs typeface="Calibri"/>
              </a:rPr>
              <a:t>, where a predicted probability of failure ≥ 0.5 indicates infrastructure failure. </a:t>
            </a:r>
          </a:p>
          <a:p>
            <a:pPr>
              <a:tabLst>
                <a:tab pos="219075" algn="l"/>
              </a:tabLst>
            </a:pPr>
            <a:r>
              <a:rPr lang="en-GB" sz="1000" i="1" u="sng" dirty="0">
                <a:ea typeface="Calibri"/>
                <a:cs typeface="Calibri"/>
              </a:rPr>
              <a:t>The goal </a:t>
            </a:r>
            <a:r>
              <a:rPr lang="en-GB" sz="1000" dirty="0">
                <a:ea typeface="Calibri"/>
                <a:cs typeface="Calibri"/>
              </a:rPr>
              <a:t>is to predict the probability of infrastructure failure in a city block during the monitoring period. </a:t>
            </a:r>
          </a:p>
          <a:p>
            <a:pPr marL="7938" indent="-7938">
              <a:tabLst>
                <a:tab pos="219075" algn="l"/>
              </a:tabLst>
            </a:pPr>
            <a:r>
              <a:rPr lang="en-GB" sz="1000" i="1" u="sng" dirty="0">
                <a:ea typeface="Calibri"/>
                <a:cs typeface="Calibri"/>
              </a:rPr>
              <a:t>A ’good model’ for this task should:</a:t>
            </a:r>
            <a:r>
              <a:rPr lang="en-GB" sz="1000" i="1" dirty="0">
                <a:ea typeface="Calibri"/>
                <a:cs typeface="Calibri"/>
              </a:rPr>
              <a:t> • </a:t>
            </a:r>
            <a:r>
              <a:rPr lang="en-GB" sz="1000" b="1" i="1" dirty="0">
                <a:ea typeface="Calibri"/>
                <a:cs typeface="Calibri"/>
              </a:rPr>
              <a:t>accurately predict infrastructure failure</a:t>
            </a:r>
            <a:r>
              <a:rPr lang="en-GB" sz="1000" i="1" dirty="0">
                <a:ea typeface="Calibri"/>
                <a:cs typeface="Calibri"/>
              </a:rPr>
              <a:t>;</a:t>
            </a:r>
            <a:r>
              <a:rPr lang="en-GB" sz="1000" dirty="0">
                <a:ea typeface="Calibri"/>
                <a:cs typeface="Calibri"/>
              </a:rPr>
              <a:t> </a:t>
            </a:r>
            <a:r>
              <a:rPr lang="en-GB" sz="1000" i="1" dirty="0">
                <a:ea typeface="Calibri"/>
                <a:cs typeface="Calibri"/>
              </a:rPr>
              <a:t>• </a:t>
            </a:r>
            <a:r>
              <a:rPr lang="en-GB" sz="1000" b="1" i="1" dirty="0">
                <a:ea typeface="Calibri"/>
                <a:cs typeface="Calibri"/>
              </a:rPr>
              <a:t>minimise false negatives </a:t>
            </a:r>
            <a:r>
              <a:rPr lang="en-GB" sz="1000" dirty="0">
                <a:ea typeface="Calibri"/>
                <a:cs typeface="Calibri"/>
              </a:rPr>
              <a:t>to avoid missing high-risk areas (high Recall for the failure class is the most important metric for this task); </a:t>
            </a:r>
            <a:r>
              <a:rPr lang="en-GB" sz="1000" i="1" dirty="0">
                <a:ea typeface="Calibri"/>
                <a:cs typeface="Calibri"/>
              </a:rPr>
              <a:t>• </a:t>
            </a:r>
            <a:r>
              <a:rPr lang="en-GB" sz="1000" b="1" i="1" dirty="0">
                <a:ea typeface="Calibri"/>
                <a:cs typeface="Calibri"/>
              </a:rPr>
              <a:t>generalise  well to unseen data</a:t>
            </a:r>
            <a:r>
              <a:rPr lang="en-GB" sz="1000" dirty="0">
                <a:ea typeface="Calibri"/>
                <a:cs typeface="Calibri"/>
              </a:rPr>
              <a:t> to be useful in real-world applications. </a:t>
            </a:r>
          </a:p>
          <a:p>
            <a:pPr marL="7938" indent="-7938">
              <a:tabLst>
                <a:tab pos="219075" algn="l"/>
              </a:tabLst>
            </a:pPr>
            <a:r>
              <a:rPr lang="en-GB" sz="1000" i="1" dirty="0">
                <a:ea typeface="Calibri"/>
                <a:cs typeface="Calibri"/>
              </a:rPr>
              <a:t>In addition, it is important to identify which features have the greatest impact on failure, as this can provide valuable insights for decision-making and risk minimisation.</a:t>
            </a:r>
          </a:p>
          <a:p>
            <a:pPr>
              <a:tabLst>
                <a:tab pos="219075" algn="l"/>
              </a:tabLst>
            </a:pPr>
            <a:r>
              <a:rPr lang="en-GB" sz="1000" b="1" dirty="0">
                <a:highlight>
                  <a:srgbClr val="00FFFF"/>
                </a:highlight>
                <a:ea typeface="Calibri"/>
                <a:cs typeface="Calibri"/>
              </a:rPr>
              <a:t> 2.  Data Understanding </a:t>
            </a:r>
            <a:r>
              <a:rPr lang="en-GB" sz="1000" i="1" dirty="0">
                <a:ea typeface="Calibri"/>
                <a:cs typeface="Calibri"/>
              </a:rPr>
              <a:t>  </a:t>
            </a:r>
            <a:r>
              <a:rPr lang="en-GB" sz="1000" i="1" u="sng" dirty="0">
                <a:ea typeface="Calibri"/>
                <a:cs typeface="Calibri"/>
              </a:rPr>
              <a:t>Inputs to the model: </a:t>
            </a:r>
            <a:r>
              <a:rPr lang="en-GB" sz="1000" dirty="0">
                <a:ea typeface="Calibri"/>
                <a:cs typeface="Calibri"/>
              </a:rPr>
              <a:t>Input variables are describing infrastructure and environmental conditions (except of </a:t>
            </a:r>
            <a:r>
              <a:rPr lang="en-GB" sz="1000" dirty="0" err="1">
                <a:ea typeface="Calibri"/>
                <a:cs typeface="Calibri"/>
              </a:rPr>
              <a:t>inspector_id</a:t>
            </a:r>
            <a:r>
              <a:rPr lang="en-GB" sz="1000" dirty="0">
                <a:ea typeface="Calibri"/>
                <a:cs typeface="Calibri"/>
              </a:rPr>
              <a:t>, which identifies an inspector and not contain information about infrastructure). </a:t>
            </a:r>
            <a:r>
              <a:rPr lang="en-GB" sz="1000" i="1" u="sng" dirty="0">
                <a:ea typeface="Calibri"/>
                <a:cs typeface="Calibri"/>
              </a:rPr>
              <a:t>Output of the model</a:t>
            </a:r>
            <a:r>
              <a:rPr lang="en-GB" sz="1000" dirty="0">
                <a:ea typeface="Calibri"/>
                <a:cs typeface="Calibri"/>
              </a:rPr>
              <a:t> is the binary categorical variable </a:t>
            </a:r>
            <a:r>
              <a:rPr lang="en-GB" sz="1000" b="1" i="1" dirty="0">
                <a:ea typeface="Calibri"/>
                <a:cs typeface="Calibri"/>
              </a:rPr>
              <a:t>failure</a:t>
            </a:r>
            <a:r>
              <a:rPr lang="en-GB" sz="1000" dirty="0">
                <a:ea typeface="Calibri"/>
                <a:cs typeface="Calibri"/>
              </a:rPr>
              <a:t> (target), which takes the value </a:t>
            </a:r>
            <a:r>
              <a:rPr lang="en-GB" sz="1000" b="1" dirty="0">
                <a:ea typeface="Calibri"/>
                <a:cs typeface="Calibri"/>
              </a:rPr>
              <a:t>0</a:t>
            </a:r>
            <a:r>
              <a:rPr lang="en-GB" sz="1000" dirty="0">
                <a:ea typeface="Calibri"/>
                <a:cs typeface="Calibri"/>
              </a:rPr>
              <a:t> – for</a:t>
            </a:r>
            <a:r>
              <a:rPr lang="en-GB" sz="1000" i="1" dirty="0">
                <a:ea typeface="Calibri"/>
                <a:cs typeface="Calibri"/>
              </a:rPr>
              <a:t> no infrastructure failure </a:t>
            </a:r>
            <a:r>
              <a:rPr lang="en-GB" sz="1000" dirty="0">
                <a:ea typeface="Calibri"/>
                <a:cs typeface="Calibri"/>
              </a:rPr>
              <a:t>and </a:t>
            </a:r>
            <a:r>
              <a:rPr lang="en-GB" sz="1000" b="1" dirty="0">
                <a:ea typeface="Calibri"/>
                <a:cs typeface="Calibri"/>
              </a:rPr>
              <a:t>1</a:t>
            </a:r>
            <a:r>
              <a:rPr lang="en-GB" sz="1000" dirty="0">
                <a:ea typeface="Calibri"/>
                <a:cs typeface="Calibri"/>
              </a:rPr>
              <a:t> - for</a:t>
            </a:r>
            <a:r>
              <a:rPr lang="en-GB" sz="1000" i="1" dirty="0">
                <a:ea typeface="Calibri"/>
                <a:cs typeface="Calibri"/>
              </a:rPr>
              <a:t> failure occurs</a:t>
            </a:r>
            <a:r>
              <a:rPr lang="en-GB" sz="1000" dirty="0">
                <a:ea typeface="Calibri"/>
                <a:cs typeface="Calibri"/>
              </a:rPr>
              <a:t>. </a:t>
            </a:r>
            <a:r>
              <a:rPr lang="en-GB" sz="1000" i="1" u="sng" dirty="0">
                <a:ea typeface="Calibri"/>
                <a:cs typeface="Calibri"/>
              </a:rPr>
              <a:t>To solve this task</a:t>
            </a:r>
            <a:r>
              <a:rPr lang="en-GB" sz="1000" dirty="0">
                <a:ea typeface="Calibri"/>
                <a:cs typeface="Calibri"/>
              </a:rPr>
              <a:t>, we cannot use conventional software because we do not know the exactly rules under which a failure occurs. Besides, many factors may influence the failure simultaneously and there may be complex dependencies between them. Machine Learning is the best way to solve this problem because it automatically finds pattern in the data, uses past observations, and model the probability of failure.</a:t>
            </a:r>
            <a:r>
              <a:rPr lang="en-GB" sz="1000" i="1" dirty="0">
                <a:ea typeface="Calibri"/>
                <a:cs typeface="Calibri"/>
              </a:rPr>
              <a:t> </a:t>
            </a:r>
            <a:r>
              <a:rPr lang="en-GB" sz="1000" b="1" i="1" u="sng" dirty="0">
                <a:ea typeface="Calibri"/>
                <a:cs typeface="Calibri"/>
              </a:rPr>
              <a:t>Data visualisation</a:t>
            </a:r>
            <a:r>
              <a:rPr lang="en-GB" sz="1000" b="1" i="1" dirty="0">
                <a:ea typeface="Calibri"/>
                <a:cs typeface="Calibri"/>
              </a:rPr>
              <a:t> </a:t>
            </a:r>
            <a:r>
              <a:rPr lang="en-GB" sz="1000" b="1" dirty="0">
                <a:ea typeface="Calibri"/>
                <a:cs typeface="Calibri"/>
              </a:rPr>
              <a:t>was used to explore feature distributions and identify potential issues.</a:t>
            </a:r>
            <a:r>
              <a:rPr lang="en-GB" sz="1000" dirty="0">
                <a:ea typeface="Calibri"/>
                <a:cs typeface="Calibri"/>
              </a:rPr>
              <a:t> </a:t>
            </a:r>
            <a:r>
              <a:rPr lang="en-GB" sz="1000" i="1" u="sng" dirty="0">
                <a:ea typeface="Calibri"/>
                <a:cs typeface="Calibri"/>
              </a:rPr>
              <a:t>Histograms showed</a:t>
            </a:r>
            <a:r>
              <a:rPr lang="en-GB" sz="1000" i="1" dirty="0">
                <a:ea typeface="Calibri"/>
                <a:cs typeface="Calibri"/>
              </a:rPr>
              <a:t> </a:t>
            </a:r>
            <a:r>
              <a:rPr lang="en-GB" sz="1000" dirty="0">
                <a:ea typeface="Calibri"/>
                <a:cs typeface="Calibri"/>
              </a:rPr>
              <a:t>that some features  have significant impact on failure, where higher values increase probability of failure, and that failures occur mostly in summer period. </a:t>
            </a:r>
            <a:r>
              <a:rPr lang="en-GB" sz="1000" i="1" dirty="0">
                <a:ea typeface="Calibri"/>
                <a:cs typeface="Calibri"/>
              </a:rPr>
              <a:t>Examination of the data distribution also revealed that there are some errors in the dataset. </a:t>
            </a:r>
          </a:p>
          <a:p>
            <a:pPr>
              <a:tabLst>
                <a:tab pos="219075" algn="l"/>
              </a:tabLst>
            </a:pPr>
            <a:r>
              <a:rPr lang="en-GB" sz="1000" b="1" dirty="0">
                <a:highlight>
                  <a:srgbClr val="00FFFF"/>
                </a:highlight>
                <a:ea typeface="Calibri"/>
                <a:cs typeface="Calibri"/>
              </a:rPr>
              <a:t> 3.  Data Preparation </a:t>
            </a:r>
            <a:r>
              <a:rPr lang="en-GB" sz="1000" b="1" dirty="0">
                <a:ea typeface="Calibri"/>
                <a:cs typeface="Calibri"/>
              </a:rPr>
              <a:t>  </a:t>
            </a:r>
            <a:r>
              <a:rPr lang="en-GB" sz="1000" i="1" dirty="0">
                <a:ea typeface="Calibri"/>
                <a:cs typeface="Calibri"/>
              </a:rPr>
              <a:t>• </a:t>
            </a:r>
            <a:r>
              <a:rPr lang="en-GB" sz="1000" dirty="0">
                <a:ea typeface="Calibri"/>
                <a:cs typeface="Calibri"/>
              </a:rPr>
              <a:t>Visualisation showed that the </a:t>
            </a:r>
            <a:r>
              <a:rPr lang="en-GB" sz="1000" b="1" dirty="0" err="1">
                <a:ea typeface="Calibri"/>
                <a:cs typeface="Calibri"/>
              </a:rPr>
              <a:t>inspector_id</a:t>
            </a:r>
            <a:r>
              <a:rPr lang="en-GB" sz="1000" b="1" dirty="0">
                <a:ea typeface="Calibri"/>
                <a:cs typeface="Calibri"/>
              </a:rPr>
              <a:t> </a:t>
            </a:r>
            <a:r>
              <a:rPr lang="en-GB" sz="1000" dirty="0">
                <a:ea typeface="Calibri"/>
                <a:cs typeface="Calibri"/>
              </a:rPr>
              <a:t>has a flat distribution and therefore, is not useful for prediction and was removed from the dataset. </a:t>
            </a:r>
            <a:r>
              <a:rPr lang="en-GB" sz="1000" i="1" dirty="0">
                <a:ea typeface="Calibri"/>
                <a:cs typeface="Calibri"/>
              </a:rPr>
              <a:t>• </a:t>
            </a:r>
            <a:r>
              <a:rPr lang="en-GB" sz="1000" dirty="0">
                <a:ea typeface="Calibri"/>
                <a:cs typeface="Calibri"/>
              </a:rPr>
              <a:t>Some </a:t>
            </a:r>
            <a:r>
              <a:rPr lang="en-GB" sz="1000" b="1" dirty="0">
                <a:ea typeface="Calibri"/>
                <a:cs typeface="Calibri"/>
              </a:rPr>
              <a:t>errors</a:t>
            </a:r>
            <a:r>
              <a:rPr lang="en-GB" sz="1000" dirty="0">
                <a:ea typeface="Calibri"/>
                <a:cs typeface="Calibri"/>
              </a:rPr>
              <a:t> were identified and corrected before splitting the data (e.g. </a:t>
            </a:r>
            <a:r>
              <a:rPr lang="en-GB" sz="1000" dirty="0" err="1">
                <a:ea typeface="Calibri"/>
                <a:cs typeface="Calibri"/>
              </a:rPr>
              <a:t>sumer</a:t>
            </a:r>
            <a:r>
              <a:rPr lang="en-GB" sz="1000" dirty="0">
                <a:ea typeface="Calibri"/>
                <a:cs typeface="Calibri"/>
              </a:rPr>
              <a:t> and morni1ng). </a:t>
            </a:r>
            <a:r>
              <a:rPr lang="en-GB" sz="1000" i="1" dirty="0">
                <a:ea typeface="Calibri"/>
                <a:cs typeface="Calibri"/>
              </a:rPr>
              <a:t>• </a:t>
            </a:r>
            <a:r>
              <a:rPr lang="en-GB" sz="1000" dirty="0">
                <a:ea typeface="Calibri"/>
                <a:cs typeface="Calibri"/>
              </a:rPr>
              <a:t>Additionally, there were </a:t>
            </a:r>
            <a:r>
              <a:rPr lang="en-GB" sz="1000" b="1" dirty="0">
                <a:ea typeface="Calibri"/>
                <a:cs typeface="Calibri"/>
              </a:rPr>
              <a:t>0.2% missing values</a:t>
            </a:r>
            <a:r>
              <a:rPr lang="ru-RU" sz="1000" b="1" dirty="0">
                <a:ea typeface="Calibri"/>
                <a:cs typeface="Calibri"/>
              </a:rPr>
              <a:t> </a:t>
            </a:r>
            <a:r>
              <a:rPr lang="ru-RU" sz="1000" dirty="0">
                <a:ea typeface="Calibri"/>
                <a:cs typeface="Calibri"/>
              </a:rPr>
              <a:t>(</a:t>
            </a:r>
            <a:r>
              <a:rPr lang="en-GB" sz="1000" dirty="0">
                <a:ea typeface="Calibri"/>
                <a:cs typeface="Calibri"/>
              </a:rPr>
              <a:t>only 11 instances in the dataset), and these rows were deleted as such a small amount of data is unlikely to affect model performance and it is better option than attempting to estimate imputed missing values. </a:t>
            </a:r>
            <a:r>
              <a:rPr lang="en-GB" sz="1000" i="1" dirty="0">
                <a:ea typeface="Calibri"/>
                <a:cs typeface="Calibri"/>
              </a:rPr>
              <a:t>• </a:t>
            </a:r>
            <a:r>
              <a:rPr lang="en-GB" sz="1000" b="1" dirty="0">
                <a:ea typeface="Calibri"/>
                <a:cs typeface="Calibri"/>
              </a:rPr>
              <a:t>The dataset was then split into 70% training data and 30% test data.</a:t>
            </a:r>
            <a:r>
              <a:rPr lang="en-GB" sz="1000" dirty="0">
                <a:ea typeface="Calibri"/>
                <a:cs typeface="Calibri"/>
              </a:rPr>
              <a:t> </a:t>
            </a:r>
            <a:r>
              <a:rPr lang="en-GB" sz="1000" i="1" dirty="0">
                <a:ea typeface="Calibri"/>
                <a:cs typeface="Calibri"/>
              </a:rPr>
              <a:t>• </a:t>
            </a:r>
            <a:r>
              <a:rPr lang="en-GB" sz="1000" dirty="0">
                <a:ea typeface="Calibri"/>
                <a:cs typeface="Calibri"/>
              </a:rPr>
              <a:t>An </a:t>
            </a:r>
            <a:r>
              <a:rPr lang="en-GB" sz="1000" b="1" dirty="0">
                <a:ea typeface="Calibri"/>
                <a:cs typeface="Calibri"/>
              </a:rPr>
              <a:t>outlier</a:t>
            </a:r>
            <a:r>
              <a:rPr lang="en-GB" sz="1000" dirty="0">
                <a:ea typeface="Calibri"/>
                <a:cs typeface="Calibri"/>
              </a:rPr>
              <a:t> was identified and deleted in </a:t>
            </a:r>
            <a:r>
              <a:rPr lang="en-GB" sz="1000" dirty="0" err="1">
                <a:ea typeface="Calibri"/>
                <a:cs typeface="Calibri"/>
              </a:rPr>
              <a:t>material_flexibility</a:t>
            </a:r>
            <a:r>
              <a:rPr lang="en-GB" sz="1000" dirty="0">
                <a:ea typeface="Calibri"/>
                <a:cs typeface="Calibri"/>
              </a:rPr>
              <a:t> feature. </a:t>
            </a:r>
            <a:r>
              <a:rPr lang="en-GB" sz="1000" i="1" dirty="0">
                <a:ea typeface="Calibri"/>
                <a:cs typeface="Calibri"/>
              </a:rPr>
              <a:t>• </a:t>
            </a:r>
            <a:r>
              <a:rPr lang="en-GB" sz="1000" dirty="0">
                <a:ea typeface="Calibri"/>
                <a:cs typeface="Calibri"/>
              </a:rPr>
              <a:t>The </a:t>
            </a:r>
            <a:r>
              <a:rPr lang="en-GB" sz="1000" b="1" dirty="0">
                <a:ea typeface="Calibri"/>
                <a:cs typeface="Calibri"/>
              </a:rPr>
              <a:t>categorical variables were encoded </a:t>
            </a:r>
            <a:r>
              <a:rPr lang="en-GB" sz="1000" dirty="0">
                <a:ea typeface="Calibri"/>
                <a:cs typeface="Calibri"/>
              </a:rPr>
              <a:t>using one-hot encoding. </a:t>
            </a:r>
            <a:r>
              <a:rPr lang="en-GB" sz="1000" i="1" dirty="0">
                <a:ea typeface="Calibri"/>
                <a:cs typeface="Calibri"/>
              </a:rPr>
              <a:t>• </a:t>
            </a:r>
            <a:r>
              <a:rPr lang="en-GB" sz="1000" dirty="0">
                <a:ea typeface="Calibri"/>
                <a:cs typeface="Calibri"/>
              </a:rPr>
              <a:t>As the variables are on different scales, so </a:t>
            </a:r>
            <a:r>
              <a:rPr lang="en-GB" sz="1000" b="1" dirty="0">
                <a:ea typeface="Calibri"/>
                <a:cs typeface="Calibri"/>
              </a:rPr>
              <a:t>normalisation</a:t>
            </a:r>
            <a:r>
              <a:rPr lang="en-GB" sz="1000" dirty="0">
                <a:ea typeface="Calibri"/>
                <a:cs typeface="Calibri"/>
              </a:rPr>
              <a:t> was applied before </a:t>
            </a:r>
            <a:r>
              <a:rPr lang="en-GB" sz="1000" i="1" dirty="0">
                <a:ea typeface="Calibri"/>
                <a:cs typeface="Calibri"/>
              </a:rPr>
              <a:t>model development.</a:t>
            </a:r>
            <a:r>
              <a:rPr lang="en-GB" sz="1000" dirty="0">
                <a:ea typeface="Calibri"/>
                <a:cs typeface="Calibri"/>
              </a:rPr>
              <a:t> </a:t>
            </a:r>
          </a:p>
          <a:p>
            <a:pPr>
              <a:tabLst>
                <a:tab pos="219075" algn="l"/>
              </a:tabLst>
            </a:pPr>
            <a:r>
              <a:rPr lang="en-GB" sz="1000" b="1" dirty="0">
                <a:highlight>
                  <a:srgbClr val="00FFFF"/>
                </a:highlight>
                <a:ea typeface="Calibri"/>
                <a:cs typeface="Calibri"/>
              </a:rPr>
              <a:t> 4.  Model Training and Hyperparameter Tuning </a:t>
            </a:r>
            <a:r>
              <a:rPr lang="en-GB" sz="1000" b="1" dirty="0">
                <a:ea typeface="Calibri"/>
                <a:cs typeface="Calibri"/>
              </a:rPr>
              <a:t>  </a:t>
            </a:r>
            <a:r>
              <a:rPr lang="en-GB" sz="1000" dirty="0">
                <a:ea typeface="Calibri"/>
                <a:cs typeface="Calibri"/>
              </a:rPr>
              <a:t>Three models (</a:t>
            </a:r>
            <a:r>
              <a:rPr lang="en-GB" sz="1000" b="1" dirty="0">
                <a:ea typeface="Calibri"/>
                <a:cs typeface="Calibri"/>
              </a:rPr>
              <a:t>Logistic Regression, Decision Tree, Neural Network</a:t>
            </a:r>
            <a:r>
              <a:rPr lang="en-GB" sz="1000" dirty="0">
                <a:ea typeface="Calibri"/>
                <a:cs typeface="Calibri"/>
              </a:rPr>
              <a:t>) were trained and tuned by varying hyperparameters systematically. </a:t>
            </a:r>
            <a:r>
              <a:rPr lang="en-GB" sz="1000" b="1" dirty="0">
                <a:ea typeface="Calibri"/>
                <a:cs typeface="Calibri"/>
              </a:rPr>
              <a:t>Logistic Regression achieved Recall = 0.919, AUC = 0.971; Neural Network: Recall = 0.928, AUC = 0.965; and Decision Tree: Recall = 0.889, AUC = 0.938. </a:t>
            </a:r>
          </a:p>
          <a:p>
            <a:pPr>
              <a:tabLst>
                <a:tab pos="219075" algn="l"/>
              </a:tabLst>
            </a:pPr>
            <a:r>
              <a:rPr lang="en-GB" sz="1000" b="1" dirty="0">
                <a:highlight>
                  <a:srgbClr val="00FFFF"/>
                </a:highlight>
                <a:cs typeface="Calibri"/>
              </a:rPr>
              <a:t> 5.  Feature Projection </a:t>
            </a:r>
            <a:r>
              <a:rPr lang="en-GB" sz="1000" i="1" dirty="0"/>
              <a:t>  Principal Component Analysis </a:t>
            </a:r>
            <a:r>
              <a:rPr lang="en-GB" sz="1000" dirty="0"/>
              <a:t>was applied to the dataset; however, it decreased the accuracy of the models. PCA reduced the number of dimension, but it also worsened the separability</a:t>
            </a:r>
            <a:r>
              <a:rPr lang="ru-RU" sz="1000" dirty="0"/>
              <a:t> </a:t>
            </a:r>
            <a:r>
              <a:rPr lang="en-GB" sz="1000" dirty="0"/>
              <a:t>by mixing the classes and losing important relationships between the features, which led to poorer model performance. </a:t>
            </a:r>
          </a:p>
          <a:p>
            <a:pPr>
              <a:tabLst>
                <a:tab pos="219075" algn="l"/>
              </a:tabLst>
            </a:pPr>
            <a:r>
              <a:rPr lang="en-GB" sz="1000" i="1" dirty="0"/>
              <a:t>Manifold learning </a:t>
            </a:r>
            <a:r>
              <a:rPr lang="en-GB" sz="1000" dirty="0"/>
              <a:t>was also applied, but it resulted in a slight decrease in model accuracy as well. </a:t>
            </a:r>
            <a:r>
              <a:rPr lang="en-GB" sz="1000" i="1" dirty="0"/>
              <a:t>Therefore, these methods were excluded from the final modelling pipeline. </a:t>
            </a:r>
          </a:p>
          <a:p>
            <a:pPr>
              <a:tabLst>
                <a:tab pos="219075" algn="l"/>
              </a:tabLst>
            </a:pPr>
            <a:r>
              <a:rPr lang="en-GB" sz="1000" b="1" i="1" dirty="0">
                <a:highlight>
                  <a:srgbClr val="00FFFF"/>
                </a:highlight>
              </a:rPr>
              <a:t> 6.  </a:t>
            </a:r>
            <a:r>
              <a:rPr lang="en-GB" sz="1000" b="1" dirty="0">
                <a:highlight>
                  <a:srgbClr val="00FFFF"/>
                </a:highlight>
              </a:rPr>
              <a:t>Feature Selection</a:t>
            </a:r>
            <a:r>
              <a:rPr lang="en-GB" sz="1000" i="1" dirty="0"/>
              <a:t>  Filter-based (correlation/ranking) method </a:t>
            </a:r>
            <a:r>
              <a:rPr lang="en-GB" sz="1000" dirty="0"/>
              <a:t>was applied to identify the most relevant features. The results showed that several features had very low predictive value. After removing these weak features, model performance improved, with the following results:</a:t>
            </a:r>
          </a:p>
          <a:p>
            <a:pPr>
              <a:tabLst>
                <a:tab pos="219075" algn="l"/>
              </a:tabLst>
            </a:pPr>
            <a:r>
              <a:rPr lang="en-GB" sz="1000" b="1" dirty="0"/>
              <a:t>1)  Logistic Regression: </a:t>
            </a:r>
            <a:r>
              <a:rPr lang="en-GB" sz="1000" b="1" dirty="0">
                <a:ea typeface="Calibri"/>
                <a:cs typeface="Calibri"/>
              </a:rPr>
              <a:t>Recall = 0.935, AUC = 0.972;  2)  </a:t>
            </a:r>
            <a:r>
              <a:rPr lang="en-GB" sz="1000" dirty="0">
                <a:cs typeface="Calibri"/>
              </a:rPr>
              <a:t>Neural Network: Recall = 0.919, AUC = 0.971;  </a:t>
            </a:r>
            <a:r>
              <a:rPr lang="en-GB" sz="1000" b="1" dirty="0">
                <a:cs typeface="Calibri"/>
              </a:rPr>
              <a:t>3)</a:t>
            </a:r>
            <a:r>
              <a:rPr lang="en-GB" sz="1000" dirty="0">
                <a:cs typeface="Calibri"/>
              </a:rPr>
              <a:t>  Decision Tree: Recall = 0.902, AUC = 0.918. </a:t>
            </a:r>
          </a:p>
          <a:p>
            <a:pPr>
              <a:tabLst>
                <a:tab pos="219075" algn="l"/>
              </a:tabLst>
            </a:pPr>
            <a:r>
              <a:rPr lang="en-GB" sz="1000" dirty="0"/>
              <a:t>A </a:t>
            </a:r>
            <a:r>
              <a:rPr lang="en-GB" sz="1000" i="1" dirty="0"/>
              <a:t>wrapper-based approach </a:t>
            </a:r>
            <a:r>
              <a:rPr lang="en-GB" sz="1000" dirty="0"/>
              <a:t>was also applied, which confirmed the same best subset of 9 features, with the following results:</a:t>
            </a:r>
          </a:p>
          <a:p>
            <a:pPr>
              <a:tabLst>
                <a:tab pos="219075" algn="l"/>
              </a:tabLst>
            </a:pPr>
            <a:r>
              <a:rPr lang="en-GB" sz="1000" b="1" dirty="0"/>
              <a:t>1)  Logistic Regression: </a:t>
            </a:r>
            <a:r>
              <a:rPr lang="en-GB" sz="1000" b="1" dirty="0">
                <a:ea typeface="Calibri"/>
                <a:cs typeface="Calibri"/>
              </a:rPr>
              <a:t>Recall = 0.935, AUC = 0.971;  2)  </a:t>
            </a:r>
            <a:r>
              <a:rPr lang="en-GB" sz="1000" dirty="0">
                <a:cs typeface="Calibri"/>
              </a:rPr>
              <a:t>Neural Network: Recall = 0.932, AUC = 0.968;  </a:t>
            </a:r>
            <a:r>
              <a:rPr lang="en-GB" sz="1000" b="1" dirty="0">
                <a:cs typeface="Calibri"/>
              </a:rPr>
              <a:t>3)</a:t>
            </a:r>
            <a:r>
              <a:rPr lang="en-GB" sz="1000" dirty="0">
                <a:cs typeface="Calibri"/>
              </a:rPr>
              <a:t>  Decision Tree: Recall = 0.899, AUC = 0.940. </a:t>
            </a:r>
          </a:p>
          <a:p>
            <a:pPr>
              <a:tabLst>
                <a:tab pos="219075" algn="l"/>
              </a:tabLst>
            </a:pPr>
            <a:r>
              <a:rPr lang="en-GB" sz="1000" i="1" dirty="0"/>
              <a:t>Overall, Feature Selection reduced dimensionality, training time, model complexity, removed noise and improved model performance. </a:t>
            </a:r>
          </a:p>
          <a:p>
            <a:pPr>
              <a:tabLst>
                <a:tab pos="219075" algn="l"/>
              </a:tabLst>
            </a:pPr>
            <a:r>
              <a:rPr lang="en-GB" sz="1000" b="1" dirty="0"/>
              <a:t>Considering all 5-fold cross-validation evaluation metrics, Logistic Regression was selected as the final model, as it achieved the best overall performance. </a:t>
            </a:r>
          </a:p>
          <a:p>
            <a:pPr>
              <a:tabLst>
                <a:tab pos="219075" algn="l"/>
              </a:tabLst>
            </a:pPr>
            <a:r>
              <a:rPr lang="en-GB" sz="1000" b="1" dirty="0">
                <a:highlight>
                  <a:srgbClr val="00FFFF"/>
                </a:highlight>
              </a:rPr>
              <a:t> 7.  Test Data Preparation</a:t>
            </a:r>
            <a:r>
              <a:rPr lang="en-GB" sz="1000" dirty="0"/>
              <a:t>  The test data was transformed using the same encoding and normalisation parameters derived from the training data. </a:t>
            </a:r>
          </a:p>
          <a:p>
            <a:pPr>
              <a:tabLst>
                <a:tab pos="219075" algn="l"/>
              </a:tabLst>
            </a:pPr>
            <a:r>
              <a:rPr lang="en-GB" sz="1000" b="1" dirty="0">
                <a:highlight>
                  <a:srgbClr val="00FFFF"/>
                </a:highlight>
              </a:rPr>
              <a:t> 8.  Final Model Evaluation</a:t>
            </a:r>
            <a:r>
              <a:rPr lang="en-GB" sz="1000" dirty="0"/>
              <a:t>  </a:t>
            </a:r>
            <a:r>
              <a:rPr lang="en-GB" sz="1000" b="1" dirty="0"/>
              <a:t>The Logistic Regression model was evaluated on unseen test data, achieving </a:t>
            </a:r>
            <a:r>
              <a:rPr lang="en-GB" sz="1000" b="1" dirty="0">
                <a:ea typeface="Calibri"/>
                <a:cs typeface="Calibri"/>
              </a:rPr>
              <a:t>Recall = 0.925 and AUC = 0.958. </a:t>
            </a:r>
          </a:p>
          <a:p>
            <a:pPr>
              <a:tabLst>
                <a:tab pos="219075" algn="l"/>
              </a:tabLst>
            </a:pPr>
            <a:r>
              <a:rPr lang="en-GB" sz="1000" b="1" i="1" dirty="0"/>
              <a:t>It is important to note that the Recall of the model can be further increased by adjusting the classification threshold. </a:t>
            </a:r>
            <a:r>
              <a:rPr lang="en-GB" sz="1000" i="1" dirty="0"/>
              <a:t>The current threshold is set to 0.5; however, the ROC curve suggests that a more suitable threshold for this problem is approximately 0.34. Lowering the threshold would make the model more sensitive to failure, reducing false negatives at the cost of increasing false positives. This trade-off may be acceptable in this task, where missing a failure is more critical than generating false alarms. </a:t>
            </a:r>
          </a:p>
        </p:txBody>
      </p:sp>
      <p:sp>
        <p:nvSpPr>
          <p:cNvPr id="8" name="TextBox 7">
            <a:extLst>
              <a:ext uri="{FF2B5EF4-FFF2-40B4-BE49-F238E27FC236}">
                <a16:creationId xmlns:a16="http://schemas.microsoft.com/office/drawing/2014/main" id="{53F18AD2-7D7C-86A1-617F-5ED4C88C525F}"/>
              </a:ext>
            </a:extLst>
          </p:cNvPr>
          <p:cNvSpPr txBox="1"/>
          <p:nvPr/>
        </p:nvSpPr>
        <p:spPr>
          <a:xfrm>
            <a:off x="254001" y="54939"/>
            <a:ext cx="8838682" cy="338554"/>
          </a:xfrm>
          <a:prstGeom prst="rect">
            <a:avLst/>
          </a:prstGeom>
          <a:noFill/>
        </p:spPr>
        <p:txBody>
          <a:bodyPr wrap="square" lIns="91440" tIns="45720" rIns="91440" bIns="45720" rtlCol="0" anchor="t">
            <a:spAutoFit/>
          </a:bodyPr>
          <a:lstStyle/>
          <a:p>
            <a:r>
              <a:rPr lang="en-GB" sz="1600" dirty="0"/>
              <a:t>ITNPBD6 Assignment 1. Student Number </a:t>
            </a:r>
            <a:r>
              <a:rPr lang="en-GB" sz="1600" b="1" dirty="0"/>
              <a:t>3461226</a:t>
            </a:r>
            <a:endParaRPr lang="en-GB" sz="1600" b="1" dirty="0">
              <a:ea typeface="Calibri" panose="020F0502020204030204"/>
              <a:cs typeface="Calibri" panose="020F0502020204030204"/>
            </a:endParaRPr>
          </a:p>
        </p:txBody>
      </p:sp>
      <p:sp>
        <p:nvSpPr>
          <p:cNvPr id="41" name="TextBox 40">
            <a:extLst>
              <a:ext uri="{FF2B5EF4-FFF2-40B4-BE49-F238E27FC236}">
                <a16:creationId xmlns:a16="http://schemas.microsoft.com/office/drawing/2014/main" id="{F9B60668-076E-2F06-A72F-39EA64A2B359}"/>
              </a:ext>
            </a:extLst>
          </p:cNvPr>
          <p:cNvSpPr txBox="1"/>
          <p:nvPr/>
        </p:nvSpPr>
        <p:spPr>
          <a:xfrm>
            <a:off x="358005" y="5907472"/>
            <a:ext cx="6408000" cy="1404000"/>
          </a:xfrm>
          <a:prstGeom prst="rect">
            <a:avLst/>
          </a:prstGeom>
          <a:noFill/>
          <a:ln w="38100">
            <a:solidFill>
              <a:schemeClr val="accent1">
                <a:lumMod val="60000"/>
                <a:lumOff val="40000"/>
              </a:schemeClr>
            </a:solidFill>
          </a:ln>
        </p:spPr>
        <p:txBody>
          <a:bodyPr wrap="square" lIns="91440" tIns="45720" rIns="91440" bIns="45720" anchor="t">
            <a:spAutoFit/>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GB" sz="1600" dirty="0"/>
              <a:t>3. Variables</a:t>
            </a:r>
            <a:endParaRPr lang="en-GB" sz="1600" dirty="0">
              <a:ea typeface="Calibri"/>
              <a:cs typeface="Calibri"/>
            </a:endParaRPr>
          </a:p>
          <a:p>
            <a:pPr lvl="0" defTabSz="1706910">
              <a:defRPr/>
            </a:pPr>
            <a:r>
              <a:rPr lang="en-GB" sz="1000" dirty="0">
                <a:ea typeface="Calibri"/>
                <a:cs typeface="Calibri"/>
              </a:rPr>
              <a:t>Almost all input variables are </a:t>
            </a:r>
            <a:r>
              <a:rPr lang="en-GB" sz="1000" b="1" dirty="0">
                <a:ea typeface="Calibri"/>
                <a:cs typeface="Calibri"/>
              </a:rPr>
              <a:t>continuous numeric features</a:t>
            </a:r>
            <a:r>
              <a:rPr lang="en-GB" sz="1000" dirty="0">
                <a:ea typeface="Calibri"/>
                <a:cs typeface="Calibri"/>
              </a:rPr>
              <a:t>; only two variables (</a:t>
            </a:r>
            <a:r>
              <a:rPr lang="en-GB" sz="1000" dirty="0" err="1">
                <a:ea typeface="Calibri"/>
                <a:cs typeface="Calibri"/>
              </a:rPr>
              <a:t>inspection_season</a:t>
            </a:r>
            <a:r>
              <a:rPr lang="en-GB" sz="1000" dirty="0">
                <a:ea typeface="Calibri"/>
                <a:cs typeface="Calibri"/>
              </a:rPr>
              <a:t>, </a:t>
            </a:r>
            <a:r>
              <a:rPr lang="en-GB" sz="1000" dirty="0" err="1">
                <a:ea typeface="Calibri"/>
                <a:cs typeface="Calibri"/>
              </a:rPr>
              <a:t>inspection_window</a:t>
            </a:r>
            <a:r>
              <a:rPr lang="en-GB" sz="1000" dirty="0">
                <a:ea typeface="Calibri"/>
                <a:cs typeface="Calibri"/>
              </a:rPr>
              <a:t>) are </a:t>
            </a:r>
            <a:r>
              <a:rPr lang="en-GB" sz="1000" b="1" dirty="0">
                <a:ea typeface="Calibri"/>
                <a:cs typeface="Calibri"/>
              </a:rPr>
              <a:t>categorical</a:t>
            </a:r>
            <a:r>
              <a:rPr lang="en-GB" sz="1000" dirty="0">
                <a:ea typeface="Calibri"/>
                <a:cs typeface="Calibri"/>
              </a:rPr>
              <a:t> and were encoded using one-hot encoding for Logistic Regression and Neural Network models. Additionally, there is one </a:t>
            </a:r>
            <a:r>
              <a:rPr lang="en-GB" sz="1000" b="1" dirty="0">
                <a:ea typeface="Calibri"/>
                <a:cs typeface="Calibri"/>
              </a:rPr>
              <a:t>discrete numerical </a:t>
            </a:r>
            <a:r>
              <a:rPr lang="en-GB" sz="1000" dirty="0">
                <a:ea typeface="Calibri"/>
                <a:cs typeface="Calibri"/>
              </a:rPr>
              <a:t>variable – </a:t>
            </a:r>
            <a:r>
              <a:rPr lang="en-GB" sz="1000" dirty="0" err="1">
                <a:ea typeface="Calibri"/>
                <a:cs typeface="Calibri"/>
              </a:rPr>
              <a:t>inspector_id</a:t>
            </a:r>
            <a:r>
              <a:rPr lang="en-GB" sz="1000" dirty="0">
                <a:ea typeface="Calibri"/>
                <a:cs typeface="Calibri"/>
              </a:rPr>
              <a:t>, - which identifies an inspector and has almost nothing to do with failure. This variable adds unnecessary dimension to the model, increase its complexity, and introduces more noise. Thus, it was removed from the dataset. </a:t>
            </a:r>
            <a:r>
              <a:rPr lang="en-GB" sz="1000" b="1" dirty="0">
                <a:solidFill>
                  <a:prstClr val="black"/>
                </a:solidFill>
                <a:latin typeface="Calibri" panose="020F0502020204030204"/>
                <a:cs typeface="Calibri"/>
              </a:rPr>
              <a:t>During </a:t>
            </a:r>
            <a:r>
              <a:rPr lang="en-GB" sz="1000" b="1" dirty="0"/>
              <a:t>the Feature Selection stage</a:t>
            </a:r>
            <a:r>
              <a:rPr lang="en-GB" sz="1000" dirty="0"/>
              <a:t>, </a:t>
            </a:r>
            <a:r>
              <a:rPr lang="en-GB" sz="1000" dirty="0" err="1"/>
              <a:t>inspection_window</a:t>
            </a:r>
            <a:r>
              <a:rPr lang="en-GB" sz="1000" dirty="0"/>
              <a:t>, </a:t>
            </a:r>
            <a:r>
              <a:rPr lang="en-GB" sz="1000" dirty="0" err="1"/>
              <a:t>inspection_season</a:t>
            </a:r>
            <a:r>
              <a:rPr lang="en-GB" sz="1000" dirty="0"/>
              <a:t>=autumn/spring, and </a:t>
            </a:r>
            <a:r>
              <a:rPr lang="en-GB" sz="1000" dirty="0" err="1"/>
              <a:t>vibration_exposure</a:t>
            </a:r>
            <a:r>
              <a:rPr lang="en-GB" sz="1000" dirty="0"/>
              <a:t> were deleted due to their very low predictive value. </a:t>
            </a:r>
            <a:r>
              <a:rPr lang="en-GB" sz="1000" i="1" dirty="0"/>
              <a:t>This improved model performance by reducing dimensionality, model complexity and noise.</a:t>
            </a:r>
            <a:endParaRPr lang="en-GB" sz="1000" i="1" dirty="0">
              <a:solidFill>
                <a:prstClr val="black"/>
              </a:solidFill>
              <a:latin typeface="Calibri" panose="020F0502020204030204"/>
              <a:cs typeface="Calibri"/>
            </a:endParaRPr>
          </a:p>
        </p:txBody>
      </p:sp>
      <p:sp>
        <p:nvSpPr>
          <p:cNvPr id="51" name="TextBox 1">
            <a:extLst>
              <a:ext uri="{FF2B5EF4-FFF2-40B4-BE49-F238E27FC236}">
                <a16:creationId xmlns:a16="http://schemas.microsoft.com/office/drawing/2014/main" id="{B75CB895-B4E6-608C-D56A-6BEF8D43169D}"/>
              </a:ext>
            </a:extLst>
          </p:cNvPr>
          <p:cNvSpPr txBox="1"/>
          <p:nvPr/>
        </p:nvSpPr>
        <p:spPr>
          <a:xfrm>
            <a:off x="358006" y="7370937"/>
            <a:ext cx="6396299" cy="3131999"/>
          </a:xfrm>
          <a:prstGeom prst="rect">
            <a:avLst/>
          </a:prstGeom>
          <a:noFill/>
          <a:ln w="38100">
            <a:solidFill>
              <a:schemeClr val="accent1">
                <a:lumMod val="60000"/>
                <a:lumOff val="40000"/>
              </a:schemeClr>
            </a:solidFill>
          </a:ln>
        </p:spPr>
        <p:style>
          <a:lnRef idx="0">
            <a:scrgbClr r="0" g="0" b="0"/>
          </a:lnRef>
          <a:fillRef idx="0">
            <a:scrgbClr r="0" g="0" b="0"/>
          </a:fillRef>
          <a:effectRef idx="0">
            <a:scrgbClr r="0" g="0" b="0"/>
          </a:effectRef>
          <a:fontRef idx="major"/>
        </p:style>
        <p:txBody>
          <a:bodyPr wrap="square" lIns="91440" tIns="45720" rIns="91440" bIns="45720" anchor="t">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170691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Calibri" panose="020F0502020204030204"/>
                <a:ea typeface="+mn-ea"/>
                <a:cs typeface="+mn-cs"/>
              </a:rPr>
              <a:t>5. Model Training and Hyperparameters</a:t>
            </a:r>
            <a:endParaRPr lang="en-GB" sz="1600" b="0" i="0" u="none" strike="noStrike" kern="1200" cap="none" spc="0" normalizeH="0" baseline="0" noProof="0" dirty="0">
              <a:ln>
                <a:noFill/>
              </a:ln>
              <a:solidFill>
                <a:prstClr val="black"/>
              </a:solidFill>
              <a:effectLst/>
              <a:uLnTx/>
              <a:uFillTx/>
              <a:latin typeface="Calibri" panose="020F0502020204030204"/>
              <a:ea typeface="Calibri"/>
              <a:cs typeface="Calibri"/>
            </a:endParaRPr>
          </a:p>
          <a:p>
            <a:pPr lvl="0" defTabSz="1706910">
              <a:defRPr/>
            </a:pPr>
            <a:r>
              <a:rPr lang="en-GB" sz="1000" dirty="0">
                <a:latin typeface="+mn-lt"/>
                <a:ea typeface="Calibri"/>
                <a:cs typeface="Calibri"/>
              </a:rPr>
              <a:t>A number of models were built using different hyperparameter settings. A</a:t>
            </a:r>
            <a:r>
              <a:rPr lang="ru-RU" sz="1000" dirty="0">
                <a:latin typeface="+mn-lt"/>
                <a:ea typeface="Calibri"/>
                <a:cs typeface="Calibri"/>
              </a:rPr>
              <a:t> </a:t>
            </a:r>
            <a:r>
              <a:rPr lang="en-GB" sz="1000" dirty="0">
                <a:latin typeface="+mn-lt"/>
                <a:ea typeface="Calibri"/>
                <a:cs typeface="Calibri"/>
              </a:rPr>
              <a:t>systematic approach was applied, where only one hyperparameter was varied at a time. Each model was evaluated using 5-fold cross-validation. The optimal hyper parameter configuration was selected based on maximising Recall, with AUC used as a secondary performance metric.</a:t>
            </a:r>
          </a:p>
          <a:p>
            <a:pPr lvl="0" defTabSz="1706910">
              <a:defRPr/>
            </a:pPr>
            <a:endParaRPr lang="en-GB" sz="1000" dirty="0">
              <a:solidFill>
                <a:prstClr val="black"/>
              </a:solidFill>
              <a:latin typeface="+mn-lt"/>
              <a:cs typeface="Calibri"/>
            </a:endParaRPr>
          </a:p>
          <a:p>
            <a:pPr lvl="0" defTabSz="1706910">
              <a:defRPr/>
            </a:pPr>
            <a:endParaRPr lang="en-GB" sz="1000" dirty="0">
              <a:solidFill>
                <a:prstClr val="black"/>
              </a:solidFill>
              <a:latin typeface="+mn-lt"/>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GB" sz="1000" dirty="0">
              <a:solidFill>
                <a:prstClr val="black"/>
              </a:solidFill>
              <a:latin typeface="Calibri" panose="020F0502020204030204"/>
              <a:cs typeface="Calibri"/>
            </a:endParaRPr>
          </a:p>
          <a:p>
            <a:pPr lvl="0" defTabSz="1706910">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lang="en-US" sz="1200" dirty="0">
              <a:solidFill>
                <a:prstClr val="black"/>
              </a:solidFill>
              <a:latin typeface="Calibri" panose="020F0502020204030204"/>
            </a:endParaRPr>
          </a:p>
          <a:p>
            <a:pPr marL="0" marR="0" lvl="0" indent="0" algn="l" defTabSz="170691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3" name="Table 7">
            <a:extLst>
              <a:ext uri="{FF2B5EF4-FFF2-40B4-BE49-F238E27FC236}">
                <a16:creationId xmlns:a16="http://schemas.microsoft.com/office/drawing/2014/main" id="{1F973EE7-4549-71FB-3989-96BEF2BC838D}"/>
              </a:ext>
            </a:extLst>
          </p:cNvPr>
          <p:cNvGraphicFramePr>
            <a:graphicFrameLocks noGrp="1"/>
          </p:cNvGraphicFramePr>
          <p:nvPr>
            <p:extLst>
              <p:ext uri="{D42A27DB-BD31-4B8C-83A1-F6EECF244321}">
                <p14:modId xmlns:p14="http://schemas.microsoft.com/office/powerpoint/2010/main" val="1750158232"/>
              </p:ext>
            </p:extLst>
          </p:nvPr>
        </p:nvGraphicFramePr>
        <p:xfrm>
          <a:off x="444140" y="8117131"/>
          <a:ext cx="6251127" cy="2346960"/>
        </p:xfrm>
        <a:graphic>
          <a:graphicData uri="http://schemas.openxmlformats.org/drawingml/2006/table">
            <a:tbl>
              <a:tblPr firstRow="1" bandRow="1">
                <a:tableStyleId>{5C22544A-7EE6-4342-B048-85BDC9FD1C3A}</a:tableStyleId>
              </a:tblPr>
              <a:tblGrid>
                <a:gridCol w="764728">
                  <a:extLst>
                    <a:ext uri="{9D8B030D-6E8A-4147-A177-3AD203B41FA5}">
                      <a16:colId xmlns:a16="http://schemas.microsoft.com/office/drawing/2014/main" val="1907166431"/>
                    </a:ext>
                  </a:extLst>
                </a:gridCol>
                <a:gridCol w="4510007">
                  <a:extLst>
                    <a:ext uri="{9D8B030D-6E8A-4147-A177-3AD203B41FA5}">
                      <a16:colId xmlns:a16="http://schemas.microsoft.com/office/drawing/2014/main" val="3484362391"/>
                    </a:ext>
                  </a:extLst>
                </a:gridCol>
                <a:gridCol w="976392">
                  <a:extLst>
                    <a:ext uri="{9D8B030D-6E8A-4147-A177-3AD203B41FA5}">
                      <a16:colId xmlns:a16="http://schemas.microsoft.com/office/drawing/2014/main" val="326053815"/>
                    </a:ext>
                  </a:extLst>
                </a:gridCol>
              </a:tblGrid>
              <a:tr h="215321">
                <a:tc>
                  <a:txBody>
                    <a:bodyPr/>
                    <a:lstStyle/>
                    <a:p>
                      <a:r>
                        <a:rPr lang="en-GB" sz="1000" dirty="0"/>
                        <a:t>Model</a:t>
                      </a:r>
                    </a:p>
                  </a:txBody>
                  <a:tcPr/>
                </a:tc>
                <a:tc>
                  <a:txBody>
                    <a:bodyPr/>
                    <a:lstStyle/>
                    <a:p>
                      <a:r>
                        <a:rPr lang="en-GB" sz="1000" dirty="0"/>
                        <a:t>Hyperparameters</a:t>
                      </a:r>
                    </a:p>
                  </a:txBody>
                  <a:tcPr/>
                </a:tc>
                <a:tc>
                  <a:txBody>
                    <a:bodyPr/>
                    <a:lstStyle/>
                    <a:p>
                      <a:r>
                        <a:rPr lang="en-GB" sz="1000" dirty="0"/>
                        <a:t>Valid. Metric</a:t>
                      </a:r>
                    </a:p>
                  </a:txBody>
                  <a:tcPr/>
                </a:tc>
                <a:extLst>
                  <a:ext uri="{0D108BD9-81ED-4DB2-BD59-A6C34878D82A}">
                    <a16:rowId xmlns:a16="http://schemas.microsoft.com/office/drawing/2014/main" val="3158663126"/>
                  </a:ext>
                </a:extLst>
              </a:tr>
              <a:tr h="434421">
                <a:tc>
                  <a:txBody>
                    <a:bodyPr/>
                    <a:lstStyle/>
                    <a:p>
                      <a:r>
                        <a:rPr lang="en-US" sz="1000" dirty="0"/>
                        <a:t>1. Logistic Regression</a:t>
                      </a:r>
                      <a:endParaRPr lang="en-GB" sz="1000" dirty="0"/>
                    </a:p>
                  </a:txBody>
                  <a:tcPr/>
                </a:tc>
                <a:tc>
                  <a:txBody>
                    <a:bodyPr/>
                    <a:lstStyle/>
                    <a:p>
                      <a:r>
                        <a:rPr lang="en-GB" sz="1000" i="1" dirty="0">
                          <a:ea typeface="Calibri"/>
                          <a:cs typeface="Calibri"/>
                        </a:rPr>
                        <a:t>• </a:t>
                      </a:r>
                      <a:r>
                        <a:rPr lang="en-GB" sz="1000" i="1" dirty="0"/>
                        <a:t>L1-regularisation (Lasso), C</a:t>
                      </a:r>
                      <a:r>
                        <a:rPr lang="en-GB" sz="1000" dirty="0"/>
                        <a:t> : 0.001, 0.01, 0.05, 0.1, 0.2, 1, 10, 100, 1000;</a:t>
                      </a:r>
                    </a:p>
                    <a:p>
                      <a:r>
                        <a:rPr lang="en-GB" sz="1000" i="1" dirty="0">
                          <a:ea typeface="Calibri"/>
                          <a:cs typeface="Calibri"/>
                        </a:rPr>
                        <a:t>• </a:t>
                      </a:r>
                      <a:r>
                        <a:rPr lang="en-GB" sz="1000" i="1" dirty="0"/>
                        <a:t>L2-regularisation (Ridge), C</a:t>
                      </a:r>
                      <a:r>
                        <a:rPr lang="en-GB" sz="1000" dirty="0"/>
                        <a:t> : 0.001, 0.01, 0.05, 0.1, 0.2, 1, 10, 100, 1000 </a:t>
                      </a:r>
                    </a:p>
                    <a:p>
                      <a:pPr marL="0" marR="0" lvl="0" indent="0" algn="l" defTabSz="1706910" rtl="0" eaLnBrk="1" fontAlgn="auto" latinLnBrk="0" hangingPunct="1">
                        <a:lnSpc>
                          <a:spcPct val="100000"/>
                        </a:lnSpc>
                        <a:spcBef>
                          <a:spcPts val="0"/>
                        </a:spcBef>
                        <a:spcAft>
                          <a:spcPts val="0"/>
                        </a:spcAft>
                        <a:buClrTx/>
                        <a:buSzTx/>
                        <a:buFontTx/>
                        <a:buNone/>
                        <a:tabLst/>
                        <a:defRPr/>
                      </a:pPr>
                      <a:r>
                        <a:rPr lang="en-GB" sz="1000" b="1" i="1" dirty="0">
                          <a:ea typeface="Calibri"/>
                          <a:cs typeface="Calibri"/>
                        </a:rPr>
                        <a:t>The best result was achieved at L2, C = 0.05 and class balancing. </a:t>
                      </a:r>
                      <a:endParaRPr lang="en-GB" sz="1000" b="1" i="1" dirty="0"/>
                    </a:p>
                  </a:txBody>
                  <a:tcPr/>
                </a:tc>
                <a:tc>
                  <a:txBody>
                    <a:bodyPr/>
                    <a:lstStyle/>
                    <a:p>
                      <a:endParaRPr lang="en-GB" sz="1000" dirty="0">
                        <a:ea typeface="Calibri"/>
                        <a:cs typeface="Calibri"/>
                      </a:endParaRPr>
                    </a:p>
                    <a:p>
                      <a:r>
                        <a:rPr lang="en-GB" sz="1000" b="1" dirty="0">
                          <a:ea typeface="Calibri"/>
                          <a:cs typeface="Calibri"/>
                        </a:rPr>
                        <a:t>Recall = 91.9</a:t>
                      </a:r>
                      <a:r>
                        <a:rPr lang="en-GB" sz="1000" b="1" dirty="0"/>
                        <a:t>%</a:t>
                      </a:r>
                    </a:p>
                    <a:p>
                      <a:r>
                        <a:rPr lang="en-GB" sz="1000" b="1" dirty="0">
                          <a:ea typeface="Calibri"/>
                          <a:cs typeface="Calibri"/>
                        </a:rPr>
                        <a:t>AUC = 97.1</a:t>
                      </a:r>
                      <a:r>
                        <a:rPr lang="en-GB" sz="1000" b="1" dirty="0"/>
                        <a:t>%</a:t>
                      </a:r>
                    </a:p>
                  </a:txBody>
                  <a:tcPr/>
                </a:tc>
                <a:extLst>
                  <a:ext uri="{0D108BD9-81ED-4DB2-BD59-A6C34878D82A}">
                    <a16:rowId xmlns:a16="http://schemas.microsoft.com/office/drawing/2014/main" val="391472538"/>
                  </a:ext>
                </a:extLst>
              </a:tr>
              <a:tr h="245410">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000" dirty="0"/>
                        <a:t>2. Neural Network</a:t>
                      </a:r>
                      <a:endParaRPr lang="en-GB" sz="1000" dirty="0"/>
                    </a:p>
                  </a:txBody>
                  <a:tcPr/>
                </a:tc>
                <a:tc>
                  <a:txBody>
                    <a:bodyPr/>
                    <a:lstStyle/>
                    <a:p>
                      <a:pPr marL="0" indent="0">
                        <a:buFont typeface="Arial" panose="020B0604020202020204" pitchFamily="34" charset="0"/>
                        <a:buNone/>
                        <a:tabLst>
                          <a:tab pos="219075" algn="l"/>
                        </a:tabLst>
                      </a:pPr>
                      <a:r>
                        <a:rPr lang="en-GB" sz="1000" i="1" dirty="0">
                          <a:ea typeface="Calibri"/>
                          <a:cs typeface="Calibri"/>
                        </a:rPr>
                        <a:t>• Neurons in hidden layers: </a:t>
                      </a:r>
                      <a:r>
                        <a:rPr lang="en-GB" sz="1000" dirty="0">
                          <a:ea typeface="Calibri"/>
                          <a:cs typeface="Calibri"/>
                        </a:rPr>
                        <a:t>10, 20, 50, 100, 200, 300;</a:t>
                      </a:r>
                    </a:p>
                    <a:p>
                      <a:pPr marL="0" indent="0">
                        <a:buFont typeface="Arial" panose="020B0604020202020204" pitchFamily="34" charset="0"/>
                        <a:buNone/>
                        <a:tabLst>
                          <a:tab pos="219075" algn="l"/>
                        </a:tabLst>
                      </a:pPr>
                      <a:r>
                        <a:rPr lang="en-GB" sz="1000" i="1" dirty="0">
                          <a:ea typeface="Calibri"/>
                          <a:cs typeface="Calibri"/>
                        </a:rPr>
                        <a:t>• Activation functions</a:t>
                      </a:r>
                      <a:r>
                        <a:rPr lang="en-GB" sz="1000" dirty="0">
                          <a:ea typeface="Calibri"/>
                          <a:cs typeface="Calibri"/>
                        </a:rPr>
                        <a:t>: </a:t>
                      </a:r>
                      <a:r>
                        <a:rPr lang="en-GB" sz="1000" dirty="0" err="1">
                          <a:ea typeface="Calibri"/>
                          <a:cs typeface="Calibri"/>
                        </a:rPr>
                        <a:t>ReLu</a:t>
                      </a:r>
                      <a:r>
                        <a:rPr lang="en-GB" sz="1000" dirty="0">
                          <a:ea typeface="Calibri"/>
                          <a:cs typeface="Calibri"/>
                        </a:rPr>
                        <a:t>, tanh, logistic;     </a:t>
                      </a:r>
                      <a:r>
                        <a:rPr lang="en-GB" sz="1000" i="1" dirty="0">
                          <a:ea typeface="Calibri"/>
                          <a:cs typeface="Calibri"/>
                        </a:rPr>
                        <a:t>• Solver: </a:t>
                      </a:r>
                      <a:r>
                        <a:rPr lang="en-GB" sz="1000" dirty="0">
                          <a:ea typeface="Calibri"/>
                          <a:cs typeface="Calibri"/>
                        </a:rPr>
                        <a:t>Adam, L-BFGS, SGD;</a:t>
                      </a:r>
                    </a:p>
                    <a:p>
                      <a:pPr marL="0" indent="0">
                        <a:buFont typeface="Arial" panose="020B0604020202020204" pitchFamily="34" charset="0"/>
                        <a:buNone/>
                        <a:tabLst>
                          <a:tab pos="219075" algn="l"/>
                        </a:tabLst>
                      </a:pPr>
                      <a:r>
                        <a:rPr lang="en-GB" sz="1000" i="1" dirty="0">
                          <a:ea typeface="Calibri"/>
                          <a:cs typeface="Calibri"/>
                        </a:rPr>
                        <a:t>• Regularisation: </a:t>
                      </a:r>
                      <a:r>
                        <a:rPr lang="en-GB" sz="1000" dirty="0">
                          <a:ea typeface="Calibri"/>
                          <a:cs typeface="Calibri"/>
                        </a:rPr>
                        <a:t>0.0001, 0.001, 0.01, 0.1, 1, 2, 3, 4, 5, 6, 7, 8, 10, 15;</a:t>
                      </a:r>
                    </a:p>
                    <a:p>
                      <a:pPr marL="0" indent="0">
                        <a:buFont typeface="Arial" panose="020B0604020202020204" pitchFamily="34" charset="0"/>
                        <a:buNone/>
                        <a:tabLst>
                          <a:tab pos="219075" algn="l"/>
                        </a:tabLst>
                      </a:pPr>
                      <a:r>
                        <a:rPr lang="en-GB" sz="1000" i="1" dirty="0">
                          <a:ea typeface="Calibri"/>
                          <a:cs typeface="Calibri"/>
                        </a:rPr>
                        <a:t>• Max iterations: </a:t>
                      </a:r>
                      <a:r>
                        <a:rPr lang="en-GB" sz="1000" dirty="0">
                          <a:ea typeface="Calibri"/>
                          <a:cs typeface="Calibri"/>
                        </a:rPr>
                        <a:t>50, 100, 200, 300, 400, 500, 700, 800, 1000. </a:t>
                      </a:r>
                    </a:p>
                    <a:p>
                      <a:pPr marL="0" indent="0">
                        <a:buFont typeface="Arial" panose="020B0604020202020204" pitchFamily="34" charset="0"/>
                        <a:buNone/>
                        <a:tabLst>
                          <a:tab pos="219075" algn="l"/>
                        </a:tabLst>
                      </a:pPr>
                      <a:r>
                        <a:rPr lang="en-GB" sz="1000" b="1" i="1" dirty="0">
                          <a:ea typeface="Calibri"/>
                          <a:cs typeface="Calibri"/>
                        </a:rPr>
                        <a:t>The best result: </a:t>
                      </a:r>
                      <a:r>
                        <a:rPr lang="en-GB" sz="1000" b="1" i="1" dirty="0"/>
                        <a:t>50 neurons in hidden layer, tanh function, SGD solver, 200 </a:t>
                      </a:r>
                      <a:r>
                        <a:rPr lang="en-GB" sz="1000" b="1" i="1" dirty="0">
                          <a:ea typeface="Calibri"/>
                          <a:cs typeface="Calibri"/>
                        </a:rPr>
                        <a:t>epochs. </a:t>
                      </a:r>
                    </a:p>
                  </a:txBody>
                  <a:tcPr/>
                </a:tc>
                <a:tc>
                  <a:txBody>
                    <a:bodyPr/>
                    <a:lstStyle/>
                    <a:p>
                      <a:endParaRPr lang="en-GB" sz="1000" dirty="0"/>
                    </a:p>
                    <a:p>
                      <a:endParaRPr lang="en-GB" sz="1000" dirty="0"/>
                    </a:p>
                    <a:p>
                      <a:endParaRPr lang="en-GB" sz="1000" b="1" dirty="0">
                        <a:ea typeface="Calibri"/>
                        <a:cs typeface="Calibri"/>
                      </a:endParaRPr>
                    </a:p>
                    <a:p>
                      <a:r>
                        <a:rPr lang="en-GB" sz="1000" b="1" dirty="0">
                          <a:ea typeface="Calibri"/>
                          <a:cs typeface="Calibri"/>
                        </a:rPr>
                        <a:t>Recall = 92.8</a:t>
                      </a:r>
                      <a:r>
                        <a:rPr lang="en-GB" sz="1000" b="1" dirty="0"/>
                        <a:t>%</a:t>
                      </a:r>
                    </a:p>
                    <a:p>
                      <a:r>
                        <a:rPr lang="en-GB" sz="1000" b="1" dirty="0">
                          <a:ea typeface="Calibri"/>
                          <a:cs typeface="Calibri"/>
                        </a:rPr>
                        <a:t>AUC = 96.5</a:t>
                      </a:r>
                      <a:r>
                        <a:rPr lang="en-GB" sz="1000" b="1" dirty="0"/>
                        <a:t>%</a:t>
                      </a:r>
                    </a:p>
                  </a:txBody>
                  <a:tcPr/>
                </a:tc>
                <a:extLst>
                  <a:ext uri="{0D108BD9-81ED-4DB2-BD59-A6C34878D82A}">
                    <a16:rowId xmlns:a16="http://schemas.microsoft.com/office/drawing/2014/main" val="3680307176"/>
                  </a:ext>
                </a:extLst>
              </a:tr>
              <a:tr h="291073">
                <a:tc>
                  <a:txBody>
                    <a:bodyPr/>
                    <a:lstStyle/>
                    <a:p>
                      <a:pPr marL="0" marR="0" lvl="0" indent="0" algn="l" defTabSz="1706910" rtl="0" eaLnBrk="1" fontAlgn="auto" latinLnBrk="0" hangingPunct="1">
                        <a:lnSpc>
                          <a:spcPct val="100000"/>
                        </a:lnSpc>
                        <a:spcBef>
                          <a:spcPts val="0"/>
                        </a:spcBef>
                        <a:spcAft>
                          <a:spcPts val="0"/>
                        </a:spcAft>
                        <a:buClrTx/>
                        <a:buSzTx/>
                        <a:buFontTx/>
                        <a:buNone/>
                        <a:tabLst/>
                        <a:defRPr/>
                      </a:pPr>
                      <a:r>
                        <a:rPr lang="en-US" sz="1000" dirty="0"/>
                        <a:t>3. Decision Tree</a:t>
                      </a:r>
                      <a:endParaRPr lang="en-GB" sz="1000" dirty="0"/>
                    </a:p>
                  </a:txBody>
                  <a:tcPr/>
                </a:tc>
                <a:tc>
                  <a:txBody>
                    <a:bodyPr/>
                    <a:lstStyle/>
                    <a:p>
                      <a:pPr marL="0" indent="0">
                        <a:buFont typeface="Arial" panose="020B0604020202020204" pitchFamily="34" charset="0"/>
                        <a:buNone/>
                        <a:tabLst>
                          <a:tab pos="219075" algn="l"/>
                        </a:tabLst>
                      </a:pPr>
                      <a:r>
                        <a:rPr lang="en-GB" sz="1000" i="1" dirty="0">
                          <a:ea typeface="Calibri"/>
                          <a:cs typeface="Calibri"/>
                        </a:rPr>
                        <a:t>• Minimum number of instances in leaves: </a:t>
                      </a:r>
                      <a:r>
                        <a:rPr lang="en-GB" sz="1000" dirty="0">
                          <a:ea typeface="Calibri"/>
                          <a:cs typeface="Calibri"/>
                        </a:rPr>
                        <a:t>2, 5, 10, 20;</a:t>
                      </a:r>
                    </a:p>
                    <a:p>
                      <a:pPr marL="0" indent="0">
                        <a:buFont typeface="Arial" panose="020B0604020202020204" pitchFamily="34" charset="0"/>
                        <a:buNone/>
                        <a:tabLst>
                          <a:tab pos="219075" algn="l"/>
                        </a:tabLst>
                      </a:pPr>
                      <a:r>
                        <a:rPr lang="en-GB" sz="1000" i="1" dirty="0">
                          <a:ea typeface="Calibri"/>
                          <a:cs typeface="Calibri"/>
                        </a:rPr>
                        <a:t>• Split subsets: </a:t>
                      </a:r>
                      <a:r>
                        <a:rPr lang="en-GB" sz="1000" dirty="0">
                          <a:ea typeface="Calibri"/>
                          <a:cs typeface="Calibri"/>
                        </a:rPr>
                        <a:t>5, 10, 20, which did not have any effect on the results;</a:t>
                      </a:r>
                    </a:p>
                    <a:p>
                      <a:pPr marL="0" indent="0">
                        <a:buFont typeface="Arial" panose="020B0604020202020204" pitchFamily="34" charset="0"/>
                        <a:buNone/>
                        <a:tabLst>
                          <a:tab pos="219075" algn="l"/>
                        </a:tabLst>
                      </a:pPr>
                      <a:r>
                        <a:rPr lang="en-GB" sz="1000" i="1" dirty="0">
                          <a:ea typeface="Calibri"/>
                          <a:cs typeface="Calibri"/>
                        </a:rPr>
                        <a:t>• Maximum tree depth: </a:t>
                      </a:r>
                      <a:r>
                        <a:rPr lang="en-GB" sz="1000" dirty="0">
                          <a:ea typeface="Calibri"/>
                          <a:cs typeface="Calibri"/>
                        </a:rPr>
                        <a:t>2, 5, 8, 10. </a:t>
                      </a:r>
                    </a:p>
                    <a:p>
                      <a:pPr>
                        <a:tabLst>
                          <a:tab pos="219075" algn="l"/>
                        </a:tabLst>
                      </a:pPr>
                      <a:r>
                        <a:rPr lang="en-GB" sz="1000" b="1" i="1" dirty="0">
                          <a:ea typeface="Calibri"/>
                          <a:cs typeface="Calibri"/>
                        </a:rPr>
                        <a:t>The best result: 10 instances in leaves, 5 split subsets and a max tree depth of 10</a:t>
                      </a:r>
                      <a:endParaRPr lang="en-GB" sz="1000" b="1" dirty="0">
                        <a:ea typeface="Calibri"/>
                        <a:cs typeface="Calibri"/>
                      </a:endParaRPr>
                    </a:p>
                  </a:txBody>
                  <a:tcPr/>
                </a:tc>
                <a:tc>
                  <a:txBody>
                    <a:bodyPr/>
                    <a:lstStyle/>
                    <a:p>
                      <a:endParaRPr lang="en-GB" sz="1000" b="1" dirty="0">
                        <a:ea typeface="Calibri"/>
                        <a:cs typeface="Calibri"/>
                      </a:endParaRPr>
                    </a:p>
                    <a:p>
                      <a:endParaRPr lang="en-GB" sz="1000" b="1" dirty="0">
                        <a:ea typeface="Calibri"/>
                        <a:cs typeface="Calibri"/>
                      </a:endParaRPr>
                    </a:p>
                    <a:p>
                      <a:r>
                        <a:rPr lang="en-GB" sz="1000" b="1" dirty="0">
                          <a:ea typeface="Calibri"/>
                          <a:cs typeface="Calibri"/>
                        </a:rPr>
                        <a:t>Recall = 88.9</a:t>
                      </a:r>
                      <a:r>
                        <a:rPr lang="en-GB" sz="1000" b="1" dirty="0"/>
                        <a:t>%</a:t>
                      </a:r>
                    </a:p>
                    <a:p>
                      <a:r>
                        <a:rPr lang="en-GB" sz="1000" b="1" dirty="0">
                          <a:ea typeface="Calibri"/>
                          <a:cs typeface="Calibri"/>
                        </a:rPr>
                        <a:t>AUC = 93.8</a:t>
                      </a:r>
                      <a:r>
                        <a:rPr lang="en-GB" sz="1000" b="1" dirty="0"/>
                        <a:t>%</a:t>
                      </a:r>
                    </a:p>
                  </a:txBody>
                  <a:tcPr/>
                </a:tc>
                <a:extLst>
                  <a:ext uri="{0D108BD9-81ED-4DB2-BD59-A6C34878D82A}">
                    <a16:rowId xmlns:a16="http://schemas.microsoft.com/office/drawing/2014/main" val="1144539082"/>
                  </a:ext>
                </a:extLst>
              </a:tr>
            </a:tbl>
          </a:graphicData>
        </a:graphic>
      </p:graphicFrame>
      <p:sp>
        <p:nvSpPr>
          <p:cNvPr id="54" name="TextBox 53">
            <a:extLst>
              <a:ext uri="{FF2B5EF4-FFF2-40B4-BE49-F238E27FC236}">
                <a16:creationId xmlns:a16="http://schemas.microsoft.com/office/drawing/2014/main" id="{6BDA679E-4349-2F41-3552-AFD1827AE747}"/>
              </a:ext>
            </a:extLst>
          </p:cNvPr>
          <p:cNvSpPr txBox="1"/>
          <p:nvPr/>
        </p:nvSpPr>
        <p:spPr>
          <a:xfrm>
            <a:off x="358005" y="10561915"/>
            <a:ext cx="6408000" cy="2160000"/>
          </a:xfrm>
          <a:prstGeom prst="rect">
            <a:avLst/>
          </a:prstGeom>
          <a:noFill/>
          <a:ln w="38100">
            <a:solidFill>
              <a:schemeClr val="accent1">
                <a:lumMod val="60000"/>
                <a:lumOff val="40000"/>
              </a:schemeClr>
            </a:solidFill>
          </a:ln>
        </p:spPr>
        <p:txBody>
          <a:bodyPr wrap="square" lIns="91440" tIns="45720" rIns="91440" bIns="45720" rtlCol="0" anchor="t">
            <a:spAutoFit/>
          </a:bodyPr>
          <a:lstStyle/>
          <a:p>
            <a:r>
              <a:rPr lang="en-GB" sz="1600" dirty="0"/>
              <a:t>7. Insight about data </a:t>
            </a:r>
            <a:r>
              <a:rPr lang="en-GB" sz="1600" b="0" i="0" dirty="0">
                <a:solidFill>
                  <a:srgbClr val="000000"/>
                </a:solidFill>
                <a:effectLst/>
                <a:ea typeface="Calibri"/>
                <a:cs typeface="Calibri"/>
              </a:rPr>
              <a:t>or </a:t>
            </a:r>
            <a:r>
              <a:rPr lang="en-GB" sz="1600" dirty="0">
                <a:solidFill>
                  <a:srgbClr val="000000"/>
                </a:solidFill>
                <a:ea typeface="Calibri"/>
                <a:cs typeface="Calibri"/>
              </a:rPr>
              <a:t>models gained</a:t>
            </a:r>
          </a:p>
          <a:p>
            <a:r>
              <a:rPr lang="en-GB" sz="1000" dirty="0">
                <a:ea typeface="Calibri"/>
                <a:cs typeface="Calibri"/>
              </a:rPr>
              <a:t>Features such as </a:t>
            </a:r>
            <a:r>
              <a:rPr lang="en-GB" sz="900" i="1" dirty="0" err="1">
                <a:ea typeface="Calibri"/>
                <a:cs typeface="Calibri"/>
              </a:rPr>
              <a:t>surface_debris</a:t>
            </a:r>
            <a:r>
              <a:rPr lang="en-GB" sz="900" i="1" dirty="0">
                <a:ea typeface="Calibri"/>
                <a:cs typeface="Calibri"/>
              </a:rPr>
              <a:t>, </a:t>
            </a:r>
            <a:r>
              <a:rPr lang="en-GB" sz="900" i="1" dirty="0" err="1">
                <a:ea typeface="Calibri"/>
                <a:cs typeface="Calibri"/>
              </a:rPr>
              <a:t>structural_mass_ratio</a:t>
            </a:r>
            <a:r>
              <a:rPr lang="en-GB" sz="900" i="1" dirty="0">
                <a:ea typeface="Calibri"/>
                <a:cs typeface="Calibri"/>
              </a:rPr>
              <a:t>, </a:t>
            </a:r>
            <a:r>
              <a:rPr lang="en-GB" sz="900" i="1" dirty="0" err="1">
                <a:ea typeface="Calibri"/>
                <a:cs typeface="Calibri"/>
              </a:rPr>
              <a:t>recent_precipitation</a:t>
            </a:r>
            <a:r>
              <a:rPr lang="en-GB" sz="900" i="1" dirty="0">
                <a:ea typeface="Calibri"/>
                <a:cs typeface="Calibri"/>
              </a:rPr>
              <a:t>, </a:t>
            </a:r>
            <a:r>
              <a:rPr lang="en-GB" sz="900" i="1" dirty="0" err="1">
                <a:ea typeface="Calibri"/>
                <a:cs typeface="Calibri"/>
              </a:rPr>
              <a:t>infrastructure_age</a:t>
            </a:r>
            <a:r>
              <a:rPr lang="en-GB" sz="900" i="1" dirty="0">
                <a:ea typeface="Calibri"/>
                <a:cs typeface="Calibri"/>
              </a:rPr>
              <a:t>, </a:t>
            </a:r>
            <a:r>
              <a:rPr lang="en-GB" sz="900" i="1" dirty="0" err="1">
                <a:ea typeface="Calibri"/>
                <a:cs typeface="Calibri"/>
              </a:rPr>
              <a:t>moisture_stress</a:t>
            </a:r>
            <a:r>
              <a:rPr lang="en-GB" sz="900" i="1" dirty="0">
                <a:ea typeface="Calibri"/>
                <a:cs typeface="Calibri"/>
              </a:rPr>
              <a:t> </a:t>
            </a:r>
            <a:r>
              <a:rPr lang="en-GB" sz="1000" dirty="0">
                <a:ea typeface="Calibri"/>
                <a:cs typeface="Calibri"/>
              </a:rPr>
              <a:t>have a significant impact on infrastructure failure, with higher values associated with an increased probability of failure. </a:t>
            </a:r>
          </a:p>
          <a:p>
            <a:r>
              <a:rPr lang="en-GB" sz="1000" b="1" dirty="0">
                <a:ea typeface="Calibri"/>
                <a:cs typeface="Calibri"/>
              </a:rPr>
              <a:t>In contrast</a:t>
            </a:r>
            <a:r>
              <a:rPr lang="en-GB" sz="1000" dirty="0">
                <a:ea typeface="Calibri"/>
                <a:cs typeface="Calibri"/>
              </a:rPr>
              <a:t>, features such as </a:t>
            </a:r>
            <a:r>
              <a:rPr lang="en-GB" sz="900" i="1" dirty="0" err="1">
                <a:ea typeface="Calibri"/>
                <a:cs typeface="Calibri"/>
              </a:rPr>
              <a:t>inspection_window</a:t>
            </a:r>
            <a:r>
              <a:rPr lang="en-GB" sz="900" i="1" dirty="0">
                <a:ea typeface="Calibri"/>
                <a:cs typeface="Calibri"/>
              </a:rPr>
              <a:t>, </a:t>
            </a:r>
            <a:r>
              <a:rPr lang="en-GB" sz="900" i="1" dirty="0" err="1">
                <a:ea typeface="Calibri"/>
                <a:cs typeface="Calibri"/>
              </a:rPr>
              <a:t>inspection_season</a:t>
            </a:r>
            <a:r>
              <a:rPr lang="en-GB" sz="900" i="1" dirty="0">
                <a:ea typeface="Calibri"/>
                <a:cs typeface="Calibri"/>
              </a:rPr>
              <a:t> = autumn/spring, and </a:t>
            </a:r>
            <a:r>
              <a:rPr lang="en-GB" sz="900" i="1" dirty="0" err="1">
                <a:ea typeface="Calibri"/>
                <a:cs typeface="Calibri"/>
              </a:rPr>
              <a:t>vibration_exposure</a:t>
            </a:r>
            <a:r>
              <a:rPr lang="en-GB" sz="900" i="1" dirty="0">
                <a:ea typeface="Calibri"/>
                <a:cs typeface="Calibri"/>
              </a:rPr>
              <a:t> </a:t>
            </a:r>
            <a:r>
              <a:rPr lang="en-GB" sz="1000" dirty="0">
                <a:ea typeface="Calibri"/>
                <a:cs typeface="Calibri"/>
              </a:rPr>
              <a:t>showed almost no predictive value and were removed during feature selection. </a:t>
            </a:r>
            <a:r>
              <a:rPr lang="en-GB" sz="1000" b="1" dirty="0">
                <a:solidFill>
                  <a:srgbClr val="000000"/>
                </a:solidFill>
                <a:ea typeface="Calibri"/>
                <a:cs typeface="Calibri"/>
              </a:rPr>
              <a:t>The analysis also indicated </a:t>
            </a:r>
            <a:r>
              <a:rPr lang="en-GB" sz="1000" dirty="0">
                <a:solidFill>
                  <a:srgbClr val="000000"/>
                </a:solidFill>
                <a:ea typeface="Calibri"/>
                <a:cs typeface="Calibri"/>
              </a:rPr>
              <a:t>a clear environmental influence, with failures occurring more frequently during the summer period. This suggests that weather conditions play an important role. Overall, infrastructure failure depends on both structural characteristics and external environmental factors (weather/level of usage). No strong model bias was observed; but some seasonal variation is present in the data.</a:t>
            </a:r>
          </a:p>
          <a:p>
            <a:r>
              <a:rPr lang="en-GB" sz="1000" b="1" dirty="0">
                <a:solidFill>
                  <a:srgbClr val="000000"/>
                </a:solidFill>
                <a:ea typeface="Calibri"/>
                <a:cs typeface="Calibri"/>
              </a:rPr>
              <a:t>Logistic Regression was selected as the final model due to its strong performance and interpretability. Its coefficients indicate the direction and strength of the relationship between each feature and the probability of failure, helping to understand which factors lead to failure. Besides, it is fast (learns and predicts quickly), simple to tune (few hyperparameters), and practical for real-world decision-making. This demonstrates that simpler, interpretable models can achieve both high performance and practical value in real-world applications.</a:t>
            </a:r>
          </a:p>
        </p:txBody>
      </p:sp>
    </p:spTree>
    <p:extLst>
      <p:ext uri="{BB962C8B-B14F-4D97-AF65-F5344CB8AC3E}">
        <p14:creationId xmlns:p14="http://schemas.microsoft.com/office/powerpoint/2010/main" val="169875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F1DA950B468274CB53651377B661D5E" ma:contentTypeVersion="4" ma:contentTypeDescription="Create a new document." ma:contentTypeScope="" ma:versionID="27a16cd52dc681f2d631c60625793089">
  <xsd:schema xmlns:xsd="http://www.w3.org/2001/XMLSchema" xmlns:xs="http://www.w3.org/2001/XMLSchema" xmlns:p="http://schemas.microsoft.com/office/2006/metadata/properties" xmlns:ns2="4ce3de0b-3eea-4cb9-8254-1efe69defd32" targetNamespace="http://schemas.microsoft.com/office/2006/metadata/properties" ma:root="true" ma:fieldsID="aa5d8f5ea0382bb42d66b4ec4f495684" ns2:_="">
    <xsd:import namespace="4ce3de0b-3eea-4cb9-8254-1efe69defd3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e3de0b-3eea-4cb9-8254-1efe69defd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49E239-D122-40A9-AB11-D677033190C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3661331-00C7-43C5-9A5A-50F586F608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ce3de0b-3eea-4cb9-8254-1efe69defd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78572B-7D4E-4A33-82E0-6D91E9A8F67C}">
  <ds:schemaRefs>
    <ds:schemaRef ds:uri="http://schemas.microsoft.com/sharepoint/v3/contenttype/forms"/>
  </ds:schemaRefs>
</ds:datastoreItem>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otalTime>6376</TotalTime>
  <Words>1928</Words>
  <Application>Microsoft Macintosh PowerPoint</Application>
  <PresentationFormat>A3 Paper (297x420 mm)</PresentationFormat>
  <Paragraphs>96</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Swingler</dc:creator>
  <cp:lastModifiedBy>Kristina Palesheva</cp:lastModifiedBy>
  <cp:revision>133</cp:revision>
  <dcterms:created xsi:type="dcterms:W3CDTF">2022-12-31T18:26:39Z</dcterms:created>
  <dcterms:modified xsi:type="dcterms:W3CDTF">2026-03-30T23:01:48Z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0x0101000F1DA950B468274CB53651377B661D5E</vt:lpwstr>
  </property>
</Properties>
</file>