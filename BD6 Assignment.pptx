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11"/>
    <p:restoredTop sz="94625"/>
  </p:normalViewPr>
  <p:slideViewPr>
    <p:cSldViewPr snapToGrid="0">
      <p:cViewPr>
        <p:scale>
          <a:sx n="150" d="100"/>
          <a:sy n="150" d="100"/>
        </p:scale>
        <p:origin x="144" y="-196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dirty="0"/>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4882289" y="6703042"/>
            <a:ext cx="4490932" cy="2339102"/>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882289" y="8816780"/>
            <a:ext cx="4424602"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374137924"/>
              </p:ext>
            </p:extLst>
          </p:nvPr>
        </p:nvGraphicFramePr>
        <p:xfrm>
          <a:off x="5005441" y="9764892"/>
          <a:ext cx="4178298" cy="1151476"/>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401768">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523220"/>
          </a:xfrm>
          <a:prstGeom prst="rect">
            <a:avLst/>
          </a:prstGeom>
          <a:noFill/>
        </p:spPr>
        <p:txBody>
          <a:bodyPr wrap="square" lIns="91440" tIns="45720" rIns="91440" bIns="45720" rtlCol="0" anchor="t">
            <a:spAutoFit/>
          </a:bodyPr>
          <a:lstStyle/>
          <a:p>
            <a:r>
              <a:rPr lang="en-GB" sz="2800" dirty="0"/>
              <a:t>ITNPBD6 Assignment 1. Student Number </a:t>
            </a:r>
            <a:r>
              <a:rPr lang="en-GB" sz="2800" b="1" dirty="0"/>
              <a:t>3461226</a:t>
            </a:r>
            <a:endParaRPr lang="en-GB" sz="2800" b="1"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930254923"/>
              </p:ext>
            </p:extLst>
          </p:nvPr>
        </p:nvGraphicFramePr>
        <p:xfrm>
          <a:off x="4882290" y="2435450"/>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130744" y="7041596"/>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75353" y="745082"/>
            <a:ext cx="4211646" cy="25306928"/>
          </a:xfrm>
          <a:prstGeom prst="rect">
            <a:avLst/>
          </a:prstGeom>
          <a:noFill/>
          <a:ln w="38100">
            <a:solidFill>
              <a:schemeClr val="accent1">
                <a:lumMod val="60000"/>
                <a:lumOff val="40000"/>
              </a:schemeClr>
            </a:solidFill>
          </a:ln>
        </p:spPr>
        <p:txBody>
          <a:bodyPr wrap="square" lIns="91440" tIns="45720" rIns="91440" bIns="45720" anchor="t">
            <a:spAutoFit/>
          </a:bodyPr>
          <a:lstStyle/>
          <a:p>
            <a:pPr>
              <a:tabLst>
                <a:tab pos="219075" algn="l"/>
              </a:tabLst>
            </a:pPr>
            <a:r>
              <a:rPr lang="en-GB" sz="2000" dirty="0"/>
              <a:t>2. Project Methodology</a:t>
            </a:r>
          </a:p>
          <a:p>
            <a:pPr>
              <a:buFont typeface="+mj-lt"/>
              <a:buAutoNum type="arabicPeriod"/>
              <a:tabLst>
                <a:tab pos="219075" algn="l"/>
              </a:tabLst>
            </a:pPr>
            <a:r>
              <a:rPr lang="en-GB" sz="1050" b="1" dirty="0"/>
              <a:t>Task Understanding</a:t>
            </a:r>
          </a:p>
          <a:p>
            <a:pPr>
              <a:tabLst>
                <a:tab pos="219075" algn="l"/>
              </a:tabLst>
            </a:pPr>
            <a:r>
              <a:rPr lang="en-GB" sz="1050" dirty="0">
                <a:ea typeface="Calibri"/>
                <a:cs typeface="Calibri"/>
              </a:rPr>
              <a:t>This is a binary classification task with target variable failure, where probability of failure ≥ 0.5 means infrastructure failure. </a:t>
            </a:r>
          </a:p>
          <a:p>
            <a:pPr>
              <a:tabLst>
                <a:tab pos="219075" algn="l"/>
              </a:tabLst>
            </a:pPr>
            <a:r>
              <a:rPr lang="en-GB" sz="1050" i="1" u="sng" dirty="0">
                <a:ea typeface="Calibri"/>
                <a:cs typeface="Calibri"/>
              </a:rPr>
              <a:t>The goal </a:t>
            </a:r>
            <a:r>
              <a:rPr lang="en-GB" sz="1050" dirty="0">
                <a:ea typeface="Calibri"/>
                <a:cs typeface="Calibri"/>
              </a:rPr>
              <a:t>is to predict the probability of the infrastructure failure in a city block during the monitoring period. </a:t>
            </a:r>
          </a:p>
          <a:p>
            <a:pPr>
              <a:tabLst>
                <a:tab pos="219075" algn="l"/>
              </a:tabLst>
            </a:pPr>
            <a:r>
              <a:rPr lang="en-GB" sz="1050" i="1" u="sng" dirty="0">
                <a:ea typeface="Calibri"/>
                <a:cs typeface="Calibri"/>
              </a:rPr>
              <a:t>It is important to note that a ’good model’ for this task should </a:t>
            </a:r>
          </a:p>
          <a:p>
            <a:pPr>
              <a:buFont typeface="Wingdings" pitchFamily="2" charset="2"/>
              <a:buChar char="ü"/>
              <a:tabLst>
                <a:tab pos="219075" algn="l"/>
              </a:tabLst>
            </a:pPr>
            <a:r>
              <a:rPr lang="en-GB" sz="1050" i="1" dirty="0">
                <a:ea typeface="Calibri"/>
                <a:cs typeface="Calibri"/>
              </a:rPr>
              <a:t>accurately predict infrastructure failure;</a:t>
            </a:r>
            <a:endParaRPr lang="en-GB" sz="1050" dirty="0">
              <a:ea typeface="Calibri"/>
              <a:cs typeface="Calibri"/>
            </a:endParaRPr>
          </a:p>
          <a:p>
            <a:pPr>
              <a:buFont typeface="Wingdings" pitchFamily="2" charset="2"/>
              <a:buChar char="ü"/>
              <a:tabLst>
                <a:tab pos="219075" algn="l"/>
              </a:tabLst>
            </a:pPr>
            <a:r>
              <a:rPr lang="en-GB" sz="1050" i="1" dirty="0">
                <a:ea typeface="Calibri"/>
                <a:cs typeface="Calibri"/>
              </a:rPr>
              <a:t>minimise false negative </a:t>
            </a:r>
            <a:r>
              <a:rPr lang="en-GB" sz="1050" dirty="0">
                <a:ea typeface="Calibri"/>
                <a:cs typeface="Calibri"/>
              </a:rPr>
              <a:t>to avoid missing high-risk areas </a:t>
            </a:r>
          </a:p>
          <a:p>
            <a:pPr>
              <a:tabLst>
                <a:tab pos="219075" algn="l"/>
              </a:tabLst>
            </a:pPr>
            <a:r>
              <a:rPr lang="en-GB" sz="1050" dirty="0">
                <a:ea typeface="Calibri"/>
                <a:cs typeface="Calibri"/>
              </a:rPr>
              <a:t>(high Recall for failure is the most important metric for this task) ;</a:t>
            </a:r>
          </a:p>
          <a:p>
            <a:pPr>
              <a:buFont typeface="Wingdings" pitchFamily="2" charset="2"/>
              <a:buChar char="ü"/>
              <a:tabLst>
                <a:tab pos="219075" algn="l"/>
              </a:tabLst>
            </a:pPr>
            <a:r>
              <a:rPr lang="en-GB" sz="1050" i="1" dirty="0">
                <a:ea typeface="Calibri"/>
                <a:cs typeface="Calibri"/>
              </a:rPr>
              <a:t>generalise  well to unseen data</a:t>
            </a:r>
            <a:r>
              <a:rPr lang="en-GB" sz="1050" dirty="0">
                <a:ea typeface="Calibri"/>
                <a:cs typeface="Calibri"/>
              </a:rPr>
              <a:t> to be useful in real-world applications. </a:t>
            </a:r>
          </a:p>
          <a:p>
            <a:pPr>
              <a:tabLst>
                <a:tab pos="219075" algn="l"/>
              </a:tabLst>
            </a:pPr>
            <a:r>
              <a:rPr lang="en-GB" sz="1050" dirty="0">
                <a:ea typeface="Calibri"/>
                <a:cs typeface="Calibri"/>
              </a:rPr>
              <a:t>In addition, it is important to identify which features have the greatest impact on failure, as this can provide valuable insights for decision-making and risk minimisation.</a:t>
            </a:r>
          </a:p>
          <a:p>
            <a:pPr>
              <a:buFont typeface="+mj-lt"/>
              <a:buAutoNum type="arabicPeriod" startAt="2"/>
              <a:tabLst>
                <a:tab pos="219075" algn="l"/>
              </a:tabLst>
            </a:pPr>
            <a:r>
              <a:rPr lang="en-GB" sz="1050" b="1" dirty="0">
                <a:ea typeface="Calibri"/>
                <a:cs typeface="Calibri"/>
              </a:rPr>
              <a:t>Data Understanding</a:t>
            </a:r>
          </a:p>
          <a:p>
            <a:pPr>
              <a:tabLst>
                <a:tab pos="219075" algn="l"/>
              </a:tabLst>
            </a:pPr>
            <a:r>
              <a:rPr lang="en-GB" sz="1050" i="1" u="sng" dirty="0">
                <a:ea typeface="Calibri"/>
                <a:cs typeface="Calibri"/>
              </a:rPr>
              <a:t>Inputs to the model: </a:t>
            </a:r>
            <a:r>
              <a:rPr lang="en-GB" sz="1050" dirty="0">
                <a:ea typeface="Calibri"/>
                <a:cs typeface="Calibri"/>
              </a:rPr>
              <a:t>almost all of the input variables are continues numeric features which are describing infrastructure and environmental conditions. Only two of them (</a:t>
            </a:r>
            <a:r>
              <a:rPr lang="en-GB" sz="1050" dirty="0" err="1">
                <a:ea typeface="Calibri"/>
                <a:cs typeface="Calibri"/>
              </a:rPr>
              <a:t>inspection_season</a:t>
            </a:r>
            <a:r>
              <a:rPr lang="en-GB" sz="1050" dirty="0">
                <a:ea typeface="Calibri"/>
                <a:cs typeface="Calibri"/>
              </a:rPr>
              <a:t> and </a:t>
            </a:r>
            <a:r>
              <a:rPr lang="en-GB" sz="1050" dirty="0" err="1">
                <a:ea typeface="Calibri"/>
                <a:cs typeface="Calibri"/>
              </a:rPr>
              <a:t>inspection_window</a:t>
            </a:r>
            <a:r>
              <a:rPr lang="en-GB" sz="1050" dirty="0">
                <a:ea typeface="Calibri"/>
                <a:cs typeface="Calibri"/>
              </a:rPr>
              <a:t>) are categorical and need to be encoded by one-hot encoding. Additionally, there is one discrete numeric variable – </a:t>
            </a:r>
            <a:r>
              <a:rPr lang="en-GB" sz="1050" dirty="0" err="1">
                <a:ea typeface="Calibri"/>
                <a:cs typeface="Calibri"/>
              </a:rPr>
              <a:t>inspector_id</a:t>
            </a:r>
            <a:r>
              <a:rPr lang="en-GB" sz="1050" dirty="0">
                <a:ea typeface="Calibri"/>
                <a:cs typeface="Calibri"/>
              </a:rPr>
              <a:t>, - which identifies an inspector and not contain information about infrastructure, so it has almost nothing to do with failure. This variable adds an unnecessary dimension to the model, increase its complexity, and introduces more noise. Thus, it would be best just to remove it from the dataset. </a:t>
            </a:r>
          </a:p>
          <a:p>
            <a:pPr>
              <a:tabLst>
                <a:tab pos="219075" algn="l"/>
              </a:tabLst>
            </a:pPr>
            <a:r>
              <a:rPr lang="en-GB" sz="1050" i="1" u="sng" dirty="0">
                <a:ea typeface="Calibri"/>
                <a:cs typeface="Calibri"/>
              </a:rPr>
              <a:t>Output of the model</a:t>
            </a:r>
            <a:r>
              <a:rPr lang="en-GB" sz="1050" dirty="0">
                <a:ea typeface="Calibri"/>
                <a:cs typeface="Calibri"/>
              </a:rPr>
              <a:t> is the binary categorical variable failure (target) which takes values 0 – for no infrastructure failure and 1 - for failure occurs. </a:t>
            </a:r>
          </a:p>
          <a:p>
            <a:pPr>
              <a:tabLst>
                <a:tab pos="219075" algn="l"/>
              </a:tabLst>
            </a:pPr>
            <a:r>
              <a:rPr lang="en-GB" sz="1050" i="1" u="sng" dirty="0">
                <a:ea typeface="Calibri"/>
                <a:cs typeface="Calibri"/>
              </a:rPr>
              <a:t>To solve this task</a:t>
            </a:r>
            <a:r>
              <a:rPr lang="en-GB" sz="105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build probability model. </a:t>
            </a:r>
          </a:p>
          <a:p>
            <a:pPr>
              <a:tabLst>
                <a:tab pos="219075" algn="l"/>
              </a:tabLst>
            </a:pPr>
            <a:r>
              <a:rPr lang="en-GB" sz="1050" i="1" dirty="0">
                <a:ea typeface="Calibri"/>
                <a:cs typeface="Calibri"/>
              </a:rPr>
              <a:t>It worth to emphasise that care must be taken to avoid overtraining the model and preventing data leakage. </a:t>
            </a:r>
          </a:p>
          <a:p>
            <a:pPr>
              <a:tabLst>
                <a:tab pos="219075" algn="l"/>
              </a:tabLst>
            </a:pPr>
            <a:r>
              <a:rPr lang="en-GB" sz="1050" i="1" u="sng" dirty="0">
                <a:ea typeface="Calibri"/>
                <a:cs typeface="Calibri"/>
              </a:rPr>
              <a:t>Plot the data</a:t>
            </a:r>
            <a:r>
              <a:rPr lang="en-GB" sz="1050" dirty="0">
                <a:ea typeface="Calibri"/>
                <a:cs typeface="Calibri"/>
              </a:rPr>
              <a:t> for better data mining and possible errors identification. </a:t>
            </a:r>
          </a:p>
          <a:p>
            <a:pPr>
              <a:tabLst>
                <a:tab pos="219075" algn="l"/>
              </a:tabLst>
            </a:pPr>
            <a:r>
              <a:rPr lang="en-GB" sz="1050" i="1" dirty="0">
                <a:ea typeface="Calibri"/>
                <a:cs typeface="Calibri"/>
              </a:rPr>
              <a:t>Histograms show </a:t>
            </a:r>
            <a:r>
              <a:rPr lang="en-GB" sz="1050" dirty="0">
                <a:ea typeface="Calibri"/>
                <a:cs typeface="Calibri"/>
              </a:rPr>
              <a:t>that some features (like </a:t>
            </a:r>
            <a:r>
              <a:rPr lang="en-GB" sz="1050" dirty="0" err="1">
                <a:ea typeface="Calibri"/>
                <a:cs typeface="Calibri"/>
              </a:rPr>
              <a:t>structural_mass_ratio</a:t>
            </a:r>
            <a:r>
              <a:rPr lang="en-GB" sz="1050" dirty="0">
                <a:ea typeface="Calibri"/>
                <a:cs typeface="Calibri"/>
              </a:rPr>
              <a:t>, </a:t>
            </a:r>
            <a:r>
              <a:rPr lang="en-GB" sz="1050" dirty="0" err="1">
                <a:ea typeface="Calibri"/>
                <a:cs typeface="Calibri"/>
              </a:rPr>
              <a:t>surface_debris</a:t>
            </a:r>
            <a:r>
              <a:rPr lang="en-GB" sz="1050" dirty="0">
                <a:ea typeface="Calibri"/>
                <a:cs typeface="Calibri"/>
              </a:rPr>
              <a:t>, </a:t>
            </a:r>
            <a:r>
              <a:rPr lang="en-GB" sz="1050" dirty="0" err="1">
                <a:ea typeface="Calibri"/>
                <a:cs typeface="Calibri"/>
              </a:rPr>
              <a:t>infrastructure_age</a:t>
            </a:r>
            <a:r>
              <a:rPr lang="en-GB" sz="1050" dirty="0">
                <a:ea typeface="Calibri"/>
                <a:cs typeface="Calibri"/>
              </a:rPr>
              <a:t>, </a:t>
            </a:r>
            <a:r>
              <a:rPr lang="en-GB" sz="1050" dirty="0" err="1">
                <a:ea typeface="Calibri"/>
                <a:cs typeface="Calibri"/>
              </a:rPr>
              <a:t>moisture_stress</a:t>
            </a:r>
            <a:r>
              <a:rPr lang="en-GB" sz="1050" dirty="0">
                <a:ea typeface="Calibri"/>
                <a:cs typeface="Calibri"/>
              </a:rPr>
              <a:t>, </a:t>
            </a:r>
            <a:r>
              <a:rPr lang="en-GB" sz="1050" dirty="0" err="1">
                <a:ea typeface="Calibri"/>
                <a:cs typeface="Calibri"/>
              </a:rPr>
              <a:t>recent_precipitation</a:t>
            </a:r>
            <a:r>
              <a:rPr lang="en-GB" sz="1050" dirty="0">
                <a:ea typeface="Calibri"/>
                <a:cs typeface="Calibri"/>
              </a:rPr>
              <a:t>) have significant impact on failure, where higher values increase probability of failure. And histogram of of </a:t>
            </a:r>
            <a:r>
              <a:rPr lang="en-GB" sz="1050" dirty="0" err="1">
                <a:ea typeface="Calibri"/>
                <a:cs typeface="Calibri"/>
              </a:rPr>
              <a:t>inspection_season</a:t>
            </a:r>
            <a:r>
              <a:rPr lang="en-GB" sz="1050" dirty="0">
                <a:ea typeface="Calibri"/>
                <a:cs typeface="Calibri"/>
              </a:rPr>
              <a:t> shows that failures occur mostly in summer period. </a:t>
            </a:r>
          </a:p>
          <a:p>
            <a:pPr>
              <a:tabLst>
                <a:tab pos="219075" algn="l"/>
              </a:tabLst>
            </a:pPr>
            <a:r>
              <a:rPr lang="en-GB" sz="1050" dirty="0">
                <a:ea typeface="Calibri"/>
                <a:cs typeface="Calibri"/>
              </a:rPr>
              <a:t>By examine the distribution, it becomes clear that there are some errors in the dataset. </a:t>
            </a:r>
          </a:p>
          <a:p>
            <a:pPr>
              <a:buFont typeface="+mj-lt"/>
              <a:buAutoNum type="arabicPeriod" startAt="3"/>
              <a:tabLst>
                <a:tab pos="219075" algn="l"/>
              </a:tabLst>
            </a:pPr>
            <a:r>
              <a:rPr lang="en-GB" sz="1050" b="1" dirty="0">
                <a:ea typeface="Calibri"/>
                <a:cs typeface="Calibri"/>
              </a:rPr>
              <a:t>Data Preparation</a:t>
            </a:r>
          </a:p>
          <a:p>
            <a:pPr marL="7938" indent="-7938">
              <a:buFont typeface="Arial" panose="020B0604020202020204" pitchFamily="34" charset="0"/>
              <a:buChar char="•"/>
              <a:tabLst>
                <a:tab pos="219075" algn="l"/>
              </a:tabLst>
            </a:pPr>
            <a:r>
              <a:rPr lang="en-GB" sz="1050" dirty="0">
                <a:ea typeface="Calibri"/>
                <a:cs typeface="Calibri"/>
              </a:rPr>
              <a:t>  Afte visualising the data, the </a:t>
            </a:r>
            <a:r>
              <a:rPr lang="en-GB" sz="1050" dirty="0" err="1">
                <a:ea typeface="Calibri"/>
                <a:cs typeface="Calibri"/>
              </a:rPr>
              <a:t>inspector_id</a:t>
            </a:r>
            <a:r>
              <a:rPr lang="en-GB" sz="1050" dirty="0">
                <a:ea typeface="Calibri"/>
                <a:cs typeface="Calibri"/>
              </a:rPr>
              <a:t>  feature appears to have a flat distribution and therefore, is not useful for prediction. As mentioned before, it should be removed from the dataset at this stage. </a:t>
            </a:r>
          </a:p>
          <a:p>
            <a:pPr marL="7938" indent="-7938">
              <a:buFont typeface="Arial" panose="020B0604020202020204" pitchFamily="34" charset="0"/>
              <a:buChar char="•"/>
              <a:tabLst>
                <a:tab pos="219075" algn="l"/>
              </a:tabLst>
            </a:pPr>
            <a:r>
              <a:rPr lang="en-GB" sz="1050" dirty="0">
                <a:ea typeface="Calibri"/>
                <a:cs typeface="Calibri"/>
              </a:rPr>
              <a:t>  Besides, there are some mistakes can be seen in categorical values (</a:t>
            </a:r>
            <a:r>
              <a:rPr lang="en-GB" sz="1050" dirty="0" err="1">
                <a:ea typeface="Calibri"/>
                <a:cs typeface="Calibri"/>
              </a:rPr>
              <a:t>sumer</a:t>
            </a:r>
            <a:r>
              <a:rPr lang="en-GB" sz="1050" dirty="0">
                <a:ea typeface="Calibri"/>
                <a:cs typeface="Calibri"/>
              </a:rPr>
              <a:t> instead of summer and morni1ng instead of morning). It is appropriate to fix them before splitting the data. </a:t>
            </a:r>
          </a:p>
          <a:p>
            <a:pPr marL="7938" indent="-7938">
              <a:buFont typeface="Arial" panose="020B0604020202020204" pitchFamily="34" charset="0"/>
              <a:buChar char="•"/>
              <a:tabLst>
                <a:tab pos="219075" algn="l"/>
              </a:tabLst>
            </a:pPr>
            <a:r>
              <a:rPr lang="en-GB" sz="1050" dirty="0">
                <a:ea typeface="Calibri"/>
                <a:cs typeface="Calibri"/>
              </a:rPr>
              <a:t>  Additionally, there are 0.2% missing values</a:t>
            </a:r>
            <a:r>
              <a:rPr lang="ru-RU" sz="1050" dirty="0">
                <a:ea typeface="Calibri"/>
                <a:cs typeface="Calibri"/>
              </a:rPr>
              <a:t> (</a:t>
            </a:r>
            <a:r>
              <a:rPr lang="en-GB" sz="1050" dirty="0">
                <a:ea typeface="Calibri"/>
                <a:cs typeface="Calibri"/>
              </a:rPr>
              <a:t>only 11 instances in the dataset), and the best way here is to simply delete these rows  rather than impute impute values. Deleting such a small amount of data is unlikely to affect model performance and it is better option than attempting to estimate missing values. </a:t>
            </a:r>
          </a:p>
          <a:p>
            <a:pPr marL="7938" indent="-7938">
              <a:buFont typeface="Arial" panose="020B0604020202020204" pitchFamily="34" charset="0"/>
              <a:buChar char="•"/>
              <a:tabLst>
                <a:tab pos="219075" algn="l"/>
              </a:tabLst>
            </a:pPr>
            <a:r>
              <a:rPr lang="en-GB" sz="1050" dirty="0">
                <a:ea typeface="Calibri"/>
                <a:cs typeface="Calibri"/>
              </a:rPr>
              <a:t>  Splitting the data into 70% of training data and 30% of of test data. </a:t>
            </a:r>
          </a:p>
          <a:p>
            <a:pPr marL="7938" indent="-7938">
              <a:buFont typeface="Arial" panose="020B0604020202020204" pitchFamily="34" charset="0"/>
              <a:buChar char="•"/>
              <a:tabLst>
                <a:tab pos="219075" algn="l"/>
              </a:tabLst>
            </a:pPr>
            <a:r>
              <a:rPr lang="en-GB" sz="1050" dirty="0">
                <a:ea typeface="Calibri"/>
                <a:cs typeface="Calibri"/>
              </a:rPr>
              <a:t>  There is an outlier in </a:t>
            </a:r>
            <a:r>
              <a:rPr lang="en-GB" sz="1050" dirty="0" err="1">
                <a:ea typeface="Calibri"/>
                <a:cs typeface="Calibri"/>
              </a:rPr>
              <a:t>material_flexibility</a:t>
            </a:r>
            <a:r>
              <a:rPr lang="en-GB" sz="1050" dirty="0">
                <a:ea typeface="Calibri"/>
                <a:cs typeface="Calibri"/>
              </a:rPr>
              <a:t> feature (≈90) which should be deleted. </a:t>
            </a:r>
          </a:p>
          <a:p>
            <a:pPr marL="7938" indent="-7938">
              <a:buFont typeface="Arial" panose="020B0604020202020204" pitchFamily="34" charset="0"/>
              <a:buChar char="•"/>
              <a:tabLst>
                <a:tab pos="219075" algn="l"/>
              </a:tabLst>
            </a:pPr>
            <a:r>
              <a:rPr lang="en-GB" sz="1050" dirty="0">
                <a:ea typeface="Calibri"/>
                <a:cs typeface="Calibri"/>
              </a:rPr>
              <a:t>  Categorical </a:t>
            </a:r>
            <a:r>
              <a:rPr lang="en-GB" sz="1050" dirty="0" err="1">
                <a:ea typeface="Calibri"/>
                <a:cs typeface="Calibri"/>
              </a:rPr>
              <a:t>varialbles</a:t>
            </a:r>
            <a:r>
              <a:rPr lang="en-GB" sz="1050" dirty="0">
                <a:ea typeface="Calibri"/>
                <a:cs typeface="Calibri"/>
              </a:rPr>
              <a:t> </a:t>
            </a:r>
            <a:r>
              <a:rPr lang="en-GB" sz="1050" dirty="0" err="1">
                <a:ea typeface="Calibri"/>
                <a:cs typeface="Calibri"/>
              </a:rPr>
              <a:t>inspection_season</a:t>
            </a:r>
            <a:r>
              <a:rPr lang="en-GB" sz="1050" dirty="0">
                <a:ea typeface="Calibri"/>
                <a:cs typeface="Calibri"/>
              </a:rPr>
              <a:t> and </a:t>
            </a:r>
            <a:r>
              <a:rPr lang="en-GB" sz="1050" dirty="0" err="1">
                <a:ea typeface="Calibri"/>
                <a:cs typeface="Calibri"/>
              </a:rPr>
              <a:t>inspection_window</a:t>
            </a:r>
            <a:r>
              <a:rPr lang="en-GB" sz="1050" dirty="0">
                <a:ea typeface="Calibri"/>
                <a:cs typeface="Calibri"/>
              </a:rPr>
              <a:t> should be encoded by one-hot encoding at this stage as well. </a:t>
            </a:r>
          </a:p>
          <a:p>
            <a:pPr marL="7938" indent="-7938">
              <a:buFont typeface="Arial" panose="020B0604020202020204" pitchFamily="34" charset="0"/>
              <a:buChar char="•"/>
              <a:tabLst>
                <a:tab pos="219075" algn="l"/>
              </a:tabLst>
            </a:pPr>
            <a:r>
              <a:rPr lang="en-GB" sz="1050" dirty="0">
                <a:ea typeface="Calibri"/>
                <a:cs typeface="Calibri"/>
              </a:rPr>
              <a:t>  The variables have different scales, so normalisation must be done before modelling. </a:t>
            </a:r>
          </a:p>
          <a:p>
            <a:pPr>
              <a:tabLst>
                <a:tab pos="219075" algn="l"/>
              </a:tabLst>
            </a:pPr>
            <a:r>
              <a:rPr lang="en-GB" sz="1050" dirty="0">
                <a:ea typeface="Calibri"/>
                <a:cs typeface="Calibri"/>
              </a:rPr>
              <a:t>Now, our data is ready for the modelling. </a:t>
            </a:r>
          </a:p>
          <a:p>
            <a:pPr marL="228600" indent="-228600">
              <a:buFont typeface="+mj-lt"/>
              <a:buAutoNum type="arabicPeriod" startAt="4"/>
              <a:tabLst>
                <a:tab pos="219075" algn="l"/>
              </a:tabLst>
            </a:pPr>
            <a:r>
              <a:rPr lang="en-GB" sz="1050" b="1" dirty="0">
                <a:ea typeface="Calibri"/>
                <a:cs typeface="Calibri"/>
              </a:rPr>
              <a:t>Building Logistic Regression Model</a:t>
            </a:r>
          </a:p>
          <a:p>
            <a:pPr>
              <a:tabLst>
                <a:tab pos="219075" algn="l"/>
              </a:tabLst>
            </a:pPr>
            <a:r>
              <a:rPr lang="en-GB" sz="1050" dirty="0">
                <a:ea typeface="Calibri"/>
                <a:cs typeface="Calibri"/>
              </a:rPr>
              <a:t>On 5-folds cross validation data the model shows the AUC = 0.953, which means the there is a 95.3% probability that the model will assign a higher score to a true failure case than to a non-failure case. </a:t>
            </a:r>
          </a:p>
          <a:p>
            <a:pPr>
              <a:tabLst>
                <a:tab pos="219075" algn="l"/>
              </a:tabLst>
            </a:pPr>
            <a:r>
              <a:rPr lang="en-GB" sz="1050" dirty="0">
                <a:ea typeface="Calibri"/>
                <a:cs typeface="Calibri"/>
              </a:rPr>
              <a:t>Recall metric = 0.889, meaning that 88.9% of actual failure cases were correctly identified. </a:t>
            </a:r>
          </a:p>
          <a:p>
            <a:pPr marL="171450" indent="-171450">
              <a:buFont typeface="Arial" panose="020B0604020202020204" pitchFamily="34" charset="0"/>
              <a:buChar char="•"/>
              <a:tabLst>
                <a:tab pos="219075" algn="l"/>
              </a:tabLst>
            </a:pPr>
            <a:r>
              <a:rPr lang="en-GB" sz="1050" dirty="0">
                <a:ea typeface="Calibri"/>
                <a:cs typeface="Calibri"/>
              </a:rPr>
              <a:t>L1-regularisation (Lasso) was applied , with the hyperparameter </a:t>
            </a:r>
            <a:r>
              <a:rPr lang="en-GB" sz="1050" i="1" dirty="0">
                <a:ea typeface="Calibri"/>
                <a:cs typeface="Calibri"/>
              </a:rPr>
              <a:t>C</a:t>
            </a:r>
            <a:r>
              <a:rPr lang="en-GB" sz="1050" dirty="0">
                <a:ea typeface="Calibri"/>
                <a:cs typeface="Calibri"/>
              </a:rPr>
              <a:t> tuned across multiple values (0.001, 0.01, 0.05, 0.1, 0.2, 1, 10, 100, 1000) to control the strength of regularisation. The optimal performance was achieved at </a:t>
            </a:r>
            <a:r>
              <a:rPr lang="en-GB" sz="1050" i="1" dirty="0">
                <a:ea typeface="Calibri"/>
                <a:cs typeface="Calibri"/>
              </a:rPr>
              <a:t>C = 0.05</a:t>
            </a:r>
            <a:r>
              <a:rPr lang="en-GB" sz="1050" dirty="0">
                <a:ea typeface="Calibri"/>
                <a:cs typeface="Calibri"/>
              </a:rPr>
              <a:t>, yielding a Recall = 0.915 and AUC = 0.969.</a:t>
            </a:r>
          </a:p>
          <a:p>
            <a:pPr marL="171450" indent="-171450">
              <a:buFont typeface="Arial" panose="020B0604020202020204" pitchFamily="34" charset="0"/>
              <a:buChar char="•"/>
              <a:tabLst>
                <a:tab pos="219075" algn="l"/>
              </a:tabLst>
            </a:pPr>
            <a:r>
              <a:rPr lang="en-GB" sz="1050" dirty="0">
                <a:ea typeface="Calibri"/>
                <a:cs typeface="Calibri"/>
              </a:rPr>
              <a:t>L2-regularisation (Ridge) was applied , with the same rage of hyperparameter </a:t>
            </a:r>
            <a:r>
              <a:rPr lang="en-GB" sz="1050" i="1" dirty="0">
                <a:ea typeface="Calibri"/>
                <a:cs typeface="Calibri"/>
              </a:rPr>
              <a:t>C. </a:t>
            </a:r>
            <a:r>
              <a:rPr lang="en-GB" sz="1050" dirty="0">
                <a:ea typeface="Calibri"/>
                <a:cs typeface="Calibri"/>
              </a:rPr>
              <a:t>The best result was achieved with the </a:t>
            </a:r>
            <a:r>
              <a:rPr lang="en-GB" sz="1050" i="1" dirty="0">
                <a:ea typeface="Calibri"/>
                <a:cs typeface="Calibri"/>
              </a:rPr>
              <a:t>C = 0.05 and balancing class distribution</a:t>
            </a:r>
            <a:r>
              <a:rPr lang="en-GB" sz="1050" dirty="0">
                <a:ea typeface="Calibri"/>
                <a:cs typeface="Calibri"/>
              </a:rPr>
              <a:t>, yielding a </a:t>
            </a:r>
            <a:r>
              <a:rPr lang="en-GB" sz="1050" b="1" dirty="0">
                <a:ea typeface="Calibri"/>
                <a:cs typeface="Calibri"/>
              </a:rPr>
              <a:t>Recall = 0.919 </a:t>
            </a:r>
            <a:r>
              <a:rPr lang="en-GB" sz="1050" dirty="0">
                <a:ea typeface="Calibri"/>
                <a:cs typeface="Calibri"/>
              </a:rPr>
              <a:t>and </a:t>
            </a:r>
            <a:r>
              <a:rPr lang="en-GB" sz="1050" b="1" dirty="0">
                <a:ea typeface="Calibri"/>
                <a:cs typeface="Calibri"/>
              </a:rPr>
              <a:t>AUC = 0.971</a:t>
            </a:r>
            <a:r>
              <a:rPr lang="en-GB" sz="1050" dirty="0">
                <a:ea typeface="Calibri"/>
                <a:cs typeface="Calibri"/>
              </a:rPr>
              <a:t>.</a:t>
            </a:r>
          </a:p>
          <a:p>
            <a:pPr marL="228600" indent="-228600">
              <a:buFont typeface="+mj-lt"/>
              <a:buAutoNum type="arabicPeriod" startAt="5"/>
              <a:tabLst>
                <a:tab pos="219075" algn="l"/>
              </a:tabLst>
            </a:pPr>
            <a:r>
              <a:rPr lang="en-GB" sz="1050" b="1" dirty="0">
                <a:ea typeface="Calibri"/>
                <a:cs typeface="Calibri"/>
              </a:rPr>
              <a:t>Building Decision Tree Model</a:t>
            </a:r>
          </a:p>
          <a:p>
            <a:pPr>
              <a:tabLst>
                <a:tab pos="219075" algn="l"/>
              </a:tabLst>
            </a:pPr>
            <a:r>
              <a:rPr lang="en-GB" sz="1050" dirty="0">
                <a:ea typeface="Calibri"/>
                <a:cs typeface="Calibri"/>
              </a:rPr>
              <a:t>Different hyperparameters were examined, including: </a:t>
            </a:r>
          </a:p>
          <a:p>
            <a:pPr marL="171450" indent="-171450">
              <a:buFont typeface="Arial" panose="020B0604020202020204" pitchFamily="34" charset="0"/>
              <a:buChar char="•"/>
              <a:tabLst>
                <a:tab pos="219075" algn="l"/>
              </a:tabLst>
            </a:pPr>
            <a:r>
              <a:rPr lang="en-GB" sz="1050" dirty="0">
                <a:ea typeface="Calibri"/>
                <a:cs typeface="Calibri"/>
              </a:rPr>
              <a:t>Minimum number of instances in leaves (2, 5, 10, 20);</a:t>
            </a:r>
          </a:p>
          <a:p>
            <a:pPr marL="171450" indent="-171450">
              <a:buFont typeface="Arial" panose="020B0604020202020204" pitchFamily="34" charset="0"/>
              <a:buChar char="•"/>
              <a:tabLst>
                <a:tab pos="219075" algn="l"/>
              </a:tabLst>
            </a:pPr>
            <a:r>
              <a:rPr lang="en-GB" sz="1050" dirty="0">
                <a:ea typeface="Calibri"/>
                <a:cs typeface="Calibri"/>
              </a:rPr>
              <a:t>Split subsets (5, 10, 20), which did not have any effect on the results;</a:t>
            </a:r>
          </a:p>
          <a:p>
            <a:pPr marL="171450" indent="-171450">
              <a:buFont typeface="Arial" panose="020B0604020202020204" pitchFamily="34" charset="0"/>
              <a:buChar char="•"/>
              <a:tabLst>
                <a:tab pos="219075" algn="l"/>
              </a:tabLst>
            </a:pPr>
            <a:r>
              <a:rPr lang="en-GB" sz="1050" dirty="0">
                <a:ea typeface="Calibri"/>
                <a:cs typeface="Calibri"/>
              </a:rPr>
              <a:t>Maximum tree depth (2, 5, 8, 10). </a:t>
            </a:r>
          </a:p>
          <a:p>
            <a:pPr>
              <a:tabLst>
                <a:tab pos="219075" algn="l"/>
              </a:tabLst>
            </a:pPr>
            <a:r>
              <a:rPr lang="en-GB" sz="1050" dirty="0">
                <a:ea typeface="Calibri"/>
                <a:cs typeface="Calibri"/>
              </a:rPr>
              <a:t>The best performance was achieved with 10 instances in leaves, 5 split subsets and a maximum tree depth of 10, resulting in </a:t>
            </a:r>
            <a:r>
              <a:rPr lang="en-GB" sz="1050" b="1" dirty="0">
                <a:ea typeface="Calibri"/>
                <a:cs typeface="Calibri"/>
              </a:rPr>
              <a:t>Recall = 0.889 </a:t>
            </a:r>
            <a:r>
              <a:rPr lang="en-GB" sz="1050" dirty="0">
                <a:ea typeface="Calibri"/>
                <a:cs typeface="Calibri"/>
              </a:rPr>
              <a:t>and </a:t>
            </a:r>
            <a:r>
              <a:rPr lang="en-GB" sz="1050" b="1" dirty="0">
                <a:ea typeface="Calibri"/>
                <a:cs typeface="Calibri"/>
              </a:rPr>
              <a:t>AUC = 0.938</a:t>
            </a:r>
            <a:r>
              <a:rPr lang="en-GB" sz="1050" dirty="0">
                <a:ea typeface="Calibri"/>
                <a:cs typeface="Calibri"/>
              </a:rPr>
              <a:t>. </a:t>
            </a:r>
          </a:p>
          <a:p>
            <a:pPr marL="228600" indent="-228600">
              <a:buFont typeface="+mj-lt"/>
              <a:buAutoNum type="arabicPeriod" startAt="6"/>
              <a:tabLst>
                <a:tab pos="219075" algn="l"/>
              </a:tabLst>
            </a:pPr>
            <a:r>
              <a:rPr lang="en-GB" sz="1050" b="1" dirty="0">
                <a:ea typeface="Calibri"/>
                <a:cs typeface="Calibri"/>
              </a:rPr>
              <a:t>Building Neural Network Model</a:t>
            </a:r>
          </a:p>
          <a:p>
            <a:pPr>
              <a:tabLst>
                <a:tab pos="219075" algn="l"/>
              </a:tabLst>
            </a:pPr>
            <a:r>
              <a:rPr lang="en-GB" sz="1050" dirty="0">
                <a:ea typeface="Calibri"/>
                <a:cs typeface="Calibri"/>
              </a:rPr>
              <a:t>The following hyperparameters were examined on </a:t>
            </a:r>
            <a:r>
              <a:rPr lang="en-GB" sz="1050" dirty="0"/>
              <a:t>across multiple </a:t>
            </a:r>
            <a:r>
              <a:rPr lang="en-GB" sz="1050" dirty="0">
                <a:ea typeface="Calibri"/>
                <a:cs typeface="Calibri"/>
              </a:rPr>
              <a:t>MLPs:</a:t>
            </a:r>
          </a:p>
          <a:p>
            <a:pPr marL="171450" indent="-171450">
              <a:buFont typeface="Arial" panose="020B0604020202020204" pitchFamily="34" charset="0"/>
              <a:buChar char="•"/>
              <a:tabLst>
                <a:tab pos="219075" algn="l"/>
              </a:tabLst>
            </a:pPr>
            <a:r>
              <a:rPr lang="en-GB" sz="1050" dirty="0">
                <a:ea typeface="Calibri"/>
                <a:cs typeface="Calibri"/>
              </a:rPr>
              <a:t>Neurons in hidden layers (10, 20, 50, 100, 200, 300);</a:t>
            </a:r>
          </a:p>
          <a:p>
            <a:pPr marL="171450" indent="-171450">
              <a:buFont typeface="Arial" panose="020B0604020202020204" pitchFamily="34" charset="0"/>
              <a:buChar char="•"/>
              <a:tabLst>
                <a:tab pos="219075" algn="l"/>
              </a:tabLst>
            </a:pPr>
            <a:r>
              <a:rPr lang="en-GB" sz="1050" dirty="0">
                <a:ea typeface="Calibri"/>
                <a:cs typeface="Calibri"/>
              </a:rPr>
              <a:t>Activation functions (</a:t>
            </a:r>
            <a:r>
              <a:rPr lang="en-GB" sz="1050" dirty="0" err="1">
                <a:ea typeface="Calibri"/>
                <a:cs typeface="Calibri"/>
              </a:rPr>
              <a:t>ReLu</a:t>
            </a:r>
            <a:r>
              <a:rPr lang="en-GB" sz="1050" dirty="0">
                <a:ea typeface="Calibri"/>
                <a:cs typeface="Calibri"/>
              </a:rPr>
              <a:t>, tanh, logistic);</a:t>
            </a:r>
          </a:p>
          <a:p>
            <a:pPr marL="171450" indent="-171450">
              <a:buFont typeface="Arial" panose="020B0604020202020204" pitchFamily="34" charset="0"/>
              <a:buChar char="•"/>
              <a:tabLst>
                <a:tab pos="219075" algn="l"/>
              </a:tabLst>
            </a:pPr>
            <a:r>
              <a:rPr lang="en-GB" sz="1050" dirty="0">
                <a:ea typeface="Calibri"/>
                <a:cs typeface="Calibri"/>
              </a:rPr>
              <a:t>Solver (Adam, L-BFGS, SGD);</a:t>
            </a:r>
          </a:p>
          <a:p>
            <a:pPr marL="171450" indent="-171450">
              <a:buFont typeface="Arial" panose="020B0604020202020204" pitchFamily="34" charset="0"/>
              <a:buChar char="•"/>
              <a:tabLst>
                <a:tab pos="219075" algn="l"/>
              </a:tabLst>
            </a:pPr>
            <a:r>
              <a:rPr lang="en-GB" sz="1050" dirty="0">
                <a:ea typeface="Calibri"/>
                <a:cs typeface="Calibri"/>
              </a:rPr>
              <a:t>Regularisation (0.0001, 0.001, 0.01, 0.1, 1, 2, 3, 4, 5, 6, 7, 8, 10, 15);</a:t>
            </a:r>
          </a:p>
          <a:p>
            <a:pPr marL="171450" indent="-171450">
              <a:buFont typeface="Arial" panose="020B0604020202020204" pitchFamily="34" charset="0"/>
              <a:buChar char="•"/>
              <a:tabLst>
                <a:tab pos="219075" algn="l"/>
              </a:tabLst>
            </a:pPr>
            <a:r>
              <a:rPr lang="en-GB" sz="1050" dirty="0">
                <a:ea typeface="Calibri"/>
                <a:cs typeface="Calibri"/>
              </a:rPr>
              <a:t>Maximal number of iterations (50, 100, 200, 300, 400, 500, 700, 800, 1000)</a:t>
            </a:r>
          </a:p>
          <a:p>
            <a:pPr>
              <a:tabLst>
                <a:tab pos="219075" algn="l"/>
              </a:tabLst>
            </a:pPr>
            <a:r>
              <a:rPr lang="en-GB" sz="1050" dirty="0"/>
              <a:t>The best-performing configuration consisted of 50 neurons in the hidden layer, a tanh activation function, the SGD solver and 200 </a:t>
            </a:r>
            <a:r>
              <a:rPr lang="en-GB" sz="1050" dirty="0">
                <a:ea typeface="Calibri"/>
                <a:cs typeface="Calibri"/>
              </a:rPr>
              <a:t>epochs, resulting in </a:t>
            </a:r>
            <a:r>
              <a:rPr lang="en-GB" sz="1050" b="1" dirty="0">
                <a:ea typeface="Calibri"/>
                <a:cs typeface="Calibri"/>
              </a:rPr>
              <a:t>Recall = 0.928 </a:t>
            </a:r>
            <a:r>
              <a:rPr lang="en-GB" sz="1050" dirty="0">
                <a:ea typeface="Calibri"/>
                <a:cs typeface="Calibri"/>
              </a:rPr>
              <a:t>and </a:t>
            </a:r>
            <a:r>
              <a:rPr lang="en-GB" sz="1050" b="1" dirty="0">
                <a:ea typeface="Calibri"/>
                <a:cs typeface="Calibri"/>
              </a:rPr>
              <a:t>AUC = 0.965</a:t>
            </a:r>
            <a:r>
              <a:rPr lang="en-GB" sz="1050" dirty="0">
                <a:ea typeface="Calibri"/>
                <a:cs typeface="Calibri"/>
              </a:rPr>
              <a:t>. </a:t>
            </a:r>
          </a:p>
          <a:p>
            <a:pPr marL="228600" indent="-228600">
              <a:buFont typeface="+mj-lt"/>
              <a:buAutoNum type="arabicPeriod" startAt="7"/>
              <a:tabLst>
                <a:tab pos="219075" algn="l"/>
              </a:tabLst>
            </a:pPr>
            <a:r>
              <a:rPr lang="en-GB" sz="1050" b="1" dirty="0">
                <a:cs typeface="Calibri"/>
              </a:rPr>
              <a:t>Feature Projection</a:t>
            </a:r>
            <a:endParaRPr lang="en-GB" sz="1200" b="1" dirty="0"/>
          </a:p>
          <a:p>
            <a:pPr>
              <a:tabLst>
                <a:tab pos="219075" algn="l"/>
              </a:tabLst>
            </a:pPr>
            <a:r>
              <a:rPr lang="en-GB" sz="1200" i="1" dirty="0"/>
              <a:t>Principal Component Analysis </a:t>
            </a:r>
            <a:r>
              <a:rPr lang="en-GB" sz="1200" dirty="0"/>
              <a:t>was applied to the dataset; however, it decreased the accuracy of the models. PCA reduced the number of dimension, but it also worsened the separability</a:t>
            </a:r>
            <a:r>
              <a:rPr lang="ru-RU" sz="1200" dirty="0"/>
              <a:t> </a:t>
            </a:r>
            <a:r>
              <a:rPr lang="en-GB" sz="1200" dirty="0"/>
              <a:t>by mixing the classes and losing important relationships between the features, which led to poorer model performance. </a:t>
            </a:r>
          </a:p>
          <a:p>
            <a:pPr>
              <a:tabLst>
                <a:tab pos="219075" algn="l"/>
              </a:tabLst>
            </a:pPr>
            <a:r>
              <a:rPr lang="en-GB" sz="1200" i="1" dirty="0"/>
              <a:t>Manifold learning </a:t>
            </a:r>
            <a:r>
              <a:rPr lang="en-GB" sz="1200" dirty="0"/>
              <a:t>was also applied, but it resulted in a slight decrease in model accuracy as well.</a:t>
            </a:r>
          </a:p>
          <a:p>
            <a:pPr>
              <a:tabLst>
                <a:tab pos="219075" algn="l"/>
              </a:tabLst>
            </a:pPr>
            <a:r>
              <a:rPr lang="en-GB" sz="1200" i="1" dirty="0"/>
              <a:t>Therefore, these methods were excluded from the final modelling pipeline. </a:t>
            </a:r>
          </a:p>
          <a:p>
            <a:pPr marL="228600" indent="-228600">
              <a:buFont typeface="+mj-lt"/>
              <a:buAutoNum type="arabicPeriod" startAt="8"/>
              <a:tabLst>
                <a:tab pos="219075" algn="l"/>
              </a:tabLst>
            </a:pPr>
            <a:r>
              <a:rPr lang="en-GB" sz="1200" b="1" dirty="0"/>
              <a:t>Feature Selection</a:t>
            </a:r>
          </a:p>
          <a:p>
            <a:pPr>
              <a:tabLst>
                <a:tab pos="219075" algn="l"/>
              </a:tabLst>
            </a:pPr>
            <a:r>
              <a:rPr lang="en-GB" sz="1200" i="1" dirty="0"/>
              <a:t>Filter-based (correlation</a:t>
            </a:r>
            <a:r>
              <a:rPr lang="en-GB" sz="1200" dirty="0"/>
              <a:t>/feature ranking</a:t>
            </a:r>
            <a:r>
              <a:rPr lang="en-GB" sz="1200" i="1" dirty="0"/>
              <a:t>) method </a:t>
            </a:r>
            <a:r>
              <a:rPr lang="en-GB" sz="1200" dirty="0"/>
              <a:t>was </a:t>
            </a:r>
            <a:r>
              <a:rPr lang="en-GB" sz="1200" dirty="0" err="1"/>
              <a:t>appliedto</a:t>
            </a:r>
            <a:r>
              <a:rPr lang="en-GB" sz="1200" dirty="0"/>
              <a:t> identify the most relevant features. The results showed that several features (</a:t>
            </a:r>
            <a:r>
              <a:rPr lang="en-GB" sz="1200" dirty="0" err="1"/>
              <a:t>inspection_window</a:t>
            </a:r>
            <a:r>
              <a:rPr lang="en-GB" sz="1200" dirty="0"/>
              <a:t>, </a:t>
            </a:r>
            <a:r>
              <a:rPr lang="en-GB" sz="1200" dirty="0" err="1"/>
              <a:t>inspection_season</a:t>
            </a:r>
            <a:r>
              <a:rPr lang="en-GB" sz="1200" dirty="0"/>
              <a:t>=autumn, </a:t>
            </a:r>
            <a:r>
              <a:rPr lang="en-GB" sz="1200" dirty="0" err="1"/>
              <a:t>inspection_season</a:t>
            </a:r>
            <a:r>
              <a:rPr lang="en-GB" sz="1200" dirty="0"/>
              <a:t>=spring, and </a:t>
            </a:r>
            <a:r>
              <a:rPr lang="en-GB" sz="1200" dirty="0" err="1"/>
              <a:t>vibration_exposure</a:t>
            </a:r>
            <a:r>
              <a:rPr lang="en-GB" sz="1200" dirty="0"/>
              <a:t>) had very low predictive value. After removing these weak features, model performance improved, with the following results:</a:t>
            </a:r>
          </a:p>
          <a:p>
            <a:pPr marL="228600" indent="-228600">
              <a:buFont typeface="+mj-lt"/>
              <a:buAutoNum type="arabicParenR"/>
              <a:tabLst>
                <a:tab pos="219075" algn="l"/>
              </a:tabLst>
            </a:pPr>
            <a:r>
              <a:rPr lang="en-GB" sz="1200" b="1" dirty="0"/>
              <a:t>Logistic Regression: </a:t>
            </a:r>
            <a:r>
              <a:rPr lang="en-GB" sz="1200" b="1" dirty="0">
                <a:ea typeface="Calibri"/>
                <a:cs typeface="Calibri"/>
              </a:rPr>
              <a:t>Recall = 0.935, AUC = 0.972;</a:t>
            </a:r>
          </a:p>
          <a:p>
            <a:pPr marL="228600" indent="-228600">
              <a:buFont typeface="+mj-lt"/>
              <a:buAutoNum type="arabicParenR"/>
              <a:tabLst>
                <a:tab pos="219075" algn="l"/>
              </a:tabLst>
            </a:pPr>
            <a:r>
              <a:rPr lang="en-GB" sz="1200" dirty="0">
                <a:cs typeface="Calibri"/>
              </a:rPr>
              <a:t>Neural Network: Recall = 0.919, AUC = 0.971;</a:t>
            </a:r>
          </a:p>
          <a:p>
            <a:pPr marL="228600" indent="-228600">
              <a:buFont typeface="+mj-lt"/>
              <a:buAutoNum type="arabicParenR"/>
              <a:tabLst>
                <a:tab pos="219075" algn="l"/>
              </a:tabLst>
            </a:pPr>
            <a:r>
              <a:rPr lang="en-GB" sz="1200" dirty="0">
                <a:cs typeface="Calibri"/>
              </a:rPr>
              <a:t>Decision Tree: Recall = 0.902, AUC = 0.918. </a:t>
            </a:r>
          </a:p>
          <a:p>
            <a:pPr>
              <a:tabLst>
                <a:tab pos="219075" algn="l"/>
              </a:tabLst>
            </a:pPr>
            <a:r>
              <a:rPr lang="en-GB" sz="1200" dirty="0"/>
              <a:t>A wrapper-based approach</a:t>
            </a:r>
            <a:r>
              <a:rPr lang="en-GB" sz="1200" i="1" dirty="0"/>
              <a:t> </a:t>
            </a:r>
            <a:r>
              <a:rPr lang="en-GB" sz="1200" dirty="0"/>
              <a:t>was also applied, which confirmed the same best subset of 9 features, with the following results:</a:t>
            </a:r>
          </a:p>
          <a:p>
            <a:pPr marL="228600" indent="-228600">
              <a:buFont typeface="+mj-lt"/>
              <a:buAutoNum type="arabicParenR"/>
              <a:tabLst>
                <a:tab pos="219075" algn="l"/>
              </a:tabLst>
            </a:pPr>
            <a:r>
              <a:rPr lang="en-GB" sz="1200" b="1" dirty="0"/>
              <a:t>Logistic Regression: </a:t>
            </a:r>
            <a:r>
              <a:rPr lang="en-GB" sz="1200" b="1" dirty="0">
                <a:ea typeface="Calibri"/>
                <a:cs typeface="Calibri"/>
              </a:rPr>
              <a:t>Recall = 0.935, AUC = 0.971;</a:t>
            </a:r>
          </a:p>
          <a:p>
            <a:pPr marL="228600" indent="-228600">
              <a:buFont typeface="+mj-lt"/>
              <a:buAutoNum type="arabicParenR"/>
              <a:tabLst>
                <a:tab pos="219075" algn="l"/>
              </a:tabLst>
            </a:pPr>
            <a:r>
              <a:rPr lang="en-GB" sz="1200" dirty="0">
                <a:cs typeface="Calibri"/>
              </a:rPr>
              <a:t>Neural Network: Recall = 0.932, AUC = 0.968;</a:t>
            </a:r>
          </a:p>
          <a:p>
            <a:pPr marL="228600" indent="-228600">
              <a:buFont typeface="+mj-lt"/>
              <a:buAutoNum type="arabicParenR"/>
              <a:tabLst>
                <a:tab pos="219075" algn="l"/>
              </a:tabLst>
            </a:pPr>
            <a:r>
              <a:rPr lang="en-GB" sz="1200" dirty="0">
                <a:cs typeface="Calibri"/>
              </a:rPr>
              <a:t>Decision Tree: Recall = 0.899, AUC = 0.940. </a:t>
            </a:r>
          </a:p>
          <a:p>
            <a:pPr>
              <a:tabLst>
                <a:tab pos="219075" algn="l"/>
              </a:tabLst>
            </a:pPr>
            <a:r>
              <a:rPr lang="en-GB" sz="1200" i="1" dirty="0"/>
              <a:t>Overall, Feature Selection reduced dimensionality, training time, model complexity, removed noise and improved model performance. </a:t>
            </a:r>
          </a:p>
          <a:p>
            <a:pPr>
              <a:tabLst>
                <a:tab pos="219075" algn="l"/>
              </a:tabLst>
            </a:pPr>
            <a:r>
              <a:rPr lang="en-GB" sz="1200" i="1" dirty="0"/>
              <a:t>--------------------------------------------------------------------------------------</a:t>
            </a:r>
          </a:p>
          <a:p>
            <a:pPr>
              <a:tabLst>
                <a:tab pos="219075" algn="l"/>
              </a:tabLst>
            </a:pPr>
            <a:r>
              <a:rPr lang="en-GB" sz="1200" dirty="0"/>
              <a:t>Considering all 5-fold cross-validation evaluation metrics, </a:t>
            </a:r>
            <a:r>
              <a:rPr lang="en-GB" sz="1200" b="1" dirty="0"/>
              <a:t>Logistic Regression was selected as the final model</a:t>
            </a:r>
            <a:r>
              <a:rPr lang="en-GB" sz="1200" dirty="0"/>
              <a:t>, as it achieved the best overall performance and the highest recall, making it the most suitable choice for identifying infrastructure failure.</a:t>
            </a:r>
          </a:p>
          <a:p>
            <a:pPr>
              <a:tabLst>
                <a:tab pos="219075" algn="l"/>
              </a:tabLst>
            </a:pPr>
            <a:r>
              <a:rPr lang="en-GB" sz="1200" dirty="0"/>
              <a:t>----------------------------------------------------------------------------------</a:t>
            </a:r>
          </a:p>
          <a:p>
            <a:pPr marL="228600" indent="-228600">
              <a:buFont typeface="+mj-lt"/>
              <a:buAutoNum type="arabicPeriod" startAt="9"/>
              <a:tabLst>
                <a:tab pos="219075" algn="l"/>
              </a:tabLst>
            </a:pPr>
            <a:r>
              <a:rPr lang="en-GB" sz="1200" b="1" dirty="0"/>
              <a:t>Test Data Preparation</a:t>
            </a:r>
          </a:p>
          <a:p>
            <a:pPr>
              <a:tabLst>
                <a:tab pos="219075" algn="l"/>
              </a:tabLst>
            </a:pPr>
            <a:r>
              <a:rPr lang="en-GB" sz="1200" dirty="0"/>
              <a:t>The test data was transformed using the same encoding and normalisation parameters derived from the training data. </a:t>
            </a:r>
          </a:p>
          <a:p>
            <a:pPr marL="228600" indent="-228600">
              <a:buFont typeface="+mj-lt"/>
              <a:buAutoNum type="arabicPeriod" startAt="10"/>
              <a:tabLst>
                <a:tab pos="219075" algn="l"/>
              </a:tabLst>
            </a:pPr>
            <a:r>
              <a:rPr lang="en-GB" sz="1200" b="1" dirty="0"/>
              <a:t>Final Model Evaluation</a:t>
            </a:r>
          </a:p>
          <a:p>
            <a:pPr>
              <a:tabLst>
                <a:tab pos="219075" algn="l"/>
              </a:tabLst>
            </a:pPr>
            <a:r>
              <a:rPr lang="en-GB" sz="1200" dirty="0"/>
              <a:t>The Logistic Regression model was evaluated on unseen test data archiving </a:t>
            </a:r>
            <a:r>
              <a:rPr lang="en-GB" sz="1200" b="1" dirty="0">
                <a:ea typeface="Calibri"/>
                <a:cs typeface="Calibri"/>
              </a:rPr>
              <a:t>Recall = 0.925, AUC = 0.958. </a:t>
            </a:r>
          </a:p>
          <a:p>
            <a:pPr>
              <a:tabLst>
                <a:tab pos="219075" algn="l"/>
              </a:tabLst>
            </a:pPr>
            <a:r>
              <a:rPr lang="en-GB" sz="1200" i="1" dirty="0"/>
              <a:t>The accuracy of the model shows that 92.5% of all real failure cases were correctly detected. This means that the model almost never misses dangerous </a:t>
            </a:r>
            <a:r>
              <a:rPr lang="en-GB" sz="1200" i="1"/>
              <a:t>cases, has </a:t>
            </a:r>
            <a:r>
              <a:rPr lang="en-GB" sz="1200" i="1" dirty="0"/>
              <a:t>a low number of false negatives and is good at identifying the risk of infrastructure failure. </a:t>
            </a:r>
          </a:p>
          <a:p>
            <a:pPr>
              <a:tabLst>
                <a:tab pos="219075" algn="l"/>
              </a:tabLst>
            </a:pPr>
            <a:r>
              <a:rPr lang="en-GB" sz="1200" i="1" dirty="0"/>
              <a:t>These results confirm that the model generalises well to unseen data and is suitable for real-world application.</a:t>
            </a:r>
          </a:p>
        </p:txBody>
      </p:sp>
      <p:sp>
        <p:nvSpPr>
          <p:cNvPr id="14" name="TextBox 13">
            <a:extLst>
              <a:ext uri="{FF2B5EF4-FFF2-40B4-BE49-F238E27FC236}">
                <a16:creationId xmlns:a16="http://schemas.microsoft.com/office/drawing/2014/main" id="{720648D2-2C2F-D4B7-A939-01723E5AA434}"/>
              </a:ext>
            </a:extLst>
          </p:cNvPr>
          <p:cNvSpPr txBox="1"/>
          <p:nvPr/>
        </p:nvSpPr>
        <p:spPr>
          <a:xfrm>
            <a:off x="4686999" y="745082"/>
            <a:ext cx="4686223" cy="282385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dirty="0"/>
              <a:t>3 Variables</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4882290" y="5538821"/>
            <a:ext cx="4490932"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4881044" y="10977048"/>
            <a:ext cx="4490932" cy="1261884"/>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4930</TotalTime>
  <Words>1810</Words>
  <Application>Microsoft Macintosh PowerPoint</Application>
  <PresentationFormat>A3 Paper (297x420 mm)</PresentationFormat>
  <Paragraphs>137</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Arial,Sans-Serif</vt:lpstr>
      <vt:lpstr>Calibri</vt:lpstr>
      <vt:lpstr>Calibri Light</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110</cp:revision>
  <dcterms:created xsi:type="dcterms:W3CDTF">2022-12-31T18:26:39Z</dcterms:created>
  <dcterms:modified xsi:type="dcterms:W3CDTF">2026-03-29T22:56:12Z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