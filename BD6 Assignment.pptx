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7" r:id="rId5"/>
  </p:sldIdLst>
  <p:sldSz cx="9601200" cy="12801600" type="A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11"/>
    <p:restoredTop sz="94625"/>
  </p:normalViewPr>
  <p:slideViewPr>
    <p:cSldViewPr snapToGrid="0">
      <p:cViewPr>
        <p:scale>
          <a:sx n="150" d="100"/>
          <a:sy n="150" d="100"/>
        </p:scale>
        <p:origin x="336" y="-15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presProps" Target="presProps.xml"/><Relationship Id="rId5" Type="http://schemas.openxmlformats.org/officeDocument/2006/relationships/slide" Target="slides/slide1.xml"/><Relationship Id="rId4" Type="http://schemas.openxmlformats.org/officeDocument/2006/relationships/slideMaster" Target="slideMasters/slideMaster1.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5957-A6EF-32E7-E3D1-1B003C9F61BD}"/>
              </a:ext>
            </a:extLst>
          </p:cNvPr>
          <p:cNvSpPr>
            <a:spLocks noGrp="1"/>
          </p:cNvSpPr>
          <p:nvPr>
            <p:ph type="ctrTitle"/>
          </p:nvPr>
        </p:nvSpPr>
        <p:spPr>
          <a:xfrm>
            <a:off x="1200150" y="2095078"/>
            <a:ext cx="7200900" cy="4456853"/>
          </a:xfrm>
        </p:spPr>
        <p:txBody>
          <a:bodyPr anchor="b"/>
          <a:lstStyle>
            <a:lvl1pPr algn="ctr">
              <a:defRPr sz="11200"/>
            </a:lvl1pPr>
          </a:lstStyle>
          <a:p>
            <a:r>
              <a:rPr lang="en-US"/>
              <a:t>Click to edit Master title style</a:t>
            </a:r>
            <a:endParaRPr lang="en-GB"/>
          </a:p>
        </p:txBody>
      </p:sp>
      <p:sp>
        <p:nvSpPr>
          <p:cNvPr id="3" name="Subtitle 2">
            <a:extLst>
              <a:ext uri="{FF2B5EF4-FFF2-40B4-BE49-F238E27FC236}">
                <a16:creationId xmlns:a16="http://schemas.microsoft.com/office/drawing/2014/main" id="{E3825EEC-0A7C-154A-78AF-21307B34CF47}"/>
              </a:ext>
            </a:extLst>
          </p:cNvPr>
          <p:cNvSpPr>
            <a:spLocks noGrp="1"/>
          </p:cNvSpPr>
          <p:nvPr>
            <p:ph type="subTitle" idx="1"/>
          </p:nvPr>
        </p:nvSpPr>
        <p:spPr>
          <a:xfrm>
            <a:off x="1200150" y="6723804"/>
            <a:ext cx="7200900" cy="3090756"/>
          </a:xfrm>
        </p:spPr>
        <p:txBody>
          <a:bodyPr/>
          <a:lstStyle>
            <a:lvl1pPr marL="0" indent="0" algn="ctr">
              <a:buNone/>
              <a:defRPr sz="4480"/>
            </a:lvl1pPr>
            <a:lvl2pPr marL="853455" indent="0" algn="ctr">
              <a:buNone/>
              <a:defRPr sz="3733"/>
            </a:lvl2pPr>
            <a:lvl3pPr marL="1706910" indent="0" algn="ctr">
              <a:buNone/>
              <a:defRPr sz="3360"/>
            </a:lvl3pPr>
            <a:lvl4pPr marL="2560366" indent="0" algn="ctr">
              <a:buNone/>
              <a:defRPr sz="2987"/>
            </a:lvl4pPr>
            <a:lvl5pPr marL="3413821" indent="0" algn="ctr">
              <a:buNone/>
              <a:defRPr sz="2987"/>
            </a:lvl5pPr>
            <a:lvl6pPr marL="4267276" indent="0" algn="ctr">
              <a:buNone/>
              <a:defRPr sz="2987"/>
            </a:lvl6pPr>
            <a:lvl7pPr marL="5120731" indent="0" algn="ctr">
              <a:buNone/>
              <a:defRPr sz="2987"/>
            </a:lvl7pPr>
            <a:lvl8pPr marL="5974187" indent="0" algn="ctr">
              <a:buNone/>
              <a:defRPr sz="2987"/>
            </a:lvl8pPr>
            <a:lvl9pPr marL="6827642" indent="0" algn="ctr">
              <a:buNone/>
              <a:defRPr sz="2987"/>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F32E64-FDCA-3477-2C2F-6351F106E4A0}"/>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5F0E7E88-14E3-DDE4-83DB-A47D688C31C6}"/>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4BC03FC-2D55-6B61-A367-2D593B640668}"/>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4208040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4DFE-1C4E-BAD9-D3B4-913D786F56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9E0584-A067-E8B2-2ADF-8B5A138B5DA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6A90663-C45E-4197-AA0A-34B4FF7EC89A}"/>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AA71D409-2079-EBFB-DA3C-969592ECA967}"/>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714A8983-65A7-BE7A-3ECB-60F797C9CACC}"/>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2452001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CD998-78BB-45C0-DC77-BFEB31D88B88}"/>
              </a:ext>
            </a:extLst>
          </p:cNvPr>
          <p:cNvSpPr>
            <a:spLocks noGrp="1"/>
          </p:cNvSpPr>
          <p:nvPr>
            <p:ph type="title"/>
          </p:nvPr>
        </p:nvSpPr>
        <p:spPr>
          <a:xfrm>
            <a:off x="655082" y="3191512"/>
            <a:ext cx="8281035" cy="5325109"/>
          </a:xfrm>
        </p:spPr>
        <p:txBody>
          <a:bodyPr anchor="b"/>
          <a:lstStyle>
            <a:lvl1pPr>
              <a:defRPr sz="112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927812D-600D-7B2D-69A4-F680EBB7A2CC}"/>
              </a:ext>
            </a:extLst>
          </p:cNvPr>
          <p:cNvSpPr>
            <a:spLocks noGrp="1"/>
          </p:cNvSpPr>
          <p:nvPr>
            <p:ph type="body" idx="1"/>
          </p:nvPr>
        </p:nvSpPr>
        <p:spPr>
          <a:xfrm>
            <a:off x="655082" y="8566999"/>
            <a:ext cx="8281035" cy="2800349"/>
          </a:xfrm>
        </p:spPr>
        <p:txBody>
          <a:bodyPr/>
          <a:lstStyle>
            <a:lvl1pPr marL="0" indent="0">
              <a:buNone/>
              <a:defRPr sz="4480">
                <a:solidFill>
                  <a:schemeClr val="tx1">
                    <a:tint val="75000"/>
                  </a:schemeClr>
                </a:solidFill>
              </a:defRPr>
            </a:lvl1pPr>
            <a:lvl2pPr marL="853455" indent="0">
              <a:buNone/>
              <a:defRPr sz="3733">
                <a:solidFill>
                  <a:schemeClr val="tx1">
                    <a:tint val="75000"/>
                  </a:schemeClr>
                </a:solidFill>
              </a:defRPr>
            </a:lvl2pPr>
            <a:lvl3pPr marL="1706910" indent="0">
              <a:buNone/>
              <a:defRPr sz="3360">
                <a:solidFill>
                  <a:schemeClr val="tx1">
                    <a:tint val="75000"/>
                  </a:schemeClr>
                </a:solidFill>
              </a:defRPr>
            </a:lvl3pPr>
            <a:lvl4pPr marL="2560366" indent="0">
              <a:buNone/>
              <a:defRPr sz="2987">
                <a:solidFill>
                  <a:schemeClr val="tx1">
                    <a:tint val="75000"/>
                  </a:schemeClr>
                </a:solidFill>
              </a:defRPr>
            </a:lvl4pPr>
            <a:lvl5pPr marL="3413821" indent="0">
              <a:buNone/>
              <a:defRPr sz="2987">
                <a:solidFill>
                  <a:schemeClr val="tx1">
                    <a:tint val="75000"/>
                  </a:schemeClr>
                </a:solidFill>
              </a:defRPr>
            </a:lvl5pPr>
            <a:lvl6pPr marL="4267276" indent="0">
              <a:buNone/>
              <a:defRPr sz="2987">
                <a:solidFill>
                  <a:schemeClr val="tx1">
                    <a:tint val="75000"/>
                  </a:schemeClr>
                </a:solidFill>
              </a:defRPr>
            </a:lvl6pPr>
            <a:lvl7pPr marL="5120731" indent="0">
              <a:buNone/>
              <a:defRPr sz="2987">
                <a:solidFill>
                  <a:schemeClr val="tx1">
                    <a:tint val="75000"/>
                  </a:schemeClr>
                </a:solidFill>
              </a:defRPr>
            </a:lvl7pPr>
            <a:lvl8pPr marL="5974187" indent="0">
              <a:buNone/>
              <a:defRPr sz="2987">
                <a:solidFill>
                  <a:schemeClr val="tx1">
                    <a:tint val="75000"/>
                  </a:schemeClr>
                </a:solidFill>
              </a:defRPr>
            </a:lvl8pPr>
            <a:lvl9pPr marL="6827642" indent="0">
              <a:buNone/>
              <a:defRPr sz="2987">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A42C1A-1D43-FD79-27DC-0F688D9BEE95}"/>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C5003866-6470-3D4A-38A7-21AF758C6C5A}"/>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F6F41C7-6E95-5BAF-A838-B73FC74B464A}"/>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058519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75D1E-3E39-8C74-2CFE-E9F426D6FF9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6384DC3-52C3-DA95-4ED9-F089E646D969}"/>
              </a:ext>
            </a:extLst>
          </p:cNvPr>
          <p:cNvSpPr>
            <a:spLocks noGrp="1"/>
          </p:cNvSpPr>
          <p:nvPr>
            <p:ph sz="half" idx="1"/>
          </p:nvPr>
        </p:nvSpPr>
        <p:spPr>
          <a:xfrm>
            <a:off x="660083"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333F7AE-7948-6C06-5E53-C0B84A456129}"/>
              </a:ext>
            </a:extLst>
          </p:cNvPr>
          <p:cNvSpPr>
            <a:spLocks noGrp="1"/>
          </p:cNvSpPr>
          <p:nvPr>
            <p:ph sz="half" idx="2"/>
          </p:nvPr>
        </p:nvSpPr>
        <p:spPr>
          <a:xfrm>
            <a:off x="4860608"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1209914-CFA9-9D6C-9AD7-64D2B8C22830}"/>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FAA3A4E8-A471-C661-4D2B-1C50B9803F64}"/>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95EED025-15FD-E1A6-D3D1-DAB417877C77}"/>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4020925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39F92-4706-3DDC-7BA6-907307250544}"/>
              </a:ext>
            </a:extLst>
          </p:cNvPr>
          <p:cNvSpPr>
            <a:spLocks noGrp="1"/>
          </p:cNvSpPr>
          <p:nvPr>
            <p:ph type="title"/>
          </p:nvPr>
        </p:nvSpPr>
        <p:spPr>
          <a:xfrm>
            <a:off x="661333" y="681568"/>
            <a:ext cx="8281035" cy="2474384"/>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12E1805-710E-6EE8-72D2-7E35549937A1}"/>
              </a:ext>
            </a:extLst>
          </p:cNvPr>
          <p:cNvSpPr>
            <a:spLocks noGrp="1"/>
          </p:cNvSpPr>
          <p:nvPr>
            <p:ph type="body" idx="1"/>
          </p:nvPr>
        </p:nvSpPr>
        <p:spPr>
          <a:xfrm>
            <a:off x="661334" y="3138171"/>
            <a:ext cx="4061757"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4" name="Content Placeholder 3">
            <a:extLst>
              <a:ext uri="{FF2B5EF4-FFF2-40B4-BE49-F238E27FC236}">
                <a16:creationId xmlns:a16="http://schemas.microsoft.com/office/drawing/2014/main" id="{3074222E-79C4-C13E-F7DA-7A265BA5D986}"/>
              </a:ext>
            </a:extLst>
          </p:cNvPr>
          <p:cNvSpPr>
            <a:spLocks noGrp="1"/>
          </p:cNvSpPr>
          <p:nvPr>
            <p:ph sz="half" idx="2"/>
          </p:nvPr>
        </p:nvSpPr>
        <p:spPr>
          <a:xfrm>
            <a:off x="661334" y="4676140"/>
            <a:ext cx="4061757"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1C5D034-B89B-CCDE-6FB7-F6E8EA64E10C}"/>
              </a:ext>
            </a:extLst>
          </p:cNvPr>
          <p:cNvSpPr>
            <a:spLocks noGrp="1"/>
          </p:cNvSpPr>
          <p:nvPr>
            <p:ph type="body" sz="quarter" idx="3"/>
          </p:nvPr>
        </p:nvSpPr>
        <p:spPr>
          <a:xfrm>
            <a:off x="4860607" y="3138171"/>
            <a:ext cx="4081761"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6" name="Content Placeholder 5">
            <a:extLst>
              <a:ext uri="{FF2B5EF4-FFF2-40B4-BE49-F238E27FC236}">
                <a16:creationId xmlns:a16="http://schemas.microsoft.com/office/drawing/2014/main" id="{CB137708-0F32-5EAE-16E3-5CEC2C48DDEC}"/>
              </a:ext>
            </a:extLst>
          </p:cNvPr>
          <p:cNvSpPr>
            <a:spLocks noGrp="1"/>
          </p:cNvSpPr>
          <p:nvPr>
            <p:ph sz="quarter" idx="4"/>
          </p:nvPr>
        </p:nvSpPr>
        <p:spPr>
          <a:xfrm>
            <a:off x="4860607" y="4676140"/>
            <a:ext cx="4081761"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3509398-9208-6CE7-B5D8-922184E484D3}"/>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8" name="Footer Placeholder 7">
            <a:extLst>
              <a:ext uri="{FF2B5EF4-FFF2-40B4-BE49-F238E27FC236}">
                <a16:creationId xmlns:a16="http://schemas.microsoft.com/office/drawing/2014/main" id="{17FCADD5-DD6F-640A-A2AC-6FCEB414556C}"/>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D906E592-D0B8-9C85-06A0-398F62216259}"/>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447913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F9798-5B85-A4F2-E101-1121C3F9495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CF1F383-63DE-D0B8-8856-624481017098}"/>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4" name="Footer Placeholder 3">
            <a:extLst>
              <a:ext uri="{FF2B5EF4-FFF2-40B4-BE49-F238E27FC236}">
                <a16:creationId xmlns:a16="http://schemas.microsoft.com/office/drawing/2014/main" id="{F514E45E-B824-F49A-D550-DFBBC2360D6D}"/>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D4DA846F-17E7-5BAF-65E8-E18B1D8235C5}"/>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867224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EA2AD3-BC1E-9021-B75C-7BB7BBA930D4}"/>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3" name="Footer Placeholder 2">
            <a:extLst>
              <a:ext uri="{FF2B5EF4-FFF2-40B4-BE49-F238E27FC236}">
                <a16:creationId xmlns:a16="http://schemas.microsoft.com/office/drawing/2014/main" id="{3D601FD4-959E-CE8B-CAD5-C29DF791AB7E}"/>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3CE5199D-9EFE-4D3A-F830-FDE667B914E3}"/>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200707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2A318-38E3-4775-8C91-13BCC817BF4A}"/>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7E83DCD-037A-8390-B751-90536D891278}"/>
              </a:ext>
            </a:extLst>
          </p:cNvPr>
          <p:cNvSpPr>
            <a:spLocks noGrp="1"/>
          </p:cNvSpPr>
          <p:nvPr>
            <p:ph idx="1"/>
          </p:nvPr>
        </p:nvSpPr>
        <p:spPr>
          <a:xfrm>
            <a:off x="4081760" y="1843194"/>
            <a:ext cx="4860608" cy="9097433"/>
          </a:xfrm>
        </p:spPr>
        <p:txBody>
          <a:bodyPr/>
          <a:lstStyle>
            <a:lvl1pPr>
              <a:defRPr sz="5973"/>
            </a:lvl1pPr>
            <a:lvl2pPr>
              <a:defRPr sz="5227"/>
            </a:lvl2pPr>
            <a:lvl3pPr>
              <a:defRPr sz="4480"/>
            </a:lvl3pPr>
            <a:lvl4pPr>
              <a:defRPr sz="3733"/>
            </a:lvl4pPr>
            <a:lvl5pPr>
              <a:defRPr sz="3733"/>
            </a:lvl5pPr>
            <a:lvl6pPr>
              <a:defRPr sz="3733"/>
            </a:lvl6pPr>
            <a:lvl7pPr>
              <a:defRPr sz="3733"/>
            </a:lvl7pPr>
            <a:lvl8pPr>
              <a:defRPr sz="3733"/>
            </a:lvl8pPr>
            <a:lvl9pPr>
              <a:defRPr sz="37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5575D34-C1AA-27C9-3C46-0D6DD3484AF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52E1DB74-5801-1CA3-51E5-D0BCBA37E577}"/>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010D4AE3-42FF-B0A6-1279-C81F30D19811}"/>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54399B40-3CC6-20CD-8709-BABE62158F0D}"/>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334135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98D11-6676-AD97-54F8-77FB651B737E}"/>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077260A-7003-5D76-4AD8-81E5B66EBC21}"/>
              </a:ext>
            </a:extLst>
          </p:cNvPr>
          <p:cNvSpPr>
            <a:spLocks noGrp="1"/>
          </p:cNvSpPr>
          <p:nvPr>
            <p:ph type="pic" idx="1"/>
          </p:nvPr>
        </p:nvSpPr>
        <p:spPr>
          <a:xfrm>
            <a:off x="4081760" y="1843194"/>
            <a:ext cx="4860608" cy="9097433"/>
          </a:xfrm>
        </p:spPr>
        <p:txBody>
          <a:bodyPr/>
          <a:lstStyle>
            <a:lvl1pPr marL="0" indent="0">
              <a:buNone/>
              <a:defRPr sz="5973"/>
            </a:lvl1pPr>
            <a:lvl2pPr marL="853455" indent="0">
              <a:buNone/>
              <a:defRPr sz="5227"/>
            </a:lvl2pPr>
            <a:lvl3pPr marL="1706910" indent="0">
              <a:buNone/>
              <a:defRPr sz="4480"/>
            </a:lvl3pPr>
            <a:lvl4pPr marL="2560366" indent="0">
              <a:buNone/>
              <a:defRPr sz="3733"/>
            </a:lvl4pPr>
            <a:lvl5pPr marL="3413821" indent="0">
              <a:buNone/>
              <a:defRPr sz="3733"/>
            </a:lvl5pPr>
            <a:lvl6pPr marL="4267276" indent="0">
              <a:buNone/>
              <a:defRPr sz="3733"/>
            </a:lvl6pPr>
            <a:lvl7pPr marL="5120731" indent="0">
              <a:buNone/>
              <a:defRPr sz="3733"/>
            </a:lvl7pPr>
            <a:lvl8pPr marL="5974187" indent="0">
              <a:buNone/>
              <a:defRPr sz="3733"/>
            </a:lvl8pPr>
            <a:lvl9pPr marL="6827642" indent="0">
              <a:buNone/>
              <a:defRPr sz="3733"/>
            </a:lvl9pPr>
          </a:lstStyle>
          <a:p>
            <a:endParaRPr lang="en-GB" dirty="0"/>
          </a:p>
        </p:txBody>
      </p:sp>
      <p:sp>
        <p:nvSpPr>
          <p:cNvPr id="4" name="Text Placeholder 3">
            <a:extLst>
              <a:ext uri="{FF2B5EF4-FFF2-40B4-BE49-F238E27FC236}">
                <a16:creationId xmlns:a16="http://schemas.microsoft.com/office/drawing/2014/main" id="{72E64FAF-1B0B-C0E4-BB4A-C8771E4BD8B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84781043-F4E0-B6B2-9B02-A39D0C61B15F}"/>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D24F4448-4867-29B0-B381-ABD2324B4EDB}"/>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E2FACF4C-402B-97E5-D6F8-6282619D925D}"/>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2778731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B5B2-D5B0-19AC-BEB0-9D73849D3E5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06005CA-94BC-E16C-EF84-344BD073F8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F94088-AE02-9F42-0711-DB0AF9A0CDB3}"/>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7FA0081D-87C2-4B1B-DDE0-CC3F00DF20B7}"/>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C445E1E-A0A0-BC08-735D-62C39D971EA0}"/>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6551544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9DBB0D-0647-BD14-ACDE-3FE29F7DAF94}"/>
              </a:ext>
            </a:extLst>
          </p:cNvPr>
          <p:cNvSpPr>
            <a:spLocks noGrp="1"/>
          </p:cNvSpPr>
          <p:nvPr>
            <p:ph type="title" orient="vert"/>
          </p:nvPr>
        </p:nvSpPr>
        <p:spPr>
          <a:xfrm>
            <a:off x="6870859" y="681567"/>
            <a:ext cx="2070259" cy="1084876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91E2EB1-B200-E53F-4C09-07E4B9A25240}"/>
              </a:ext>
            </a:extLst>
          </p:cNvPr>
          <p:cNvSpPr>
            <a:spLocks noGrp="1"/>
          </p:cNvSpPr>
          <p:nvPr>
            <p:ph type="body" orient="vert" idx="1"/>
          </p:nvPr>
        </p:nvSpPr>
        <p:spPr>
          <a:xfrm>
            <a:off x="660083" y="681567"/>
            <a:ext cx="6090761" cy="108487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E5D952A-342F-8455-302E-FD29E5066A15}"/>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22F88315-D6D6-B195-E85D-6EE3849FE9A4}"/>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E1E61F3-CA3E-E61E-9D5D-F0E721CF0231}"/>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624505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3BBE65-6769-7B1F-8E17-8E4DEE0F5E6F}"/>
              </a:ext>
            </a:extLst>
          </p:cNvPr>
          <p:cNvSpPr>
            <a:spLocks noGrp="1"/>
          </p:cNvSpPr>
          <p:nvPr>
            <p:ph type="title"/>
          </p:nvPr>
        </p:nvSpPr>
        <p:spPr>
          <a:xfrm>
            <a:off x="660083" y="681568"/>
            <a:ext cx="8281035" cy="2474384"/>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99B3C84-1ABC-9785-51AA-DEFE5FD58DE4}"/>
              </a:ext>
            </a:extLst>
          </p:cNvPr>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4952F6-A5E3-AE07-1374-AB3E6483774A}"/>
              </a:ext>
            </a:extLst>
          </p:cNvPr>
          <p:cNvSpPr>
            <a:spLocks noGrp="1"/>
          </p:cNvSpPr>
          <p:nvPr>
            <p:ph type="dt" sz="half" idx="2"/>
          </p:nvPr>
        </p:nvSpPr>
        <p:spPr>
          <a:xfrm>
            <a:off x="660083" y="11865187"/>
            <a:ext cx="2160270" cy="681567"/>
          </a:xfrm>
          <a:prstGeom prst="rect">
            <a:avLst/>
          </a:prstGeom>
        </p:spPr>
        <p:txBody>
          <a:bodyPr vert="horz" lIns="91440" tIns="45720" rIns="91440" bIns="45720" rtlCol="0" anchor="ctr"/>
          <a:lstStyle>
            <a:lvl1pPr algn="l">
              <a:defRPr sz="2240">
                <a:solidFill>
                  <a:schemeClr val="tx1">
                    <a:tint val="75000"/>
                  </a:schemeClr>
                </a:solidFill>
              </a:defRPr>
            </a:lvl1p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2DD11E92-5A95-C483-050F-E7CB60E47E38}"/>
              </a:ext>
            </a:extLst>
          </p:cNvPr>
          <p:cNvSpPr>
            <a:spLocks noGrp="1"/>
          </p:cNvSpPr>
          <p:nvPr>
            <p:ph type="ftr" sz="quarter" idx="3"/>
          </p:nvPr>
        </p:nvSpPr>
        <p:spPr>
          <a:xfrm>
            <a:off x="3180398" y="11865187"/>
            <a:ext cx="3240405" cy="681567"/>
          </a:xfrm>
          <a:prstGeom prst="rect">
            <a:avLst/>
          </a:prstGeom>
        </p:spPr>
        <p:txBody>
          <a:bodyPr vert="horz" lIns="91440" tIns="45720" rIns="91440" bIns="45720" rtlCol="0" anchor="ctr"/>
          <a:lstStyle>
            <a:lvl1pPr algn="ctr">
              <a:defRPr sz="2240">
                <a:solidFill>
                  <a:schemeClr val="tx1">
                    <a:tint val="75000"/>
                  </a:schemeClr>
                </a:solidFill>
              </a:defRPr>
            </a:lvl1pPr>
          </a:lstStyle>
          <a:p>
            <a:endParaRPr lang="en-GB" dirty="0"/>
          </a:p>
        </p:txBody>
      </p:sp>
      <p:sp>
        <p:nvSpPr>
          <p:cNvPr id="6" name="Slide Number Placeholder 5">
            <a:extLst>
              <a:ext uri="{FF2B5EF4-FFF2-40B4-BE49-F238E27FC236}">
                <a16:creationId xmlns:a16="http://schemas.microsoft.com/office/drawing/2014/main" id="{A63E2AB0-37CA-182D-9940-8EDF9D524C17}"/>
              </a:ext>
            </a:extLst>
          </p:cNvPr>
          <p:cNvSpPr>
            <a:spLocks noGrp="1"/>
          </p:cNvSpPr>
          <p:nvPr>
            <p:ph type="sldNum" sz="quarter" idx="4"/>
          </p:nvPr>
        </p:nvSpPr>
        <p:spPr>
          <a:xfrm>
            <a:off x="6780848" y="11865187"/>
            <a:ext cx="2160270" cy="681567"/>
          </a:xfrm>
          <a:prstGeom prst="rect">
            <a:avLst/>
          </a:prstGeom>
        </p:spPr>
        <p:txBody>
          <a:bodyPr vert="horz" lIns="91440" tIns="45720" rIns="91440" bIns="45720" rtlCol="0" anchor="ctr"/>
          <a:lstStyle>
            <a:lvl1pPr algn="r">
              <a:defRPr sz="2240">
                <a:solidFill>
                  <a:schemeClr val="tx1">
                    <a:tint val="75000"/>
                  </a:schemeClr>
                </a:solidFill>
              </a:defRPr>
            </a:lvl1pPr>
          </a:lstStyle>
          <a:p>
            <a:fld id="{F88AA56C-1734-4119-BA56-AE67025E1ADC}" type="slidenum">
              <a:rPr lang="en-GB" smtClean="0"/>
              <a:t>‹#›</a:t>
            </a:fld>
            <a:endParaRPr lang="en-GB" dirty="0"/>
          </a:p>
        </p:txBody>
      </p:sp>
    </p:spTree>
    <p:extLst>
      <p:ext uri="{BB962C8B-B14F-4D97-AF65-F5344CB8AC3E}">
        <p14:creationId xmlns:p14="http://schemas.microsoft.com/office/powerpoint/2010/main" val="1527400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1706910" rtl="0" eaLnBrk="1" latinLnBrk="0" hangingPunct="1">
        <a:lnSpc>
          <a:spcPct val="90000"/>
        </a:lnSpc>
        <a:spcBef>
          <a:spcPct val="0"/>
        </a:spcBef>
        <a:buNone/>
        <a:defRPr sz="8213" kern="1200">
          <a:solidFill>
            <a:schemeClr val="tx1"/>
          </a:solidFill>
          <a:latin typeface="+mj-lt"/>
          <a:ea typeface="+mj-ea"/>
          <a:cs typeface="+mj-cs"/>
        </a:defRPr>
      </a:lvl1pPr>
    </p:titleStyle>
    <p:bodyStyle>
      <a:lvl1pPr marL="426728" indent="-426728" algn="l" defTabSz="1706910" rtl="0" eaLnBrk="1" latinLnBrk="0" hangingPunct="1">
        <a:lnSpc>
          <a:spcPct val="90000"/>
        </a:lnSpc>
        <a:spcBef>
          <a:spcPts val="1867"/>
        </a:spcBef>
        <a:buFont typeface="Arial" panose="020B0604020202020204" pitchFamily="34" charset="0"/>
        <a:buChar char="•"/>
        <a:defRPr sz="5227" kern="1200">
          <a:solidFill>
            <a:schemeClr val="tx1"/>
          </a:solidFill>
          <a:latin typeface="+mn-lt"/>
          <a:ea typeface="+mn-ea"/>
          <a:cs typeface="+mn-cs"/>
        </a:defRPr>
      </a:lvl1pPr>
      <a:lvl2pPr marL="1280183" indent="-426728" algn="l" defTabSz="1706910" rtl="0" eaLnBrk="1" latinLnBrk="0" hangingPunct="1">
        <a:lnSpc>
          <a:spcPct val="90000"/>
        </a:lnSpc>
        <a:spcBef>
          <a:spcPts val="933"/>
        </a:spcBef>
        <a:buFont typeface="Arial" panose="020B0604020202020204" pitchFamily="34" charset="0"/>
        <a:buChar char="•"/>
        <a:defRPr sz="4480" kern="1200">
          <a:solidFill>
            <a:schemeClr val="tx1"/>
          </a:solidFill>
          <a:latin typeface="+mn-lt"/>
          <a:ea typeface="+mn-ea"/>
          <a:cs typeface="+mn-cs"/>
        </a:defRPr>
      </a:lvl2pPr>
      <a:lvl3pPr marL="2133638" indent="-426728" algn="l" defTabSz="1706910" rtl="0" eaLnBrk="1" latinLnBrk="0" hangingPunct="1">
        <a:lnSpc>
          <a:spcPct val="90000"/>
        </a:lnSpc>
        <a:spcBef>
          <a:spcPts val="933"/>
        </a:spcBef>
        <a:buFont typeface="Arial" panose="020B0604020202020204" pitchFamily="34" charset="0"/>
        <a:buChar char="•"/>
        <a:defRPr sz="3733" kern="1200">
          <a:solidFill>
            <a:schemeClr val="tx1"/>
          </a:solidFill>
          <a:latin typeface="+mn-lt"/>
          <a:ea typeface="+mn-ea"/>
          <a:cs typeface="+mn-cs"/>
        </a:defRPr>
      </a:lvl3pPr>
      <a:lvl4pPr marL="2987093"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4pPr>
      <a:lvl5pPr marL="384054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5pPr>
      <a:lvl6pPr marL="469400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6pPr>
      <a:lvl7pPr marL="554745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7pPr>
      <a:lvl8pPr marL="640091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8pPr>
      <a:lvl9pPr marL="7254370"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9pPr>
    </p:bodyStyle>
    <p:otherStyle>
      <a:defPPr>
        <a:defRPr lang="en-US"/>
      </a:defPPr>
      <a:lvl1pPr marL="0" algn="l" defTabSz="1706910" rtl="0" eaLnBrk="1" latinLnBrk="0" hangingPunct="1">
        <a:defRPr sz="3360" kern="1200">
          <a:solidFill>
            <a:schemeClr val="tx1"/>
          </a:solidFill>
          <a:latin typeface="+mn-lt"/>
          <a:ea typeface="+mn-ea"/>
          <a:cs typeface="+mn-cs"/>
        </a:defRPr>
      </a:lvl1pPr>
      <a:lvl2pPr marL="853455" algn="l" defTabSz="1706910" rtl="0" eaLnBrk="1" latinLnBrk="0" hangingPunct="1">
        <a:defRPr sz="3360" kern="1200">
          <a:solidFill>
            <a:schemeClr val="tx1"/>
          </a:solidFill>
          <a:latin typeface="+mn-lt"/>
          <a:ea typeface="+mn-ea"/>
          <a:cs typeface="+mn-cs"/>
        </a:defRPr>
      </a:lvl2pPr>
      <a:lvl3pPr marL="1706910" algn="l" defTabSz="1706910" rtl="0" eaLnBrk="1" latinLnBrk="0" hangingPunct="1">
        <a:defRPr sz="3360" kern="1200">
          <a:solidFill>
            <a:schemeClr val="tx1"/>
          </a:solidFill>
          <a:latin typeface="+mn-lt"/>
          <a:ea typeface="+mn-ea"/>
          <a:cs typeface="+mn-cs"/>
        </a:defRPr>
      </a:lvl3pPr>
      <a:lvl4pPr marL="2560366" algn="l" defTabSz="1706910" rtl="0" eaLnBrk="1" latinLnBrk="0" hangingPunct="1">
        <a:defRPr sz="3360" kern="1200">
          <a:solidFill>
            <a:schemeClr val="tx1"/>
          </a:solidFill>
          <a:latin typeface="+mn-lt"/>
          <a:ea typeface="+mn-ea"/>
          <a:cs typeface="+mn-cs"/>
        </a:defRPr>
      </a:lvl4pPr>
      <a:lvl5pPr marL="3413821" algn="l" defTabSz="1706910" rtl="0" eaLnBrk="1" latinLnBrk="0" hangingPunct="1">
        <a:defRPr sz="3360" kern="1200">
          <a:solidFill>
            <a:schemeClr val="tx1"/>
          </a:solidFill>
          <a:latin typeface="+mn-lt"/>
          <a:ea typeface="+mn-ea"/>
          <a:cs typeface="+mn-cs"/>
        </a:defRPr>
      </a:lvl5pPr>
      <a:lvl6pPr marL="4267276" algn="l" defTabSz="1706910" rtl="0" eaLnBrk="1" latinLnBrk="0" hangingPunct="1">
        <a:defRPr sz="3360" kern="1200">
          <a:solidFill>
            <a:schemeClr val="tx1"/>
          </a:solidFill>
          <a:latin typeface="+mn-lt"/>
          <a:ea typeface="+mn-ea"/>
          <a:cs typeface="+mn-cs"/>
        </a:defRPr>
      </a:lvl6pPr>
      <a:lvl7pPr marL="5120731" algn="l" defTabSz="1706910" rtl="0" eaLnBrk="1" latinLnBrk="0" hangingPunct="1">
        <a:defRPr sz="3360" kern="1200">
          <a:solidFill>
            <a:schemeClr val="tx1"/>
          </a:solidFill>
          <a:latin typeface="+mn-lt"/>
          <a:ea typeface="+mn-ea"/>
          <a:cs typeface="+mn-cs"/>
        </a:defRPr>
      </a:lvl7pPr>
      <a:lvl8pPr marL="5974187" algn="l" defTabSz="1706910" rtl="0" eaLnBrk="1" latinLnBrk="0" hangingPunct="1">
        <a:defRPr sz="3360" kern="1200">
          <a:solidFill>
            <a:schemeClr val="tx1"/>
          </a:solidFill>
          <a:latin typeface="+mn-lt"/>
          <a:ea typeface="+mn-ea"/>
          <a:cs typeface="+mn-cs"/>
        </a:defRPr>
      </a:lvl8pPr>
      <a:lvl9pPr marL="6827642" algn="l" defTabSz="1706910" rtl="0" eaLnBrk="1" latinLnBrk="0" hangingPunct="1">
        <a:defRPr sz="33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C388C717-AB61-4AA5-0065-CF8334987466}"/>
              </a:ext>
            </a:extLst>
          </p:cNvPr>
          <p:cNvSpPr txBox="1"/>
          <p:nvPr/>
        </p:nvSpPr>
        <p:spPr>
          <a:xfrm>
            <a:off x="4882289" y="6703042"/>
            <a:ext cx="4490932" cy="2339102"/>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5. Model Training and Hyper Parameters</a:t>
            </a:r>
            <a:endParaRPr lang="en-GB" sz="20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A table showing the different models and hyper parameters you trained, along with the correct metric for each; Add a sentence on how you chose the hyper parameter values. Make sure you name the metric correctly.</a:t>
            </a:r>
            <a:endParaRPr lang="en-US" sz="10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5F922132-ED33-E59C-B714-DBB27B5DF6F8}"/>
              </a:ext>
            </a:extLst>
          </p:cNvPr>
          <p:cNvSpPr txBox="1"/>
          <p:nvPr/>
        </p:nvSpPr>
        <p:spPr>
          <a:xfrm>
            <a:off x="4882289" y="8816780"/>
            <a:ext cx="4424602" cy="2015936"/>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Say how you chose the final model to test, and how you trained that model.</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Put the confusion matrix here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8AF6D823-6DA6-9959-0DCB-CCA6AD2DD76E}"/>
              </a:ext>
            </a:extLst>
          </p:cNvPr>
          <p:cNvSpPr txBox="1"/>
          <p:nvPr/>
        </p:nvSpPr>
        <p:spPr>
          <a:xfrm>
            <a:off x="4882288" y="12021739"/>
            <a:ext cx="543081" cy="3693319"/>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dirty="0"/>
              <a:t>8. References</a:t>
            </a:r>
          </a:p>
          <a:p>
            <a:r>
              <a:rPr lang="en-GB" sz="1200" b="0" i="0" dirty="0">
                <a:solidFill>
                  <a:srgbClr val="202122"/>
                </a:solidFill>
                <a:effectLst/>
                <a:latin typeface="Arial" panose="020B0604020202020204" pitchFamily="34" charset="0"/>
              </a:rPr>
              <a:t>[1] If you reference any papers or websites, list them here</a:t>
            </a:r>
            <a:endParaRPr lang="en-GB" dirty="0"/>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11063398"/>
              </p:ext>
            </p:extLst>
          </p:nvPr>
        </p:nvGraphicFramePr>
        <p:xfrm>
          <a:off x="4775726" y="6931436"/>
          <a:ext cx="4443504" cy="1737360"/>
        </p:xfrm>
        <a:graphic>
          <a:graphicData uri="http://schemas.openxmlformats.org/drawingml/2006/table">
            <a:tbl>
              <a:tblPr firstRow="1" bandRow="1">
                <a:tableStyleId>{5C22544A-7EE6-4342-B048-85BDC9FD1C3A}</a:tableStyleId>
              </a:tblPr>
              <a:tblGrid>
                <a:gridCol w="1481168">
                  <a:extLst>
                    <a:ext uri="{9D8B030D-6E8A-4147-A177-3AD203B41FA5}">
                      <a16:colId xmlns:a16="http://schemas.microsoft.com/office/drawing/2014/main" val="1907166431"/>
                    </a:ext>
                  </a:extLst>
                </a:gridCol>
                <a:gridCol w="1865917">
                  <a:extLst>
                    <a:ext uri="{9D8B030D-6E8A-4147-A177-3AD203B41FA5}">
                      <a16:colId xmlns:a16="http://schemas.microsoft.com/office/drawing/2014/main" val="3484362391"/>
                    </a:ext>
                  </a:extLst>
                </a:gridCol>
                <a:gridCol w="1096419">
                  <a:extLst>
                    <a:ext uri="{9D8B030D-6E8A-4147-A177-3AD203B41FA5}">
                      <a16:colId xmlns:a16="http://schemas.microsoft.com/office/drawing/2014/main" val="326053815"/>
                    </a:ext>
                  </a:extLst>
                </a:gridCol>
              </a:tblGrid>
              <a:tr h="561889">
                <a:tc>
                  <a:txBody>
                    <a:bodyPr/>
                    <a:lstStyle/>
                    <a:p>
                      <a:r>
                        <a:rPr lang="en-GB" sz="1800" dirty="0"/>
                        <a:t>Model</a:t>
                      </a:r>
                    </a:p>
                  </a:txBody>
                  <a:tcPr/>
                </a:tc>
                <a:tc>
                  <a:txBody>
                    <a:bodyPr/>
                    <a:lstStyle/>
                    <a:p>
                      <a:r>
                        <a:rPr lang="en-GB" sz="1800" dirty="0"/>
                        <a:t>Hyper Parameters</a:t>
                      </a:r>
                    </a:p>
                  </a:txBody>
                  <a:tcPr/>
                </a:tc>
                <a:tc>
                  <a:txBody>
                    <a:bodyPr/>
                    <a:lstStyle/>
                    <a:p>
                      <a:r>
                        <a:rPr lang="en-GB" sz="1800" dirty="0"/>
                        <a:t>Validation Metric</a:t>
                      </a:r>
                    </a:p>
                  </a:txBody>
                  <a:tcPr/>
                </a:tc>
                <a:extLst>
                  <a:ext uri="{0D108BD9-81ED-4DB2-BD59-A6C34878D82A}">
                    <a16:rowId xmlns:a16="http://schemas.microsoft.com/office/drawing/2014/main" val="3158663126"/>
                  </a:ext>
                </a:extLst>
              </a:tr>
              <a:tr h="268174">
                <a:tc>
                  <a:txBody>
                    <a:bodyPr/>
                    <a:lstStyle/>
                    <a:p>
                      <a:r>
                        <a:rPr lang="en-US" sz="1200" dirty="0"/>
                        <a:t>Model 1</a:t>
                      </a:r>
                      <a:endParaRPr lang="en-GB" sz="1200" dirty="0"/>
                    </a:p>
                  </a:txBody>
                  <a:tcPr/>
                </a:tc>
                <a:tc>
                  <a:txBody>
                    <a:bodyPr/>
                    <a:lstStyle/>
                    <a:p>
                      <a:r>
                        <a:rPr lang="en-GB" sz="1200" dirty="0"/>
                        <a:t>Hyper parameter list</a:t>
                      </a:r>
                    </a:p>
                  </a:txBody>
                  <a:tcPr/>
                </a:tc>
                <a:tc>
                  <a:txBody>
                    <a:bodyPr/>
                    <a:lstStyle/>
                    <a:p>
                      <a:r>
                        <a:rPr lang="en-GB" sz="1200" dirty="0"/>
                        <a:t>A%</a:t>
                      </a:r>
                    </a:p>
                  </a:txBody>
                  <a:tcPr/>
                </a:tc>
                <a:extLst>
                  <a:ext uri="{0D108BD9-81ED-4DB2-BD59-A6C34878D82A}">
                    <a16:rowId xmlns:a16="http://schemas.microsoft.com/office/drawing/2014/main" val="391472538"/>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2</a:t>
                      </a:r>
                      <a:endParaRPr lang="en-GB" sz="1200" dirty="0"/>
                    </a:p>
                  </a:txBody>
                  <a:tcPr/>
                </a:tc>
                <a:tc>
                  <a:txBody>
                    <a:bodyPr/>
                    <a:lstStyle/>
                    <a:p>
                      <a:r>
                        <a:rPr lang="en-GB" sz="1200" dirty="0"/>
                        <a:t>Hyper parameter list</a:t>
                      </a:r>
                    </a:p>
                  </a:txBody>
                  <a:tcPr/>
                </a:tc>
                <a:tc>
                  <a:txBody>
                    <a:bodyPr/>
                    <a:lstStyle/>
                    <a:p>
                      <a:r>
                        <a:rPr lang="en-GB" sz="1200" dirty="0"/>
                        <a:t>B%</a:t>
                      </a:r>
                    </a:p>
                  </a:txBody>
                  <a:tcPr/>
                </a:tc>
                <a:extLst>
                  <a:ext uri="{0D108BD9-81ED-4DB2-BD59-A6C34878D82A}">
                    <a16:rowId xmlns:a16="http://schemas.microsoft.com/office/drawing/2014/main" val="3680307176"/>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3</a:t>
                      </a:r>
                      <a:endParaRPr lang="en-GB" sz="1200" dirty="0"/>
                    </a:p>
                  </a:txBody>
                  <a:tcPr/>
                </a:tc>
                <a:tc>
                  <a:txBody>
                    <a:bodyPr/>
                    <a:lstStyle/>
                    <a:p>
                      <a:r>
                        <a:rPr lang="en-GB" sz="1200" dirty="0"/>
                        <a:t>Hyper parameter list</a:t>
                      </a:r>
                    </a:p>
                  </a:txBody>
                  <a:tcPr/>
                </a:tc>
                <a:tc>
                  <a:txBody>
                    <a:bodyPr/>
                    <a:lstStyle/>
                    <a:p>
                      <a:r>
                        <a:rPr lang="en-GB" sz="1200" dirty="0"/>
                        <a:t>C%</a:t>
                      </a:r>
                    </a:p>
                  </a:txBody>
                  <a:tcPr/>
                </a:tc>
                <a:extLst>
                  <a:ext uri="{0D108BD9-81ED-4DB2-BD59-A6C34878D82A}">
                    <a16:rowId xmlns:a16="http://schemas.microsoft.com/office/drawing/2014/main" val="1144539082"/>
                  </a:ext>
                </a:extLst>
              </a:tr>
              <a:tr h="242633">
                <a:tc>
                  <a:txBody>
                    <a:bodyPr/>
                    <a:lstStyle/>
                    <a:p>
                      <a:r>
                        <a:rPr lang="en-US" sz="1200" dirty="0"/>
                        <a:t>Model 4 ….</a:t>
                      </a:r>
                      <a:endParaRPr lang="en-GB" sz="1200" dirty="0"/>
                    </a:p>
                  </a:txBody>
                  <a:tcPr/>
                </a:tc>
                <a:tc>
                  <a:txBody>
                    <a:bodyPr/>
                    <a:lstStyle/>
                    <a:p>
                      <a:r>
                        <a:rPr lang="en-GB" sz="1200" dirty="0"/>
                        <a:t>Hyper parameter list</a:t>
                      </a:r>
                    </a:p>
                  </a:txBody>
                  <a:tcPr/>
                </a:tc>
                <a:tc>
                  <a:txBody>
                    <a:bodyPr/>
                    <a:lstStyle/>
                    <a:p>
                      <a:r>
                        <a:rPr lang="en-GB" sz="1200" dirty="0"/>
                        <a:t>D%</a:t>
                      </a:r>
                    </a:p>
                  </a:txBody>
                  <a:tcPr/>
                </a:tc>
                <a:extLst>
                  <a:ext uri="{0D108BD9-81ED-4DB2-BD59-A6C34878D82A}">
                    <a16:rowId xmlns:a16="http://schemas.microsoft.com/office/drawing/2014/main" val="365670631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374137924"/>
              </p:ext>
            </p:extLst>
          </p:nvPr>
        </p:nvGraphicFramePr>
        <p:xfrm>
          <a:off x="5005441" y="9764892"/>
          <a:ext cx="4178298" cy="1151476"/>
        </p:xfrm>
        <a:graphic>
          <a:graphicData uri="http://schemas.openxmlformats.org/drawingml/2006/table">
            <a:tbl>
              <a:tblPr firstRow="1" bandRow="1">
                <a:tableStyleId>{5C22544A-7EE6-4342-B048-85BDC9FD1C3A}</a:tableStyleId>
              </a:tblPr>
              <a:tblGrid>
                <a:gridCol w="1392766">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401768">
                <a:tc>
                  <a:txBody>
                    <a:bodyPr/>
                    <a:lstStyle/>
                    <a:p>
                      <a:r>
                        <a:rPr lang="en-GB" sz="1200" dirty="0"/>
                        <a:t>Actual / Predicted</a:t>
                      </a:r>
                    </a:p>
                  </a:txBody>
                  <a:tcPr/>
                </a:tc>
                <a:tc>
                  <a:txBody>
                    <a:bodyPr/>
                    <a:lstStyle/>
                    <a:p>
                      <a:r>
                        <a:rPr lang="en-GB" sz="1200" dirty="0"/>
                        <a:t>Good</a:t>
                      </a:r>
                    </a:p>
                  </a:txBody>
                  <a:tcPr/>
                </a:tc>
                <a:tc>
                  <a:txBody>
                    <a:bodyPr/>
                    <a:lstStyle/>
                    <a:p>
                      <a:r>
                        <a:rPr lang="en-GB" sz="1200" dirty="0"/>
                        <a:t>Bad</a:t>
                      </a:r>
                    </a:p>
                  </a:txBody>
                  <a:tcPr/>
                </a:tc>
                <a:extLst>
                  <a:ext uri="{0D108BD9-81ED-4DB2-BD59-A6C34878D82A}">
                    <a16:rowId xmlns:a16="http://schemas.microsoft.com/office/drawing/2014/main" val="2126179801"/>
                  </a:ext>
                </a:extLst>
              </a:tr>
              <a:tr h="370840">
                <a:tc>
                  <a:txBody>
                    <a:bodyPr/>
                    <a:lstStyle/>
                    <a:p>
                      <a:r>
                        <a:rPr lang="en-GB" sz="1200" dirty="0"/>
                        <a:t>Good</a:t>
                      </a:r>
                    </a:p>
                  </a:txBody>
                  <a:tcPr/>
                </a:tc>
                <a:tc>
                  <a:txBody>
                    <a:bodyPr/>
                    <a:lstStyle/>
                    <a:p>
                      <a:r>
                        <a:rPr lang="en-GB" sz="1200" dirty="0"/>
                        <a:t>X</a:t>
                      </a:r>
                    </a:p>
                  </a:txBody>
                  <a:tcPr/>
                </a:tc>
                <a:tc>
                  <a:txBody>
                    <a:bodyPr/>
                    <a:lstStyle/>
                    <a:p>
                      <a:r>
                        <a:rPr lang="en-US" sz="1200" dirty="0"/>
                        <a:t>X</a:t>
                      </a:r>
                      <a:endParaRPr lang="en-GB" sz="1200" dirty="0"/>
                    </a:p>
                  </a:txBody>
                  <a:tcPr/>
                </a:tc>
                <a:extLst>
                  <a:ext uri="{0D108BD9-81ED-4DB2-BD59-A6C34878D82A}">
                    <a16:rowId xmlns:a16="http://schemas.microsoft.com/office/drawing/2014/main" val="1186692526"/>
                  </a:ext>
                </a:extLst>
              </a:tr>
              <a:tr h="378868">
                <a:tc>
                  <a:txBody>
                    <a:bodyPr/>
                    <a:lstStyle/>
                    <a:p>
                      <a:r>
                        <a:rPr lang="en-GB" sz="1200" dirty="0"/>
                        <a:t>Bad</a:t>
                      </a:r>
                    </a:p>
                  </a:txBody>
                  <a:tcPr/>
                </a:tc>
                <a:tc>
                  <a:txBody>
                    <a:bodyPr/>
                    <a:lstStyle/>
                    <a:p>
                      <a:r>
                        <a:rPr lang="en-US" sz="1200" dirty="0"/>
                        <a:t>X</a:t>
                      </a:r>
                      <a:endParaRPr lang="en-GB" sz="1200" dirty="0"/>
                    </a:p>
                  </a:txBody>
                  <a:tcPr/>
                </a:tc>
                <a:tc>
                  <a:txBody>
                    <a:bodyPr/>
                    <a:lstStyle/>
                    <a:p>
                      <a:r>
                        <a:rPr lang="en-US" sz="1200" dirty="0"/>
                        <a:t>X</a:t>
                      </a:r>
                      <a:endParaRPr lang="en-GB" sz="1200" dirty="0"/>
                    </a:p>
                  </a:txBody>
                  <a:tcPr/>
                </a:tc>
                <a:extLst>
                  <a:ext uri="{0D108BD9-81ED-4DB2-BD59-A6C34878D82A}">
                    <a16:rowId xmlns:a16="http://schemas.microsoft.com/office/drawing/2014/main" val="788774926"/>
                  </a:ext>
                </a:extLst>
              </a:tr>
            </a:tbl>
          </a:graphicData>
        </a:graphic>
      </p:graphicFrame>
      <p:sp>
        <p:nvSpPr>
          <p:cNvPr id="8" name="TextBox 7">
            <a:extLst>
              <a:ext uri="{FF2B5EF4-FFF2-40B4-BE49-F238E27FC236}">
                <a16:creationId xmlns:a16="http://schemas.microsoft.com/office/drawing/2014/main" id="{53F18AD2-7D7C-86A1-617F-5ED4C88C525F}"/>
              </a:ext>
            </a:extLst>
          </p:cNvPr>
          <p:cNvSpPr txBox="1"/>
          <p:nvPr/>
        </p:nvSpPr>
        <p:spPr>
          <a:xfrm>
            <a:off x="358007" y="221862"/>
            <a:ext cx="8885186" cy="523220"/>
          </a:xfrm>
          <a:prstGeom prst="rect">
            <a:avLst/>
          </a:prstGeom>
          <a:noFill/>
        </p:spPr>
        <p:txBody>
          <a:bodyPr wrap="square" lIns="91440" tIns="45720" rIns="91440" bIns="45720" rtlCol="0" anchor="t">
            <a:spAutoFit/>
          </a:bodyPr>
          <a:lstStyle/>
          <a:p>
            <a:r>
              <a:rPr lang="en-GB" sz="2800" dirty="0"/>
              <a:t>ITNPBD6 Assignment 1. Student Number </a:t>
            </a:r>
            <a:r>
              <a:rPr lang="en-GB" sz="2800" b="1" dirty="0"/>
              <a:t>3461226</a:t>
            </a:r>
            <a:endParaRPr lang="en-GB" sz="2800" b="1" dirty="0">
              <a:ea typeface="Calibri" panose="020F0502020204030204"/>
              <a:cs typeface="Calibri" panose="020F0502020204030204"/>
            </a:endParaRPr>
          </a:p>
        </p:txBody>
      </p:sp>
      <p:graphicFrame>
        <p:nvGraphicFramePr>
          <p:cNvPr id="5" name="Table 9">
            <a:extLst>
              <a:ext uri="{FF2B5EF4-FFF2-40B4-BE49-F238E27FC236}">
                <a16:creationId xmlns:a16="http://schemas.microsoft.com/office/drawing/2014/main" id="{D4D093B8-47C2-E43F-6BF0-1D763DE45341}"/>
              </a:ext>
            </a:extLst>
          </p:cNvPr>
          <p:cNvGraphicFramePr>
            <a:graphicFrameLocks noGrp="1"/>
          </p:cNvGraphicFramePr>
          <p:nvPr>
            <p:extLst>
              <p:ext uri="{D42A27DB-BD31-4B8C-83A1-F6EECF244321}">
                <p14:modId xmlns:p14="http://schemas.microsoft.com/office/powerpoint/2010/main" val="930254923"/>
              </p:ext>
            </p:extLst>
          </p:nvPr>
        </p:nvGraphicFramePr>
        <p:xfrm>
          <a:off x="4882290" y="2435450"/>
          <a:ext cx="4178298" cy="1112520"/>
        </p:xfrm>
        <a:graphic>
          <a:graphicData uri="http://schemas.openxmlformats.org/drawingml/2006/table">
            <a:tbl>
              <a:tblPr firstRow="1" bandRow="1">
                <a:tableStyleId>{5C22544A-7EE6-4342-B048-85BDC9FD1C3A}</a:tableStyleId>
              </a:tblPr>
              <a:tblGrid>
                <a:gridCol w="2089149">
                  <a:extLst>
                    <a:ext uri="{9D8B030D-6E8A-4147-A177-3AD203B41FA5}">
                      <a16:colId xmlns:a16="http://schemas.microsoft.com/office/drawing/2014/main" val="1922141735"/>
                    </a:ext>
                  </a:extLst>
                </a:gridCol>
                <a:gridCol w="2089149">
                  <a:extLst>
                    <a:ext uri="{9D8B030D-6E8A-4147-A177-3AD203B41FA5}">
                      <a16:colId xmlns:a16="http://schemas.microsoft.com/office/drawing/2014/main" val="2956065983"/>
                    </a:ext>
                  </a:extLst>
                </a:gridCol>
              </a:tblGrid>
              <a:tr h="370840">
                <a:tc>
                  <a:txBody>
                    <a:bodyPr/>
                    <a:lstStyle/>
                    <a:p>
                      <a:r>
                        <a:rPr lang="en-US" sz="1400" dirty="0"/>
                        <a:t>Variable</a:t>
                      </a:r>
                      <a:endParaRPr lang="en-GB" sz="1400" dirty="0"/>
                    </a:p>
                  </a:txBody>
                  <a:tcPr/>
                </a:tc>
                <a:tc>
                  <a:txBody>
                    <a:bodyPr/>
                    <a:lstStyle/>
                    <a:p>
                      <a:r>
                        <a:rPr lang="en-US" sz="1400" dirty="0"/>
                        <a:t>Type</a:t>
                      </a:r>
                      <a:endParaRPr lang="en-GB" sz="1400" dirty="0"/>
                    </a:p>
                  </a:txBody>
                  <a:tcPr/>
                </a:tc>
                <a:extLst>
                  <a:ext uri="{0D108BD9-81ED-4DB2-BD59-A6C34878D82A}">
                    <a16:rowId xmlns:a16="http://schemas.microsoft.com/office/drawing/2014/main" val="2821401175"/>
                  </a:ext>
                </a:extLst>
              </a:tr>
              <a:tr h="370840">
                <a:tc>
                  <a:txBody>
                    <a:bodyPr/>
                    <a:lstStyle/>
                    <a:p>
                      <a:r>
                        <a:rPr lang="en-US" sz="1200" dirty="0"/>
                        <a:t>Variable 1</a:t>
                      </a:r>
                      <a:endParaRPr lang="en-GB" sz="1200" dirty="0"/>
                    </a:p>
                  </a:txBody>
                  <a:tcPr/>
                </a:tc>
                <a:tc>
                  <a:txBody>
                    <a:bodyPr/>
                    <a:lstStyle/>
                    <a:p>
                      <a:r>
                        <a:rPr lang="en-US" sz="1200" dirty="0"/>
                        <a:t>Numeric</a:t>
                      </a:r>
                      <a:endParaRPr lang="en-GB" sz="1200" dirty="0"/>
                    </a:p>
                  </a:txBody>
                  <a:tcPr/>
                </a:tc>
                <a:extLst>
                  <a:ext uri="{0D108BD9-81ED-4DB2-BD59-A6C34878D82A}">
                    <a16:rowId xmlns:a16="http://schemas.microsoft.com/office/drawing/2014/main" val="3202199352"/>
                  </a:ext>
                </a:extLst>
              </a:tr>
              <a:tr h="370840">
                <a:tc>
                  <a:txBody>
                    <a:bodyPr/>
                    <a:lstStyle/>
                    <a:p>
                      <a:r>
                        <a:rPr lang="en-US" sz="1200" dirty="0"/>
                        <a:t>Variable 2</a:t>
                      </a:r>
                      <a:endParaRPr lang="en-GB" sz="1200" dirty="0"/>
                    </a:p>
                  </a:txBody>
                  <a:tcPr/>
                </a:tc>
                <a:tc>
                  <a:txBody>
                    <a:bodyPr/>
                    <a:lstStyle/>
                    <a:p>
                      <a:r>
                        <a:rPr lang="en-US" sz="1200" dirty="0"/>
                        <a:t>Categorical</a:t>
                      </a:r>
                      <a:endParaRPr lang="en-GB" sz="1200" dirty="0"/>
                    </a:p>
                  </a:txBody>
                  <a:tcPr/>
                </a:tc>
                <a:extLst>
                  <a:ext uri="{0D108BD9-81ED-4DB2-BD59-A6C34878D82A}">
                    <a16:rowId xmlns:a16="http://schemas.microsoft.com/office/drawing/2014/main" val="2473242010"/>
                  </a:ext>
                </a:extLst>
              </a:tr>
            </a:tbl>
          </a:graphicData>
        </a:graphic>
      </p:graphicFrame>
      <p:sp>
        <p:nvSpPr>
          <p:cNvPr id="10" name="Rectangle 9">
            <a:extLst>
              <a:ext uri="{FF2B5EF4-FFF2-40B4-BE49-F238E27FC236}">
                <a16:creationId xmlns:a16="http://schemas.microsoft.com/office/drawing/2014/main" id="{61114EC5-034B-1ADA-C1F8-62FDCCE2A9A4}"/>
              </a:ext>
            </a:extLst>
          </p:cNvPr>
          <p:cNvSpPr/>
          <p:nvPr/>
        </p:nvSpPr>
        <p:spPr>
          <a:xfrm>
            <a:off x="5130744" y="5656129"/>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Before Cleaning</a:t>
            </a:r>
            <a:endParaRPr lang="en-GB" dirty="0"/>
          </a:p>
        </p:txBody>
      </p:sp>
      <p:sp>
        <p:nvSpPr>
          <p:cNvPr id="12" name="Rectangle 11">
            <a:extLst>
              <a:ext uri="{FF2B5EF4-FFF2-40B4-BE49-F238E27FC236}">
                <a16:creationId xmlns:a16="http://schemas.microsoft.com/office/drawing/2014/main" id="{6DA0385D-A5DD-C169-AF26-24FFB0DB2E30}"/>
              </a:ext>
            </a:extLst>
          </p:cNvPr>
          <p:cNvSpPr/>
          <p:nvPr/>
        </p:nvSpPr>
        <p:spPr>
          <a:xfrm>
            <a:off x="6841409" y="5656128"/>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After Cleaning</a:t>
            </a:r>
            <a:endParaRPr lang="en-GB" dirty="0"/>
          </a:p>
        </p:txBody>
      </p:sp>
      <p:sp>
        <p:nvSpPr>
          <p:cNvPr id="13" name="TextBox 12">
            <a:extLst>
              <a:ext uri="{FF2B5EF4-FFF2-40B4-BE49-F238E27FC236}">
                <a16:creationId xmlns:a16="http://schemas.microsoft.com/office/drawing/2014/main" id="{CA1EAAA5-A1A2-3B0D-12F1-60B2E50A677D}"/>
              </a:ext>
            </a:extLst>
          </p:cNvPr>
          <p:cNvSpPr txBox="1"/>
          <p:nvPr/>
        </p:nvSpPr>
        <p:spPr>
          <a:xfrm>
            <a:off x="5130744" y="7041596"/>
            <a:ext cx="2320660" cy="830997"/>
          </a:xfrm>
          <a:prstGeom prst="rect">
            <a:avLst/>
          </a:prstGeom>
          <a:noFill/>
          <a:ln w="38100">
            <a:noFill/>
          </a:ln>
        </p:spPr>
        <p:txBody>
          <a:bodyPr wrap="square" rtlCol="0">
            <a:spAutoFit/>
          </a:bodyPr>
          <a:lstStyle/>
          <a:p>
            <a:r>
              <a:rPr lang="en-US" sz="1200" dirty="0">
                <a:solidFill>
                  <a:prstClr val="black"/>
                </a:solidFill>
                <a:latin typeface="Calibri" panose="020F0502020204030204"/>
              </a:rPr>
              <a:t>Explain here how you chose the hyper parameter settings to explore and how you ran your experiments.</a:t>
            </a:r>
            <a:endParaRPr lang="en-GB" sz="1200" dirty="0">
              <a:solidFill>
                <a:prstClr val="black"/>
              </a:solidFill>
              <a:latin typeface="Calibri" panose="020F0502020204030204"/>
            </a:endParaRPr>
          </a:p>
        </p:txBody>
      </p:sp>
      <p:sp>
        <p:nvSpPr>
          <p:cNvPr id="9" name="TextBox 8">
            <a:extLst>
              <a:ext uri="{FF2B5EF4-FFF2-40B4-BE49-F238E27FC236}">
                <a16:creationId xmlns:a16="http://schemas.microsoft.com/office/drawing/2014/main" id="{F206284C-0E38-E129-A921-7FCAD4177EEC}"/>
              </a:ext>
            </a:extLst>
          </p:cNvPr>
          <p:cNvSpPr txBox="1"/>
          <p:nvPr/>
        </p:nvSpPr>
        <p:spPr>
          <a:xfrm>
            <a:off x="475353" y="745082"/>
            <a:ext cx="4211646" cy="7232749"/>
          </a:xfrm>
          <a:prstGeom prst="rect">
            <a:avLst/>
          </a:prstGeom>
          <a:noFill/>
          <a:ln w="38100">
            <a:solidFill>
              <a:schemeClr val="accent1">
                <a:lumMod val="60000"/>
                <a:lumOff val="40000"/>
              </a:schemeClr>
            </a:solidFill>
          </a:ln>
        </p:spPr>
        <p:txBody>
          <a:bodyPr wrap="square" lIns="91440" tIns="45720" rIns="91440" bIns="45720" anchor="t">
            <a:spAutoFit/>
          </a:bodyPr>
          <a:lstStyle/>
          <a:p>
            <a:r>
              <a:rPr lang="en-GB" sz="2000" dirty="0"/>
              <a:t>2. Project Methodology</a:t>
            </a:r>
          </a:p>
          <a:p>
            <a:pPr marL="228600" indent="-228600">
              <a:buFont typeface="+mj-lt"/>
              <a:buAutoNum type="arabicPeriod"/>
            </a:pPr>
            <a:r>
              <a:rPr lang="en-GB" sz="1050" b="1" dirty="0"/>
              <a:t>Task Understanding</a:t>
            </a:r>
          </a:p>
          <a:p>
            <a:r>
              <a:rPr lang="en-GB" sz="1050" i="1" dirty="0">
                <a:ea typeface="Calibri"/>
                <a:cs typeface="Calibri"/>
              </a:rPr>
              <a:t>The goal </a:t>
            </a:r>
            <a:r>
              <a:rPr lang="en-GB" sz="1050" dirty="0">
                <a:ea typeface="Calibri"/>
                <a:cs typeface="Calibri"/>
              </a:rPr>
              <a:t>is to predict the probability of the infrastructure failure in a city block during the monitoring period P(failure=1). </a:t>
            </a:r>
          </a:p>
          <a:p>
            <a:r>
              <a:rPr lang="en-GB" sz="1050" dirty="0">
                <a:ea typeface="Calibri"/>
                <a:cs typeface="Calibri"/>
              </a:rPr>
              <a:t>This is a binary classification task with target variable failure, where </a:t>
            </a:r>
          </a:p>
          <a:p>
            <a:r>
              <a:rPr lang="en-GB" sz="1050" dirty="0">
                <a:ea typeface="Calibri"/>
                <a:cs typeface="Calibri"/>
              </a:rPr>
              <a:t>1 – failure occurs, 0 – no failure (p ≥ 0.5 -&gt; failure; p &lt; 0.5 -&gt; no failure).  </a:t>
            </a:r>
          </a:p>
          <a:p>
            <a:r>
              <a:rPr lang="en-GB" sz="1050" i="1" dirty="0">
                <a:ea typeface="Calibri"/>
                <a:cs typeface="Calibri"/>
              </a:rPr>
              <a:t>To solve this task</a:t>
            </a:r>
            <a:r>
              <a:rPr lang="en-GB" sz="1050" dirty="0">
                <a:ea typeface="Calibri"/>
                <a:cs typeface="Calibri"/>
              </a:rPr>
              <a:t>, we cannot use conventional software because we do not know the exactly rules under which a failure occurs. Besides, many factors may influence the failure simultaneously and there may be complex dependencies between them. Machine Learning is the best way to solve this problem because it automatically finds pattern in the data, uses past observations, and build probability model. </a:t>
            </a:r>
          </a:p>
          <a:p>
            <a:r>
              <a:rPr lang="en-GB" sz="1050" dirty="0">
                <a:ea typeface="Calibri"/>
                <a:cs typeface="Calibri"/>
              </a:rPr>
              <a:t>It is important to note that a ’good model’ for this task should </a:t>
            </a:r>
          </a:p>
          <a:p>
            <a:pPr marL="171450" indent="-171450">
              <a:buFont typeface="Wingdings" pitchFamily="2" charset="2"/>
              <a:buChar char="ü"/>
            </a:pPr>
            <a:r>
              <a:rPr lang="en-GB" sz="1050" dirty="0">
                <a:ea typeface="Calibri"/>
                <a:cs typeface="Calibri"/>
              </a:rPr>
              <a:t>accurately predict infrastructure failure, minimise false negative </a:t>
            </a:r>
          </a:p>
          <a:p>
            <a:r>
              <a:rPr lang="en-GB" sz="1050" dirty="0">
                <a:ea typeface="Calibri"/>
                <a:cs typeface="Calibri"/>
              </a:rPr>
              <a:t>(we need high Recall for failure) to avoid missing high-risk areas and</a:t>
            </a:r>
          </a:p>
          <a:p>
            <a:pPr marL="171450" indent="-171450">
              <a:buFont typeface="Wingdings" pitchFamily="2" charset="2"/>
              <a:buChar char="ü"/>
            </a:pPr>
            <a:r>
              <a:rPr lang="en-GB" sz="1050" dirty="0">
                <a:ea typeface="Calibri"/>
                <a:cs typeface="Calibri"/>
              </a:rPr>
              <a:t>generalise  well to unseen data to be useful in real-world applications. </a:t>
            </a:r>
          </a:p>
          <a:p>
            <a:r>
              <a:rPr lang="en-GB" sz="1050" dirty="0">
                <a:ea typeface="Calibri"/>
                <a:cs typeface="Calibri"/>
              </a:rPr>
              <a:t>It worth to emphasise that care must be taken to avoid overtraining the model and preventing data leakage. </a:t>
            </a:r>
          </a:p>
          <a:p>
            <a:pPr marL="228600" indent="-228600">
              <a:buFont typeface="+mj-lt"/>
              <a:buAutoNum type="arabicPeriod" startAt="2"/>
            </a:pPr>
            <a:r>
              <a:rPr lang="en-GB" sz="1050" b="1" dirty="0">
                <a:ea typeface="Calibri"/>
                <a:cs typeface="Calibri"/>
              </a:rPr>
              <a:t>Data Understanding</a:t>
            </a:r>
          </a:p>
          <a:p>
            <a:r>
              <a:rPr lang="en-GB" sz="1050" dirty="0">
                <a:ea typeface="Calibri"/>
                <a:cs typeface="Calibri"/>
              </a:rPr>
              <a:t>Inputs to the model: almost all of the input variables are continues numeric features which are describing infrastructure and environmental conditions. Only two of them (</a:t>
            </a:r>
            <a:r>
              <a:rPr lang="en-GB" sz="1050" dirty="0" err="1">
                <a:ea typeface="Calibri"/>
                <a:cs typeface="Calibri"/>
              </a:rPr>
              <a:t>inspection_season</a:t>
            </a:r>
            <a:r>
              <a:rPr lang="en-GB" sz="1050" dirty="0">
                <a:ea typeface="Calibri"/>
                <a:cs typeface="Calibri"/>
              </a:rPr>
              <a:t> and </a:t>
            </a:r>
            <a:r>
              <a:rPr lang="en-GB" sz="1050" dirty="0" err="1">
                <a:ea typeface="Calibri"/>
                <a:cs typeface="Calibri"/>
              </a:rPr>
              <a:t>inspection_window</a:t>
            </a:r>
            <a:r>
              <a:rPr lang="en-GB" sz="1050" dirty="0">
                <a:ea typeface="Calibri"/>
                <a:cs typeface="Calibri"/>
              </a:rPr>
              <a:t>) are categorical and need to be encoded by one-hot encoding. Additionally, there is one discrete numeric variable – </a:t>
            </a:r>
            <a:r>
              <a:rPr lang="en-GB" sz="1050" dirty="0" err="1">
                <a:ea typeface="Calibri"/>
                <a:cs typeface="Calibri"/>
              </a:rPr>
              <a:t>inspector_id</a:t>
            </a:r>
            <a:r>
              <a:rPr lang="en-GB" sz="1050" dirty="0">
                <a:ea typeface="Calibri"/>
                <a:cs typeface="Calibri"/>
              </a:rPr>
              <a:t>, - which identifies an inspector and not contain information about infrastructure, so it has almost nothing to do with failure. This variable adds an unnecessary dimension to the model, increase its complexity, and introduces more noise. Thus, it would be best just to remove it from the dataset. </a:t>
            </a:r>
          </a:p>
          <a:p>
            <a:pPr marL="228600" indent="-228600">
              <a:buAutoNum type="arabicPeriod" startAt="2"/>
            </a:pPr>
            <a:r>
              <a:rPr lang="en-GB" sz="1050" dirty="0"/>
              <a:t>Include train/validate/test split and model selection</a:t>
            </a:r>
            <a:endParaRPr lang="en-GB" sz="1050" dirty="0">
              <a:ea typeface="Calibri"/>
              <a:cs typeface="Calibri"/>
            </a:endParaRPr>
          </a:p>
          <a:p>
            <a:pPr marL="228600" indent="-228600">
              <a:buAutoNum type="arabicPeriod" startAt="2"/>
            </a:pPr>
            <a:r>
              <a:rPr lang="en-GB" sz="1050" dirty="0"/>
              <a:t>This list should cover ALL the steps in the process</a:t>
            </a:r>
            <a:endParaRPr lang="en-GB" sz="1050" dirty="0">
              <a:ea typeface="Calibri"/>
              <a:cs typeface="Calibri"/>
            </a:endParaRPr>
          </a:p>
          <a:p>
            <a:pPr marL="228600" indent="-228600">
              <a:buAutoNum type="arabicPeriod" startAt="2"/>
            </a:pPr>
            <a:r>
              <a:rPr lang="en-GB" sz="1050" dirty="0"/>
              <a:t>…</a:t>
            </a:r>
            <a:endParaRPr lang="en-GB" sz="1050" dirty="0">
              <a:ea typeface="Calibri"/>
              <a:cs typeface="Calibri"/>
            </a:endParaRPr>
          </a:p>
          <a:p>
            <a:pPr marL="228600" indent="-228600">
              <a:buAutoNum type="arabicPeriod" startAt="2"/>
            </a:pPr>
            <a:r>
              <a:rPr lang="en-GB" sz="1050" dirty="0"/>
              <a:t>…</a:t>
            </a:r>
            <a:endParaRPr lang="en-GB" sz="1050" dirty="0">
              <a:ea typeface="Calibri"/>
              <a:cs typeface="Calibri"/>
            </a:endParaRP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sp>
        <p:nvSpPr>
          <p:cNvPr id="14" name="TextBox 13">
            <a:extLst>
              <a:ext uri="{FF2B5EF4-FFF2-40B4-BE49-F238E27FC236}">
                <a16:creationId xmlns:a16="http://schemas.microsoft.com/office/drawing/2014/main" id="{720648D2-2C2F-D4B7-A939-01723E5AA434}"/>
              </a:ext>
            </a:extLst>
          </p:cNvPr>
          <p:cNvSpPr txBox="1"/>
          <p:nvPr/>
        </p:nvSpPr>
        <p:spPr>
          <a:xfrm>
            <a:off x="4686999" y="745082"/>
            <a:ext cx="4686223" cy="282385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dirty="0"/>
              <a:t>3 Variables</a:t>
            </a:r>
            <a:endParaRPr lang="en-GB" sz="1000" dirty="0">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dirty="0">
                <a:solidFill>
                  <a:prstClr val="black"/>
                </a:solidFill>
                <a:latin typeface="Calibri" panose="020F0502020204030204"/>
              </a:rPr>
              <a:t>Say which variables you used in your model, and whether you treated then as numeric3 Variables</a:t>
            </a:r>
            <a:endParaRPr lang="en-GB" sz="100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dirty="0">
                <a:solidFill>
                  <a:prstClr val="black"/>
                </a:solidFill>
                <a:latin typeface="Calibri" panose="020F0502020204030204"/>
              </a:rPr>
              <a:t>Say which variables you used in your model, and whether you treated then as numeric or categorical. Explain the impact your choices will have on the models you build. You can use a table:</a:t>
            </a:r>
            <a:endParaRPr lang="en-GB" sz="1000" dirty="0">
              <a:solidFill>
                <a:prstClr val="black"/>
              </a:solidFill>
              <a:latin typeface="Calibri" panose="020F0502020204030204"/>
              <a:ea typeface="Calibri"/>
              <a:cs typeface="Calibri"/>
            </a:endParaRPr>
          </a:p>
          <a:p>
            <a:r>
              <a:rPr lang="en-GB" sz="1000" dirty="0">
                <a:solidFill>
                  <a:prstClr val="black"/>
                </a:solidFill>
                <a:latin typeface="Calibri" panose="020F0502020204030204"/>
              </a:rPr>
              <a:t> or categorical. Explain the impact your choices will have on the models you build. You can use a table:</a:t>
            </a:r>
            <a:endParaRPr lang="en-GB" sz="1000" dirty="0">
              <a:solidFill>
                <a:prstClr val="black"/>
              </a:solidFill>
              <a:latin typeface="Calibri" panose="020F0502020204030204"/>
              <a:ea typeface="Calibri"/>
              <a:cs typeface="Calibri"/>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p:txBody>
      </p:sp>
      <p:sp>
        <p:nvSpPr>
          <p:cNvPr id="16" name="TextBox 15">
            <a:extLst>
              <a:ext uri="{FF2B5EF4-FFF2-40B4-BE49-F238E27FC236}">
                <a16:creationId xmlns:a16="http://schemas.microsoft.com/office/drawing/2014/main" id="{303339E9-D30D-6514-92CD-6CDE78311274}"/>
              </a:ext>
            </a:extLst>
          </p:cNvPr>
          <p:cNvSpPr txBox="1"/>
          <p:nvPr/>
        </p:nvSpPr>
        <p:spPr>
          <a:xfrm>
            <a:off x="4882290" y="5538821"/>
            <a:ext cx="4490932" cy="104644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4. Data Preparation</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Show two histograms here. One should show the distribution of one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variable before it has been cleaned. The other should show the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distribution of the same variable after cleaning. Choose a variable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that needs to be cleaned!!</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22" name="TextBox 21">
            <a:extLst>
              <a:ext uri="{FF2B5EF4-FFF2-40B4-BE49-F238E27FC236}">
                <a16:creationId xmlns:a16="http://schemas.microsoft.com/office/drawing/2014/main" id="{A963A857-22CD-BC85-9293-B211890D5A3A}"/>
              </a:ext>
            </a:extLst>
          </p:cNvPr>
          <p:cNvSpPr txBox="1"/>
          <p:nvPr/>
        </p:nvSpPr>
        <p:spPr>
          <a:xfrm>
            <a:off x="4914384" y="9812406"/>
            <a:ext cx="4178298" cy="253916"/>
          </a:xfrm>
          <a:prstGeom prst="rect">
            <a:avLst/>
          </a:prstGeom>
          <a:noFill/>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Explain what the confusion matrix tells us.</a:t>
            </a:r>
          </a:p>
        </p:txBody>
      </p:sp>
      <p:sp>
        <p:nvSpPr>
          <p:cNvPr id="3" name="TextBox 2">
            <a:extLst>
              <a:ext uri="{FF2B5EF4-FFF2-40B4-BE49-F238E27FC236}">
                <a16:creationId xmlns:a16="http://schemas.microsoft.com/office/drawing/2014/main" id="{483CDE9C-72DC-E883-E910-51206EB5A594}"/>
              </a:ext>
            </a:extLst>
          </p:cNvPr>
          <p:cNvSpPr txBox="1"/>
          <p:nvPr/>
        </p:nvSpPr>
        <p:spPr>
          <a:xfrm>
            <a:off x="4881044" y="10977048"/>
            <a:ext cx="4490932" cy="1261884"/>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sz="2000" dirty="0"/>
              <a:t>7. Insight about data </a:t>
            </a:r>
            <a:r>
              <a:rPr lang="en-GB" sz="2000" b="0" i="0" dirty="0">
                <a:solidFill>
                  <a:srgbClr val="000000"/>
                </a:solidFill>
                <a:effectLst/>
                <a:latin typeface="Calibri"/>
                <a:ea typeface="Calibri"/>
                <a:cs typeface="Calibri"/>
              </a:rPr>
              <a:t>or </a:t>
            </a:r>
            <a:r>
              <a:rPr lang="en-GB" sz="2000" dirty="0">
                <a:solidFill>
                  <a:srgbClr val="000000"/>
                </a:solidFill>
                <a:latin typeface="Calibri"/>
                <a:ea typeface="Calibri"/>
                <a:cs typeface="Calibri"/>
              </a:rPr>
              <a:t>models gained</a:t>
            </a:r>
          </a:p>
          <a:p>
            <a:endParaRPr lang="en-GB" sz="1200" dirty="0">
              <a:solidFill>
                <a:srgbClr val="000000"/>
              </a:solidFill>
              <a:latin typeface="Calibri"/>
              <a:ea typeface="Calibri"/>
              <a:cs typeface="Calibri"/>
            </a:endParaRPr>
          </a:p>
          <a:p>
            <a:pPr marL="457200" indent="-457200">
              <a:buFont typeface="Arial,Sans-Serif"/>
              <a:buChar char="•"/>
            </a:pPr>
            <a:r>
              <a:rPr lang="en-GB" sz="1100" dirty="0">
                <a:solidFill>
                  <a:srgbClr val="000000"/>
                </a:solidFill>
                <a:latin typeface="Calibri"/>
                <a:ea typeface="Calibri"/>
                <a:cs typeface="Calibri"/>
              </a:rPr>
              <a:t>For example</a:t>
            </a:r>
            <a:r>
              <a:rPr lang="en-GB" sz="1100" b="0" i="0" dirty="0">
                <a:solidFill>
                  <a:srgbClr val="000000"/>
                </a:solidFill>
                <a:effectLst/>
                <a:latin typeface="Calibri"/>
                <a:ea typeface="Calibri"/>
                <a:cs typeface="Calibri"/>
              </a:rPr>
              <a:t>, </a:t>
            </a:r>
            <a:r>
              <a:rPr lang="en-GB" sz="1100" dirty="0">
                <a:solidFill>
                  <a:srgbClr val="000000"/>
                </a:solidFill>
                <a:latin typeface="Calibri"/>
                <a:ea typeface="Calibri"/>
                <a:cs typeface="Calibri"/>
              </a:rPr>
              <a:t>did you learn anything about specific features that drive the model? Is the model biased towards particular groups in the data? Is the model you've chosen good for helping us to understand why particular predictions are made?</a:t>
            </a:r>
            <a:endParaRPr lang="en-US" sz="1100" dirty="0">
              <a:solidFill>
                <a:srgbClr val="000000"/>
              </a:solidFill>
              <a:latin typeface="Calibri"/>
              <a:ea typeface="Calibri"/>
              <a:cs typeface="Calibri"/>
            </a:endParaRPr>
          </a:p>
        </p:txBody>
      </p:sp>
    </p:spTree>
    <p:extLst>
      <p:ext uri="{BB962C8B-B14F-4D97-AF65-F5344CB8AC3E}">
        <p14:creationId xmlns:p14="http://schemas.microsoft.com/office/powerpoint/2010/main" val="169875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F1DA950B468274CB53651377B661D5E" ma:contentTypeVersion="4" ma:contentTypeDescription="Create a new document." ma:contentTypeScope="" ma:versionID="27a16cd52dc681f2d631c60625793089">
  <xsd:schema xmlns:xsd="http://www.w3.org/2001/XMLSchema" xmlns:xs="http://www.w3.org/2001/XMLSchema" xmlns:p="http://schemas.microsoft.com/office/2006/metadata/properties" xmlns:ns2="4ce3de0b-3eea-4cb9-8254-1efe69defd32" targetNamespace="http://schemas.microsoft.com/office/2006/metadata/properties" ma:root="true" ma:fieldsID="aa5d8f5ea0382bb42d66b4ec4f495684" ns2:_="">
    <xsd:import namespace="4ce3de0b-3eea-4cb9-8254-1efe69defd3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ce3de0b-3eea-4cb9-8254-1efe69defd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149E239-D122-40A9-AB11-D677033190C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33661331-00C7-43C5-9A5A-50F586F608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ce3de0b-3eea-4cb9-8254-1efe69defd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778572B-7D4E-4A33-82E0-6D91E9A8F67C}">
  <ds:schemaRefs>
    <ds:schemaRef ds:uri="http://schemas.microsoft.com/sharepoint/v3/contenttype/forms"/>
  </ds:schemaRefs>
</ds:datastoreItem>
</file>

<file path=docMetadata/LabelInfo.xml><?xml version="1.0" encoding="utf-8"?>
<clbl:labelList xmlns:clbl="http://schemas.microsoft.com/office/2020/mipLabelMetadata">
  <clbl:label id="{d6fa6db5-9f3a-4c93-9e38-61059ee07e95}" enabled="1" method="Standard" siteId="{4e8d09f7-cc79-4ccb-9149-a4238dd17422}" removed="0"/>
</clbl:labelList>
</file>

<file path=docProps/app.xml><?xml version="1.0" encoding="utf-8"?>
<Properties xmlns="http://schemas.openxmlformats.org/officeDocument/2006/extended-properties" xmlns:vt="http://schemas.openxmlformats.org/officeDocument/2006/docPropsVTypes">
  <TotalTime>1845</TotalTime>
  <Words>700</Words>
  <Application>Microsoft Macintosh PowerPoint</Application>
  <PresentationFormat>A3 Paper (297x420 mm)</PresentationFormat>
  <Paragraphs>94</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Arial,Sans-Serif</vt:lpstr>
      <vt:lpstr>Calibri</vt:lpstr>
      <vt:lpstr>Calibri Light</vt:lpstr>
      <vt:lpstr>Wingdings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Swingler</dc:creator>
  <cp:lastModifiedBy>Kristina Palesheva</cp:lastModifiedBy>
  <cp:revision>72</cp:revision>
  <dcterms:created xsi:type="dcterms:W3CDTF">2022-12-31T18:26:39Z</dcterms:created>
  <dcterms:modified xsi:type="dcterms:W3CDTF">2026-03-27T19:31:06Z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0x0101000F1DA950B468274CB53651377B661D5E</vt:lpwstr>
  </property>
</Properties>
</file>