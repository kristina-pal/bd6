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7"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00"/>
    <p:restoredTop sz="94625"/>
  </p:normalViewPr>
  <p:slideViewPr>
    <p:cSldViewPr snapToGrid="0">
      <p:cViewPr>
        <p:scale>
          <a:sx n="150" d="100"/>
          <a:sy n="150" d="100"/>
        </p:scale>
        <p:origin x="432"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27/03/2026</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27/03/2026</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525101" y="6703042"/>
            <a:ext cx="8848120" cy="2185214"/>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75353" y="8816780"/>
            <a:ext cx="8831538"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540612" y="12021739"/>
            <a:ext cx="4884758" cy="553998"/>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1738814142"/>
              </p:ext>
            </p:extLst>
          </p:nvPr>
        </p:nvGraphicFramePr>
        <p:xfrm>
          <a:off x="589137" y="9555928"/>
          <a:ext cx="4178298" cy="1120548"/>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523220"/>
          </a:xfrm>
          <a:prstGeom prst="rect">
            <a:avLst/>
          </a:prstGeom>
          <a:noFill/>
        </p:spPr>
        <p:txBody>
          <a:bodyPr wrap="square" lIns="91440" tIns="45720" rIns="91440" bIns="45720" rtlCol="0" anchor="t">
            <a:spAutoFit/>
          </a:bodyPr>
          <a:lstStyle/>
          <a:p>
            <a:r>
              <a:rPr lang="en-GB" sz="2800" dirty="0"/>
              <a:t>ITNPBD6 Assignment 1. Student Number </a:t>
            </a:r>
            <a:r>
              <a:rPr lang="en-GB" sz="2800" b="1" dirty="0"/>
              <a:t>3461226</a:t>
            </a:r>
            <a:endParaRPr lang="en-GB" sz="2800" b="1"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930254923"/>
              </p:ext>
            </p:extLst>
          </p:nvPr>
        </p:nvGraphicFramePr>
        <p:xfrm>
          <a:off x="4882290" y="2435450"/>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1291458" y="7603951"/>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475354" y="745082"/>
            <a:ext cx="3964272" cy="3516347"/>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AutoNum type="arabicPeriod"/>
            </a:pPr>
            <a:r>
              <a:rPr lang="en-GB" sz="1050" b="1" dirty="0"/>
              <a:t>Task Understanding</a:t>
            </a:r>
          </a:p>
          <a:p>
            <a:r>
              <a:rPr lang="en-GB" sz="1050" dirty="0">
                <a:ea typeface="Calibri"/>
                <a:cs typeface="Calibri"/>
              </a:rPr>
              <a:t>The goal is to predict the probability of the infrastructure failure in a city block during the monitoring period P(failure=1). </a:t>
            </a:r>
          </a:p>
          <a:p>
            <a:r>
              <a:rPr lang="en-GB" sz="1050" dirty="0">
                <a:ea typeface="Calibri"/>
                <a:cs typeface="Calibri"/>
              </a:rPr>
              <a:t>This is a binary classification task with target variable failure, where 1 – failure occurs, 0 – no failure (p ≥ 0.5 -&gt; failure; p &lt; 0.5 -&gt; </a:t>
            </a:r>
            <a:r>
              <a:rPr lang="en-GB" sz="1050">
                <a:ea typeface="Calibri"/>
                <a:cs typeface="Calibri"/>
              </a:rPr>
              <a:t>no failure).  </a:t>
            </a:r>
            <a:endParaRPr lang="en-GB" sz="1050" dirty="0">
              <a:ea typeface="Calibri"/>
              <a:cs typeface="Calibri"/>
            </a:endParaRPr>
          </a:p>
          <a:p>
            <a:pPr marL="228600" indent="-228600">
              <a:buAutoNum type="arabicPeriod"/>
            </a:pPr>
            <a:r>
              <a:rPr lang="en-GB" sz="1050" dirty="0"/>
              <a:t>Include train/validate/test split and model selection</a:t>
            </a:r>
            <a:endParaRPr lang="en-GB" sz="1050" dirty="0">
              <a:ea typeface="Calibri"/>
              <a:cs typeface="Calibri"/>
            </a:endParaRPr>
          </a:p>
          <a:p>
            <a:pPr marL="228600" indent="-228600">
              <a:buAutoNum type="arabicPeriod"/>
            </a:pPr>
            <a:r>
              <a:rPr lang="en-GB" sz="1050" dirty="0"/>
              <a:t>This list should cover ALL the steps in the process</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sp>
        <p:nvSpPr>
          <p:cNvPr id="14" name="TextBox 13">
            <a:extLst>
              <a:ext uri="{FF2B5EF4-FFF2-40B4-BE49-F238E27FC236}">
                <a16:creationId xmlns:a16="http://schemas.microsoft.com/office/drawing/2014/main" id="{720648D2-2C2F-D4B7-A939-01723E5AA434}"/>
              </a:ext>
            </a:extLst>
          </p:cNvPr>
          <p:cNvSpPr txBox="1"/>
          <p:nvPr/>
        </p:nvSpPr>
        <p:spPr>
          <a:xfrm>
            <a:off x="4569655" y="745082"/>
            <a:ext cx="4803568" cy="282385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dirty="0"/>
              <a:t>3 Variables</a:t>
            </a:r>
            <a:endParaRPr lang="en-GB" sz="100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525101" y="5538821"/>
            <a:ext cx="8848121"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524029" y="10977048"/>
            <a:ext cx="8847947" cy="92333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1795</TotalTime>
  <Words>446</Words>
  <Application>Microsoft Macintosh PowerPoint</Application>
  <PresentationFormat>A3 Paper (297x420 mm)</PresentationFormat>
  <Paragraphs>85</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Arial,Sans-Serif</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67</cp:revision>
  <dcterms:created xsi:type="dcterms:W3CDTF">2022-12-31T18:26:39Z</dcterms:created>
  <dcterms:modified xsi:type="dcterms:W3CDTF">2026-03-27T18:41:16Z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