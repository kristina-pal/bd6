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7" r:id="rId5"/>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11"/>
    <p:restoredTop sz="94625"/>
  </p:normalViewPr>
  <p:slideViewPr>
    <p:cSldViewPr snapToGrid="0">
      <p:cViewPr>
        <p:scale>
          <a:sx n="150" d="100"/>
          <a:sy n="150" d="100"/>
        </p:scale>
        <p:origin x="144" y="-59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5" Type="http://schemas.openxmlformats.org/officeDocument/2006/relationships/slide" Target="slides/slide1.xml"/><Relationship Id="rId4" Type="http://schemas.openxmlformats.org/officeDocument/2006/relationships/slideMaster" Target="slideMasters/slideMaster1.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dirty="0"/>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dirty="0"/>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C388C717-AB61-4AA5-0065-CF8334987466}"/>
              </a:ext>
            </a:extLst>
          </p:cNvPr>
          <p:cNvSpPr txBox="1"/>
          <p:nvPr/>
        </p:nvSpPr>
        <p:spPr>
          <a:xfrm>
            <a:off x="4882289" y="6703042"/>
            <a:ext cx="4490932" cy="2339102"/>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 Parameters</a:t>
            </a:r>
            <a:endParaRPr lang="en-GB" sz="2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A table showing the different models and hyper parameters you trained, along with the correct metric for each; Add a sentence on how you chose the hyper parameter values. Make sure you name the metric correctly.</a:t>
            </a:r>
            <a:endParaRPr lang="en-US" sz="1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5F922132-ED33-E59C-B714-DBB27B5DF6F8}"/>
              </a:ext>
            </a:extLst>
          </p:cNvPr>
          <p:cNvSpPr txBox="1"/>
          <p:nvPr/>
        </p:nvSpPr>
        <p:spPr>
          <a:xfrm>
            <a:off x="4882289" y="8816780"/>
            <a:ext cx="4424602" cy="2015936"/>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Say how you chose the final model to test, and how you trained that model.</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Put the confusion matrix here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8AF6D823-6DA6-9959-0DCB-CCA6AD2DD76E}"/>
              </a:ext>
            </a:extLst>
          </p:cNvPr>
          <p:cNvSpPr txBox="1"/>
          <p:nvPr/>
        </p:nvSpPr>
        <p:spPr>
          <a:xfrm>
            <a:off x="4882288" y="12021739"/>
            <a:ext cx="543081" cy="3693319"/>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dirty="0"/>
              <a:t>8. References</a:t>
            </a:r>
          </a:p>
          <a:p>
            <a:r>
              <a:rPr lang="en-GB" sz="1200" b="0" i="0" dirty="0">
                <a:solidFill>
                  <a:srgbClr val="202122"/>
                </a:solidFill>
                <a:effectLst/>
                <a:latin typeface="Arial" panose="020B0604020202020204" pitchFamily="34" charset="0"/>
              </a:rPr>
              <a:t>[1] If you reference any papers or websites, list them here</a:t>
            </a:r>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11063398"/>
              </p:ext>
            </p:extLst>
          </p:nvPr>
        </p:nvGraphicFramePr>
        <p:xfrm>
          <a:off x="4775726" y="6931436"/>
          <a:ext cx="4443504" cy="1737360"/>
        </p:xfrm>
        <a:graphic>
          <a:graphicData uri="http://schemas.openxmlformats.org/drawingml/2006/table">
            <a:tbl>
              <a:tblPr firstRow="1" bandRow="1">
                <a:tableStyleId>{5C22544A-7EE6-4342-B048-85BDC9FD1C3A}</a:tableStyleId>
              </a:tblPr>
              <a:tblGrid>
                <a:gridCol w="1481168">
                  <a:extLst>
                    <a:ext uri="{9D8B030D-6E8A-4147-A177-3AD203B41FA5}">
                      <a16:colId xmlns:a16="http://schemas.microsoft.com/office/drawing/2014/main" val="1907166431"/>
                    </a:ext>
                  </a:extLst>
                </a:gridCol>
                <a:gridCol w="1865917">
                  <a:extLst>
                    <a:ext uri="{9D8B030D-6E8A-4147-A177-3AD203B41FA5}">
                      <a16:colId xmlns:a16="http://schemas.microsoft.com/office/drawing/2014/main" val="3484362391"/>
                    </a:ext>
                  </a:extLst>
                </a:gridCol>
                <a:gridCol w="1096419">
                  <a:extLst>
                    <a:ext uri="{9D8B030D-6E8A-4147-A177-3AD203B41FA5}">
                      <a16:colId xmlns:a16="http://schemas.microsoft.com/office/drawing/2014/main" val="326053815"/>
                    </a:ext>
                  </a:extLst>
                </a:gridCol>
              </a:tblGrid>
              <a:tr h="561889">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268174">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42633">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374137924"/>
              </p:ext>
            </p:extLst>
          </p:nvPr>
        </p:nvGraphicFramePr>
        <p:xfrm>
          <a:off x="5005441" y="9764892"/>
          <a:ext cx="4178298" cy="1151476"/>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401768">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X</a:t>
                      </a:r>
                    </a:p>
                  </a:txBody>
                  <a:tcPr/>
                </a:tc>
                <a:tc>
                  <a:txBody>
                    <a:bodyPr/>
                    <a:lstStyle/>
                    <a:p>
                      <a:r>
                        <a:rPr lang="en-US" sz="1200" dirty="0"/>
                        <a:t>X</a:t>
                      </a:r>
                      <a:endParaRPr lang="en-GB" sz="1200" dirty="0"/>
                    </a:p>
                  </a:txBody>
                  <a:tcPr/>
                </a:tc>
                <a:extLst>
                  <a:ext uri="{0D108BD9-81ED-4DB2-BD59-A6C34878D82A}">
                    <a16:rowId xmlns:a16="http://schemas.microsoft.com/office/drawing/2014/main" val="1186692526"/>
                  </a:ext>
                </a:extLst>
              </a:tr>
              <a:tr h="378868">
                <a:tc>
                  <a:txBody>
                    <a:bodyPr/>
                    <a:lstStyle/>
                    <a:p>
                      <a:r>
                        <a:rPr lang="en-GB" sz="1200" dirty="0"/>
                        <a:t>Bad</a:t>
                      </a:r>
                    </a:p>
                  </a:txBody>
                  <a:tcPr/>
                </a:tc>
                <a:tc>
                  <a:txBody>
                    <a:bodyPr/>
                    <a:lstStyle/>
                    <a:p>
                      <a:r>
                        <a:rPr lang="en-US" sz="1200" dirty="0"/>
                        <a:t>X</a:t>
                      </a:r>
                      <a:endParaRPr lang="en-GB" sz="1200" dirty="0"/>
                    </a:p>
                  </a:txBody>
                  <a:tcPr/>
                </a:tc>
                <a:tc>
                  <a:txBody>
                    <a:bodyPr/>
                    <a:lstStyle/>
                    <a:p>
                      <a:r>
                        <a:rPr lang="en-US" sz="1200" dirty="0"/>
                        <a:t>X</a:t>
                      </a:r>
                      <a:endParaRPr lang="en-GB" sz="1200" dirty="0"/>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523220"/>
          </a:xfrm>
          <a:prstGeom prst="rect">
            <a:avLst/>
          </a:prstGeom>
          <a:noFill/>
        </p:spPr>
        <p:txBody>
          <a:bodyPr wrap="square" lIns="91440" tIns="45720" rIns="91440" bIns="45720" rtlCol="0" anchor="t">
            <a:spAutoFit/>
          </a:bodyPr>
          <a:lstStyle/>
          <a:p>
            <a:r>
              <a:rPr lang="en-GB" sz="2800" dirty="0"/>
              <a:t>ITNPBD6 Assignment 1. Student Number </a:t>
            </a:r>
            <a:r>
              <a:rPr lang="en-GB" sz="2800" b="1" dirty="0"/>
              <a:t>3461226</a:t>
            </a:r>
            <a:endParaRPr lang="en-GB" sz="2800" b="1" dirty="0">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930254923"/>
              </p:ext>
            </p:extLst>
          </p:nvPr>
        </p:nvGraphicFramePr>
        <p:xfrm>
          <a:off x="4882290" y="2435450"/>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130744" y="5656129"/>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6841409" y="565612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5130744" y="7041596"/>
            <a:ext cx="2320660" cy="830997"/>
          </a:xfrm>
          <a:prstGeom prst="rect">
            <a:avLst/>
          </a:prstGeom>
          <a:noFill/>
          <a:ln w="38100">
            <a:noFill/>
          </a:ln>
        </p:spPr>
        <p:txBody>
          <a:bodyPr wrap="square" rtlCol="0">
            <a:spAutoFit/>
          </a:bodyPr>
          <a:lstStyle/>
          <a:p>
            <a:r>
              <a:rPr lang="en-US" sz="1200" dirty="0">
                <a:solidFill>
                  <a:prstClr val="black"/>
                </a:solidFill>
                <a:latin typeface="Calibri" panose="020F0502020204030204"/>
              </a:rPr>
              <a:t>Explain here how you chose the hyper parameter settings to explore and how you ran your experiments.</a:t>
            </a:r>
            <a:endParaRPr lang="en-GB" sz="1200" dirty="0">
              <a:solidFill>
                <a:prstClr val="black"/>
              </a:solidFill>
              <a:latin typeface="Calibri" panose="020F0502020204030204"/>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475353" y="745082"/>
            <a:ext cx="4211646" cy="11757065"/>
          </a:xfrm>
          <a:prstGeom prst="rect">
            <a:avLst/>
          </a:prstGeom>
          <a:noFill/>
          <a:ln w="38100">
            <a:solidFill>
              <a:schemeClr val="accent1">
                <a:lumMod val="60000"/>
                <a:lumOff val="40000"/>
              </a:schemeClr>
            </a:solidFill>
          </a:ln>
        </p:spPr>
        <p:txBody>
          <a:bodyPr wrap="square" lIns="91440" tIns="45720" rIns="91440" bIns="45720" anchor="t">
            <a:spAutoFit/>
          </a:bodyPr>
          <a:lstStyle/>
          <a:p>
            <a:pPr>
              <a:tabLst>
                <a:tab pos="219075" algn="l"/>
              </a:tabLst>
            </a:pPr>
            <a:r>
              <a:rPr lang="en-GB" sz="2000" dirty="0"/>
              <a:t>2. Project Methodology</a:t>
            </a:r>
          </a:p>
          <a:p>
            <a:pPr>
              <a:buFont typeface="+mj-lt"/>
              <a:buAutoNum type="arabicPeriod"/>
              <a:tabLst>
                <a:tab pos="219075" algn="l"/>
              </a:tabLst>
            </a:pPr>
            <a:r>
              <a:rPr lang="en-GB" sz="1050" b="1" dirty="0"/>
              <a:t>Task Understanding</a:t>
            </a:r>
          </a:p>
          <a:p>
            <a:pPr>
              <a:tabLst>
                <a:tab pos="219075" algn="l"/>
              </a:tabLst>
            </a:pPr>
            <a:r>
              <a:rPr lang="en-GB" sz="1050" dirty="0">
                <a:ea typeface="Calibri"/>
                <a:cs typeface="Calibri"/>
              </a:rPr>
              <a:t>This is a binary classification task with target variable failure, where probability of failure ≥ 0.5 means infrastructure failure. </a:t>
            </a:r>
          </a:p>
          <a:p>
            <a:pPr>
              <a:tabLst>
                <a:tab pos="219075" algn="l"/>
              </a:tabLst>
            </a:pPr>
            <a:r>
              <a:rPr lang="en-GB" sz="1050" i="1" u="sng" dirty="0">
                <a:ea typeface="Calibri"/>
                <a:cs typeface="Calibri"/>
              </a:rPr>
              <a:t>The goal </a:t>
            </a:r>
            <a:r>
              <a:rPr lang="en-GB" sz="1050" dirty="0">
                <a:ea typeface="Calibri"/>
                <a:cs typeface="Calibri"/>
              </a:rPr>
              <a:t>is to predict the probability of the infrastructure failure in a city block during the monitoring period. </a:t>
            </a:r>
          </a:p>
          <a:p>
            <a:pPr>
              <a:tabLst>
                <a:tab pos="219075" algn="l"/>
              </a:tabLst>
            </a:pPr>
            <a:r>
              <a:rPr lang="en-GB" sz="1050" i="1" u="sng" dirty="0">
                <a:ea typeface="Calibri"/>
                <a:cs typeface="Calibri"/>
              </a:rPr>
              <a:t>It is important to note that a ’good model’ for this task should </a:t>
            </a:r>
          </a:p>
          <a:p>
            <a:pPr>
              <a:buFont typeface="Wingdings" pitchFamily="2" charset="2"/>
              <a:buChar char="ü"/>
              <a:tabLst>
                <a:tab pos="219075" algn="l"/>
              </a:tabLst>
            </a:pPr>
            <a:r>
              <a:rPr lang="en-GB" sz="1050" i="1" dirty="0">
                <a:ea typeface="Calibri"/>
                <a:cs typeface="Calibri"/>
              </a:rPr>
              <a:t>accurately predict infrastructure failure;</a:t>
            </a:r>
            <a:endParaRPr lang="en-GB" sz="1050" dirty="0">
              <a:ea typeface="Calibri"/>
              <a:cs typeface="Calibri"/>
            </a:endParaRPr>
          </a:p>
          <a:p>
            <a:pPr>
              <a:buFont typeface="Wingdings" pitchFamily="2" charset="2"/>
              <a:buChar char="ü"/>
              <a:tabLst>
                <a:tab pos="219075" algn="l"/>
              </a:tabLst>
            </a:pPr>
            <a:r>
              <a:rPr lang="en-GB" sz="1050" i="1" dirty="0">
                <a:ea typeface="Calibri"/>
                <a:cs typeface="Calibri"/>
              </a:rPr>
              <a:t>minimise false negative </a:t>
            </a:r>
            <a:r>
              <a:rPr lang="en-GB" sz="1050" dirty="0">
                <a:ea typeface="Calibri"/>
                <a:cs typeface="Calibri"/>
              </a:rPr>
              <a:t>to avoid missing high-risk areas </a:t>
            </a:r>
          </a:p>
          <a:p>
            <a:pPr>
              <a:tabLst>
                <a:tab pos="219075" algn="l"/>
              </a:tabLst>
            </a:pPr>
            <a:r>
              <a:rPr lang="en-GB" sz="1050" dirty="0">
                <a:ea typeface="Calibri"/>
                <a:cs typeface="Calibri"/>
              </a:rPr>
              <a:t>(high Recall for failure is the most important metric for this task) ;</a:t>
            </a:r>
          </a:p>
          <a:p>
            <a:pPr>
              <a:buFont typeface="Wingdings" pitchFamily="2" charset="2"/>
              <a:buChar char="ü"/>
              <a:tabLst>
                <a:tab pos="219075" algn="l"/>
              </a:tabLst>
            </a:pPr>
            <a:r>
              <a:rPr lang="en-GB" sz="1050" i="1" dirty="0">
                <a:ea typeface="Calibri"/>
                <a:cs typeface="Calibri"/>
              </a:rPr>
              <a:t>generalise  well to unseen data</a:t>
            </a:r>
            <a:r>
              <a:rPr lang="en-GB" sz="1050" dirty="0">
                <a:ea typeface="Calibri"/>
                <a:cs typeface="Calibri"/>
              </a:rPr>
              <a:t> to be useful in real-world applications. </a:t>
            </a:r>
          </a:p>
          <a:p>
            <a:pPr>
              <a:tabLst>
                <a:tab pos="219075" algn="l"/>
              </a:tabLst>
            </a:pPr>
            <a:r>
              <a:rPr lang="en-GB" sz="1050" dirty="0">
                <a:ea typeface="Calibri"/>
                <a:cs typeface="Calibri"/>
              </a:rPr>
              <a:t>In addition, it is important to identify which features have the greatest impact on failure, as this can provide valuable insights for decision-making and risk minimisation.</a:t>
            </a:r>
          </a:p>
          <a:p>
            <a:pPr>
              <a:buFont typeface="+mj-lt"/>
              <a:buAutoNum type="arabicPeriod" startAt="2"/>
              <a:tabLst>
                <a:tab pos="219075" algn="l"/>
              </a:tabLst>
            </a:pPr>
            <a:r>
              <a:rPr lang="en-GB" sz="1050" b="1" dirty="0">
                <a:ea typeface="Calibri"/>
                <a:cs typeface="Calibri"/>
              </a:rPr>
              <a:t>Data Understanding</a:t>
            </a:r>
          </a:p>
          <a:p>
            <a:pPr>
              <a:tabLst>
                <a:tab pos="219075" algn="l"/>
              </a:tabLst>
            </a:pPr>
            <a:r>
              <a:rPr lang="en-GB" sz="1050" i="1" u="sng" dirty="0">
                <a:ea typeface="Calibri"/>
                <a:cs typeface="Calibri"/>
              </a:rPr>
              <a:t>Inputs to the model: </a:t>
            </a:r>
            <a:r>
              <a:rPr lang="en-GB" sz="1050" dirty="0">
                <a:ea typeface="Calibri"/>
                <a:cs typeface="Calibri"/>
              </a:rPr>
              <a:t>almost all of the input variables are continues numeric features which are describing infrastructure and environmental conditions. Only two of them (</a:t>
            </a:r>
            <a:r>
              <a:rPr lang="en-GB" sz="1050" dirty="0" err="1">
                <a:ea typeface="Calibri"/>
                <a:cs typeface="Calibri"/>
              </a:rPr>
              <a:t>inspection_season</a:t>
            </a:r>
            <a:r>
              <a:rPr lang="en-GB" sz="1050" dirty="0">
                <a:ea typeface="Calibri"/>
                <a:cs typeface="Calibri"/>
              </a:rPr>
              <a:t> and </a:t>
            </a:r>
            <a:r>
              <a:rPr lang="en-GB" sz="1050" dirty="0" err="1">
                <a:ea typeface="Calibri"/>
                <a:cs typeface="Calibri"/>
              </a:rPr>
              <a:t>inspection_window</a:t>
            </a:r>
            <a:r>
              <a:rPr lang="en-GB" sz="1050" dirty="0">
                <a:ea typeface="Calibri"/>
                <a:cs typeface="Calibri"/>
              </a:rPr>
              <a:t>) are categorical and need to be encoded by one-hot encoding. Additionally, there is one discrete numeric variable – </a:t>
            </a:r>
            <a:r>
              <a:rPr lang="en-GB" sz="1050" dirty="0" err="1">
                <a:ea typeface="Calibri"/>
                <a:cs typeface="Calibri"/>
              </a:rPr>
              <a:t>inspector_id</a:t>
            </a:r>
            <a:r>
              <a:rPr lang="en-GB" sz="1050" dirty="0">
                <a:ea typeface="Calibri"/>
                <a:cs typeface="Calibri"/>
              </a:rPr>
              <a:t>, - which identifies an inspector and not contain information about infrastructure, so it has almost nothing to do with failure. This variable adds an unnecessary dimension to the model, increase its complexity, and introduces more noise. Thus, it would be best just to remove it from the dataset. </a:t>
            </a:r>
          </a:p>
          <a:p>
            <a:pPr>
              <a:tabLst>
                <a:tab pos="219075" algn="l"/>
              </a:tabLst>
            </a:pPr>
            <a:r>
              <a:rPr lang="en-GB" sz="1050" i="1" u="sng" dirty="0">
                <a:ea typeface="Calibri"/>
                <a:cs typeface="Calibri"/>
              </a:rPr>
              <a:t>Output of the model</a:t>
            </a:r>
            <a:r>
              <a:rPr lang="en-GB" sz="1050" dirty="0">
                <a:ea typeface="Calibri"/>
                <a:cs typeface="Calibri"/>
              </a:rPr>
              <a:t> is the binary categorical variable failure (target) which takes values 0 – for no infrastructure failure and 1 - for failure occurs. </a:t>
            </a:r>
          </a:p>
          <a:p>
            <a:pPr>
              <a:tabLst>
                <a:tab pos="219075" algn="l"/>
              </a:tabLst>
            </a:pPr>
            <a:r>
              <a:rPr lang="en-GB" sz="1050" i="1" u="sng" dirty="0">
                <a:ea typeface="Calibri"/>
                <a:cs typeface="Calibri"/>
              </a:rPr>
              <a:t>To solve this task</a:t>
            </a:r>
            <a:r>
              <a:rPr lang="en-GB" sz="1050" dirty="0">
                <a:ea typeface="Calibri"/>
                <a:cs typeface="Calibri"/>
              </a:rPr>
              <a:t>, we cannot use conventional software because we do not know the exactly rules under which a failure occurs. Besides, many factors may influence the failure simultaneously and there may be complex dependencies between them. Machine Learning is the best way to solve this problem because it automatically finds pattern in the data, uses past observations, and build probability model. </a:t>
            </a:r>
          </a:p>
          <a:p>
            <a:pPr>
              <a:tabLst>
                <a:tab pos="219075" algn="l"/>
              </a:tabLst>
            </a:pPr>
            <a:r>
              <a:rPr lang="en-GB" sz="1050" i="1" dirty="0">
                <a:ea typeface="Calibri"/>
                <a:cs typeface="Calibri"/>
              </a:rPr>
              <a:t>It worth to emphasise that care must be taken to avoid overtraining the model and preventing data leakage. </a:t>
            </a:r>
          </a:p>
          <a:p>
            <a:pPr>
              <a:tabLst>
                <a:tab pos="219075" algn="l"/>
              </a:tabLst>
            </a:pPr>
            <a:r>
              <a:rPr lang="en-GB" sz="1050" i="1" u="sng" dirty="0">
                <a:ea typeface="Calibri"/>
                <a:cs typeface="Calibri"/>
              </a:rPr>
              <a:t>Plot the data</a:t>
            </a:r>
            <a:r>
              <a:rPr lang="en-GB" sz="1050" dirty="0">
                <a:ea typeface="Calibri"/>
                <a:cs typeface="Calibri"/>
              </a:rPr>
              <a:t> for better data mining and possible errors identification. </a:t>
            </a:r>
          </a:p>
          <a:p>
            <a:pPr>
              <a:tabLst>
                <a:tab pos="219075" algn="l"/>
              </a:tabLst>
            </a:pPr>
            <a:r>
              <a:rPr lang="en-GB" sz="1050" dirty="0">
                <a:ea typeface="Calibri"/>
                <a:cs typeface="Calibri"/>
              </a:rPr>
              <a:t>Histograms show that some features (like </a:t>
            </a:r>
            <a:r>
              <a:rPr lang="en-GB" sz="1050" dirty="0" err="1">
                <a:ea typeface="Calibri"/>
                <a:cs typeface="Calibri"/>
              </a:rPr>
              <a:t>structural_mass_ratio</a:t>
            </a:r>
            <a:r>
              <a:rPr lang="en-GB" sz="1050" dirty="0">
                <a:ea typeface="Calibri"/>
                <a:cs typeface="Calibri"/>
              </a:rPr>
              <a:t>, </a:t>
            </a:r>
            <a:r>
              <a:rPr lang="en-GB" sz="1050" dirty="0" err="1">
                <a:ea typeface="Calibri"/>
                <a:cs typeface="Calibri"/>
              </a:rPr>
              <a:t>surface_debris</a:t>
            </a:r>
            <a:r>
              <a:rPr lang="en-GB" sz="1050" dirty="0">
                <a:ea typeface="Calibri"/>
                <a:cs typeface="Calibri"/>
              </a:rPr>
              <a:t>, </a:t>
            </a:r>
            <a:r>
              <a:rPr lang="en-GB" sz="1050" dirty="0" err="1">
                <a:ea typeface="Calibri"/>
                <a:cs typeface="Calibri"/>
              </a:rPr>
              <a:t>infrastructure_age</a:t>
            </a:r>
            <a:r>
              <a:rPr lang="en-GB" sz="1050" dirty="0">
                <a:ea typeface="Calibri"/>
                <a:cs typeface="Calibri"/>
              </a:rPr>
              <a:t>, </a:t>
            </a:r>
            <a:r>
              <a:rPr lang="en-GB" sz="1050" dirty="0" err="1">
                <a:ea typeface="Calibri"/>
                <a:cs typeface="Calibri"/>
              </a:rPr>
              <a:t>moisture_stress</a:t>
            </a:r>
            <a:r>
              <a:rPr lang="en-GB" sz="1050" dirty="0">
                <a:ea typeface="Calibri"/>
                <a:cs typeface="Calibri"/>
              </a:rPr>
              <a:t>, </a:t>
            </a:r>
            <a:r>
              <a:rPr lang="en-GB" sz="1050" dirty="0" err="1">
                <a:ea typeface="Calibri"/>
                <a:cs typeface="Calibri"/>
              </a:rPr>
              <a:t>recent_precipitation</a:t>
            </a:r>
            <a:r>
              <a:rPr lang="en-GB" sz="1050" dirty="0">
                <a:ea typeface="Calibri"/>
                <a:cs typeface="Calibri"/>
              </a:rPr>
              <a:t>) have significant impact on failure, where higher values increase probability of failure. </a:t>
            </a:r>
          </a:p>
          <a:p>
            <a:pPr>
              <a:tabLst>
                <a:tab pos="219075" algn="l"/>
              </a:tabLst>
            </a:pPr>
            <a:r>
              <a:rPr lang="en-GB" sz="1050" dirty="0">
                <a:ea typeface="Calibri"/>
                <a:cs typeface="Calibri"/>
              </a:rPr>
              <a:t>By </a:t>
            </a:r>
            <a:r>
              <a:rPr lang="en-GB" sz="1050" dirty="0" err="1">
                <a:ea typeface="Calibri"/>
                <a:cs typeface="Calibri"/>
              </a:rPr>
              <a:t>examing</a:t>
            </a:r>
            <a:r>
              <a:rPr lang="en-GB" sz="1050" dirty="0">
                <a:ea typeface="Calibri"/>
                <a:cs typeface="Calibri"/>
              </a:rPr>
              <a:t> the distribution, it becomes clear that there are some errors in </a:t>
            </a:r>
            <a:r>
              <a:rPr lang="en-GB" sz="1050">
                <a:ea typeface="Calibri"/>
                <a:cs typeface="Calibri"/>
              </a:rPr>
              <a:t>the dataset. </a:t>
            </a:r>
            <a:endParaRPr lang="en-GB" sz="1050" dirty="0">
              <a:ea typeface="Calibri"/>
              <a:cs typeface="Calibri"/>
            </a:endParaRPr>
          </a:p>
          <a:p>
            <a:pPr>
              <a:buFont typeface="+mj-lt"/>
              <a:buAutoNum type="arabicPeriod" startAt="3"/>
              <a:tabLst>
                <a:tab pos="219075" algn="l"/>
              </a:tabLst>
            </a:pPr>
            <a:r>
              <a:rPr lang="en-GB" sz="1050" b="1" dirty="0">
                <a:ea typeface="Calibri"/>
                <a:cs typeface="Calibri"/>
              </a:rPr>
              <a:t>Data Preparation</a:t>
            </a:r>
          </a:p>
          <a:p>
            <a:pPr marL="7938" indent="-7938">
              <a:buFont typeface="Arial" panose="020B0604020202020204" pitchFamily="34" charset="0"/>
              <a:buChar char="•"/>
              <a:tabLst>
                <a:tab pos="219075" algn="l"/>
              </a:tabLst>
            </a:pPr>
            <a:r>
              <a:rPr lang="en-GB" sz="1050" dirty="0">
                <a:ea typeface="Calibri"/>
                <a:cs typeface="Calibri"/>
              </a:rPr>
              <a:t>  Afte visualising the data, the </a:t>
            </a:r>
            <a:r>
              <a:rPr lang="en-GB" sz="1050" dirty="0" err="1">
                <a:ea typeface="Calibri"/>
                <a:cs typeface="Calibri"/>
              </a:rPr>
              <a:t>inspector_id</a:t>
            </a:r>
            <a:r>
              <a:rPr lang="en-GB" sz="1050" dirty="0">
                <a:ea typeface="Calibri"/>
                <a:cs typeface="Calibri"/>
              </a:rPr>
              <a:t>  feature appears to have a flat distribution and therefore, is not useful for prediction. As mentioned before, it should be removed from the dataset at this stage. </a:t>
            </a:r>
          </a:p>
          <a:p>
            <a:pPr marL="7938" indent="-7938">
              <a:buFont typeface="Arial" panose="020B0604020202020204" pitchFamily="34" charset="0"/>
              <a:buChar char="•"/>
              <a:tabLst>
                <a:tab pos="219075" algn="l"/>
              </a:tabLst>
            </a:pPr>
            <a:r>
              <a:rPr lang="en-GB" sz="1050" dirty="0">
                <a:ea typeface="Calibri"/>
                <a:cs typeface="Calibri"/>
              </a:rPr>
              <a:t>  Besides, there are some mistakes can be seen in categorical values (</a:t>
            </a:r>
            <a:r>
              <a:rPr lang="en-GB" sz="1050" dirty="0" err="1">
                <a:ea typeface="Calibri"/>
                <a:cs typeface="Calibri"/>
              </a:rPr>
              <a:t>sumer</a:t>
            </a:r>
            <a:r>
              <a:rPr lang="en-GB" sz="1050" dirty="0">
                <a:ea typeface="Calibri"/>
                <a:cs typeface="Calibri"/>
              </a:rPr>
              <a:t> instead of summer and morni1ng instead of morning). It is appropriate to fix them before splitting the data. </a:t>
            </a:r>
          </a:p>
          <a:p>
            <a:pPr marL="7938" indent="-7938">
              <a:buFont typeface="Arial" panose="020B0604020202020204" pitchFamily="34" charset="0"/>
              <a:buChar char="•"/>
              <a:tabLst>
                <a:tab pos="219075" algn="l"/>
              </a:tabLst>
            </a:pPr>
            <a:r>
              <a:rPr lang="en-GB" sz="1050" dirty="0">
                <a:ea typeface="Calibri"/>
                <a:cs typeface="Calibri"/>
              </a:rPr>
              <a:t>  Additionally, there are 0.2% missing values</a:t>
            </a:r>
            <a:r>
              <a:rPr lang="ru-RU" sz="1050" dirty="0">
                <a:ea typeface="Calibri"/>
                <a:cs typeface="Calibri"/>
              </a:rPr>
              <a:t> (</a:t>
            </a:r>
            <a:r>
              <a:rPr lang="en-GB" sz="1050" dirty="0">
                <a:ea typeface="Calibri"/>
                <a:cs typeface="Calibri"/>
              </a:rPr>
              <a:t>only 11 instances in the dataset), and the best way here is to simply delete these rows  rather than impute impute values. Deleting such a small amount of data is unlikely to affect model performance and it is better option than attempting to estimate missing values. </a:t>
            </a:r>
          </a:p>
          <a:p>
            <a:pPr>
              <a:tabLst>
                <a:tab pos="219075" algn="l"/>
              </a:tabLst>
            </a:pPr>
            <a:endParaRPr lang="en-GB" sz="1050" dirty="0">
              <a:ea typeface="Calibri"/>
              <a:cs typeface="Calibri"/>
            </a:endParaRPr>
          </a:p>
          <a:p>
            <a:pPr>
              <a:tabLst>
                <a:tab pos="219075" algn="l"/>
              </a:tabLst>
            </a:pPr>
            <a:endParaRPr lang="en-GB" sz="1050" dirty="0">
              <a:ea typeface="Calibri"/>
              <a:cs typeface="Calibri"/>
            </a:endParaRPr>
          </a:p>
          <a:p>
            <a:pPr>
              <a:buAutoNum type="arabicPeriod" startAt="2"/>
              <a:tabLst>
                <a:tab pos="219075" algn="l"/>
              </a:tabLst>
            </a:pPr>
            <a:r>
              <a:rPr lang="en-GB" sz="1050" dirty="0"/>
              <a:t>Include train/validate/test split and model selection</a:t>
            </a:r>
            <a:endParaRPr lang="en-GB" sz="1050" dirty="0">
              <a:ea typeface="Calibri"/>
              <a:cs typeface="Calibri"/>
            </a:endParaRPr>
          </a:p>
          <a:p>
            <a:pPr>
              <a:buAutoNum type="arabicPeriod" startAt="2"/>
              <a:tabLst>
                <a:tab pos="219075" algn="l"/>
              </a:tabLst>
            </a:pPr>
            <a:r>
              <a:rPr lang="en-GB" sz="1050" dirty="0"/>
              <a:t>This list should cover ALL the steps in the process</a:t>
            </a:r>
            <a:endParaRPr lang="en-GB" sz="1050" dirty="0">
              <a:ea typeface="Calibri"/>
              <a:cs typeface="Calibri"/>
            </a:endParaRPr>
          </a:p>
          <a:p>
            <a:pPr>
              <a:buAutoNum type="arabicPeriod" startAt="2"/>
              <a:tabLst>
                <a:tab pos="219075" algn="l"/>
              </a:tabLst>
            </a:pPr>
            <a:r>
              <a:rPr lang="en-GB" sz="1050" dirty="0"/>
              <a:t>…</a:t>
            </a:r>
            <a:endParaRPr lang="en-GB" sz="1050" dirty="0">
              <a:ea typeface="Calibri"/>
              <a:cs typeface="Calibri"/>
            </a:endParaRPr>
          </a:p>
          <a:p>
            <a:pPr>
              <a:buAutoNum type="arabicPeriod" startAt="2"/>
              <a:tabLst>
                <a:tab pos="219075" algn="l"/>
              </a:tabLst>
            </a:pPr>
            <a:r>
              <a:rPr lang="en-GB" sz="1050" dirty="0"/>
              <a:t>…</a:t>
            </a:r>
            <a:endParaRPr lang="en-GB" sz="1050" dirty="0">
              <a:ea typeface="Calibri"/>
              <a:cs typeface="Calibri"/>
            </a:endParaRPr>
          </a:p>
          <a:p>
            <a:pPr>
              <a:tabLst>
                <a:tab pos="219075" algn="l"/>
              </a:tabLst>
            </a:pPr>
            <a:endParaRPr lang="en-GB" sz="1200" dirty="0"/>
          </a:p>
          <a:p>
            <a:pPr>
              <a:tabLst>
                <a:tab pos="219075" algn="l"/>
              </a:tabLst>
            </a:pPr>
            <a:endParaRPr lang="en-GB" sz="1200" dirty="0"/>
          </a:p>
          <a:p>
            <a:pPr>
              <a:tabLst>
                <a:tab pos="219075" algn="l"/>
              </a:tabLst>
            </a:pPr>
            <a:endParaRPr lang="en-GB" sz="1200" dirty="0"/>
          </a:p>
          <a:p>
            <a:pPr>
              <a:tabLst>
                <a:tab pos="219075" algn="l"/>
              </a:tabLst>
            </a:pPr>
            <a:endParaRPr lang="en-GB" sz="1200" dirty="0"/>
          </a:p>
          <a:p>
            <a:pPr>
              <a:tabLst>
                <a:tab pos="219075" algn="l"/>
              </a:tabLst>
            </a:pPr>
            <a:endParaRPr lang="en-GB" sz="1200" dirty="0"/>
          </a:p>
          <a:p>
            <a:pPr>
              <a:tabLst>
                <a:tab pos="219075" algn="l"/>
              </a:tabLst>
            </a:pPr>
            <a:endParaRPr lang="en-GB" sz="1200" dirty="0"/>
          </a:p>
          <a:p>
            <a:pPr>
              <a:tabLst>
                <a:tab pos="219075" algn="l"/>
              </a:tabLst>
            </a:pPr>
            <a:endParaRPr lang="en-GB" sz="1200" dirty="0"/>
          </a:p>
          <a:p>
            <a:pPr>
              <a:tabLst>
                <a:tab pos="219075" algn="l"/>
              </a:tabLst>
            </a:pPr>
            <a:endParaRPr lang="en-GB" sz="1200" dirty="0"/>
          </a:p>
          <a:p>
            <a:pPr>
              <a:tabLst>
                <a:tab pos="219075" algn="l"/>
              </a:tabLst>
            </a:pPr>
            <a:endParaRPr lang="en-GB" sz="1200" dirty="0"/>
          </a:p>
        </p:txBody>
      </p:sp>
      <p:sp>
        <p:nvSpPr>
          <p:cNvPr id="14" name="TextBox 13">
            <a:extLst>
              <a:ext uri="{FF2B5EF4-FFF2-40B4-BE49-F238E27FC236}">
                <a16:creationId xmlns:a16="http://schemas.microsoft.com/office/drawing/2014/main" id="{720648D2-2C2F-D4B7-A939-01723E5AA434}"/>
              </a:ext>
            </a:extLst>
          </p:cNvPr>
          <p:cNvSpPr txBox="1"/>
          <p:nvPr/>
        </p:nvSpPr>
        <p:spPr>
          <a:xfrm>
            <a:off x="4686999" y="745082"/>
            <a:ext cx="4686223" cy="282385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dirty="0"/>
              <a:t>3 Variables</a:t>
            </a:r>
            <a:endParaRPr lang="en-GB" sz="1000" dirty="0">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numeric3 Variables</a:t>
            </a:r>
            <a:endParaRPr lang="en-GB" sz="100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r>
              <a:rPr lang="en-GB" sz="1000" dirty="0">
                <a:solidFill>
                  <a:prstClr val="black"/>
                </a:solidFill>
                <a:latin typeface="Calibri" panose="020F0502020204030204"/>
              </a:rPr>
              <a:t>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p:txBody>
      </p:sp>
      <p:sp>
        <p:nvSpPr>
          <p:cNvPr id="16" name="TextBox 15">
            <a:extLst>
              <a:ext uri="{FF2B5EF4-FFF2-40B4-BE49-F238E27FC236}">
                <a16:creationId xmlns:a16="http://schemas.microsoft.com/office/drawing/2014/main" id="{303339E9-D30D-6514-92CD-6CDE78311274}"/>
              </a:ext>
            </a:extLst>
          </p:cNvPr>
          <p:cNvSpPr txBox="1"/>
          <p:nvPr/>
        </p:nvSpPr>
        <p:spPr>
          <a:xfrm>
            <a:off x="4882290" y="5538821"/>
            <a:ext cx="4490932" cy="104644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Show two histograms here. One should show the distribution of one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variable before it has been cleaned. The other should show the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distribution of the same variable after cleaning. Choose a variable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that needs to be cleaned!!</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22" name="TextBox 21">
            <a:extLst>
              <a:ext uri="{FF2B5EF4-FFF2-40B4-BE49-F238E27FC236}">
                <a16:creationId xmlns:a16="http://schemas.microsoft.com/office/drawing/2014/main" id="{A963A857-22CD-BC85-9293-B211890D5A3A}"/>
              </a:ext>
            </a:extLst>
          </p:cNvPr>
          <p:cNvSpPr txBox="1"/>
          <p:nvPr/>
        </p:nvSpPr>
        <p:spPr>
          <a:xfrm>
            <a:off x="4914384" y="9812406"/>
            <a:ext cx="4178298" cy="253916"/>
          </a:xfrm>
          <a:prstGeom prst="rect">
            <a:avLst/>
          </a:prstGeom>
          <a:noFill/>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Explain what the confusion matrix tells us.</a:t>
            </a:r>
          </a:p>
        </p:txBody>
      </p:sp>
      <p:sp>
        <p:nvSpPr>
          <p:cNvPr id="3" name="TextBox 2">
            <a:extLst>
              <a:ext uri="{FF2B5EF4-FFF2-40B4-BE49-F238E27FC236}">
                <a16:creationId xmlns:a16="http://schemas.microsoft.com/office/drawing/2014/main" id="{483CDE9C-72DC-E883-E910-51206EB5A594}"/>
              </a:ext>
            </a:extLst>
          </p:cNvPr>
          <p:cNvSpPr txBox="1"/>
          <p:nvPr/>
        </p:nvSpPr>
        <p:spPr>
          <a:xfrm>
            <a:off x="4881044" y="10977048"/>
            <a:ext cx="4490932" cy="1261884"/>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2000" dirty="0"/>
              <a:t>7. Insight about data </a:t>
            </a:r>
            <a:r>
              <a:rPr lang="en-GB" sz="2000" b="0" i="0" dirty="0">
                <a:solidFill>
                  <a:srgbClr val="000000"/>
                </a:solidFill>
                <a:effectLst/>
                <a:latin typeface="Calibri"/>
                <a:ea typeface="Calibri"/>
                <a:cs typeface="Calibri"/>
              </a:rPr>
              <a:t>or </a:t>
            </a:r>
            <a:r>
              <a:rPr lang="en-GB" sz="2000" dirty="0">
                <a:solidFill>
                  <a:srgbClr val="000000"/>
                </a:solidFill>
                <a:latin typeface="Calibri"/>
                <a:ea typeface="Calibri"/>
                <a:cs typeface="Calibri"/>
              </a:rPr>
              <a:t>models gained</a:t>
            </a:r>
          </a:p>
          <a:p>
            <a:endParaRPr lang="en-GB" sz="1200" dirty="0">
              <a:solidFill>
                <a:srgbClr val="000000"/>
              </a:solidFill>
              <a:latin typeface="Calibri"/>
              <a:ea typeface="Calibri"/>
              <a:cs typeface="Calibri"/>
            </a:endParaRPr>
          </a:p>
          <a:p>
            <a:pPr marL="457200" indent="-457200">
              <a:buFont typeface="Arial,Sans-Serif"/>
              <a:buChar char="•"/>
            </a:pPr>
            <a:r>
              <a:rPr lang="en-GB" sz="1100" dirty="0">
                <a:solidFill>
                  <a:srgbClr val="000000"/>
                </a:solidFill>
                <a:latin typeface="Calibri"/>
                <a:ea typeface="Calibri"/>
                <a:cs typeface="Calibri"/>
              </a:rPr>
              <a:t>For example</a:t>
            </a:r>
            <a:r>
              <a:rPr lang="en-GB" sz="1100" b="0" i="0" dirty="0">
                <a:solidFill>
                  <a:srgbClr val="000000"/>
                </a:solidFill>
                <a:effectLst/>
                <a:latin typeface="Calibri"/>
                <a:ea typeface="Calibri"/>
                <a:cs typeface="Calibri"/>
              </a:rPr>
              <a:t>, </a:t>
            </a:r>
            <a:r>
              <a:rPr lang="en-GB" sz="1100" dirty="0">
                <a:solidFill>
                  <a:srgbClr val="000000"/>
                </a:solidFill>
                <a:latin typeface="Calibri"/>
                <a:ea typeface="Calibri"/>
                <a:cs typeface="Calibri"/>
              </a:rPr>
              <a:t>did you learn anything about specific features that drive the model? Is the model biased towards particular groups in the data? Is the model you've chosen good for helping us to understand why particular predictions are made?</a:t>
            </a:r>
            <a:endParaRPr lang="en-US" sz="1100" dirty="0">
              <a:solidFill>
                <a:srgbClr val="000000"/>
              </a:solidFill>
              <a:latin typeface="Calibri"/>
              <a:ea typeface="Calibri"/>
              <a:cs typeface="Calibri"/>
            </a:endParaRPr>
          </a:p>
        </p:txBody>
      </p:sp>
    </p:spTree>
    <p:extLst>
      <p:ext uri="{BB962C8B-B14F-4D97-AF65-F5344CB8AC3E}">
        <p14:creationId xmlns:p14="http://schemas.microsoft.com/office/powerpoint/2010/main" val="169875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78572B-7D4E-4A33-82E0-6D91E9A8F67C}">
  <ds:schemaRefs>
    <ds:schemaRef ds:uri="http://schemas.microsoft.com/sharepoint/v3/contenttype/form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2735</TotalTime>
  <Words>954</Words>
  <Application>Microsoft Macintosh PowerPoint</Application>
  <PresentationFormat>A3 Paper (297x420 mm)</PresentationFormat>
  <Paragraphs>105</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Arial,Sans-Serif</vt:lpstr>
      <vt:lpstr>Calibri</vt:lpstr>
      <vt:lpstr>Calibri Light</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Kristina Palesheva</cp:lastModifiedBy>
  <cp:revision>85</cp:revision>
  <dcterms:created xsi:type="dcterms:W3CDTF">2022-12-31T18:26:39Z</dcterms:created>
  <dcterms:modified xsi:type="dcterms:W3CDTF">2026-03-28T10:20:59Z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