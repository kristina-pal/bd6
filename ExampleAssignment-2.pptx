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7" r:id="rId5"/>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20"/>
    <p:restoredTop sz="94633"/>
  </p:normalViewPr>
  <p:slideViewPr>
    <p:cSldViewPr snapToGrid="0">
      <p:cViewPr>
        <p:scale>
          <a:sx n="150" d="100"/>
          <a:sy n="150" d="100"/>
        </p:scale>
        <p:origin x="168"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81C62-087E-7F47-88D8-A24797D27634}" type="datetimeFigureOut">
              <a:rPr lang="en-GB" smtClean="0"/>
              <a:t>30/03/2026</a:t>
            </a:fld>
            <a:endParaRPr lang="en-GB"/>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278964-BD01-BE4E-B748-6EF75C033301}" type="slidenum">
              <a:rPr lang="en-GB" smtClean="0"/>
              <a:t>‹#›</a:t>
            </a:fld>
            <a:endParaRPr lang="en-GB"/>
          </a:p>
        </p:txBody>
      </p:sp>
    </p:spTree>
    <p:extLst>
      <p:ext uri="{BB962C8B-B14F-4D97-AF65-F5344CB8AC3E}">
        <p14:creationId xmlns:p14="http://schemas.microsoft.com/office/powerpoint/2010/main" val="2988147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F278964-BD01-BE4E-B748-6EF75C033301}" type="slidenum">
              <a:rPr lang="en-GB" smtClean="0"/>
              <a:t>1</a:t>
            </a:fld>
            <a:endParaRPr lang="en-GB"/>
          </a:p>
        </p:txBody>
      </p:sp>
    </p:spTree>
    <p:extLst>
      <p:ext uri="{BB962C8B-B14F-4D97-AF65-F5344CB8AC3E}">
        <p14:creationId xmlns:p14="http://schemas.microsoft.com/office/powerpoint/2010/main" val="3470581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30/03/2026</a:t>
            </a:fld>
            <a:endParaRPr lang="en-GB"/>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5F922132-ED33-E59C-B714-DBB27B5DF6F8}"/>
              </a:ext>
            </a:extLst>
          </p:cNvPr>
          <p:cNvSpPr txBox="1"/>
          <p:nvPr/>
        </p:nvSpPr>
        <p:spPr>
          <a:xfrm>
            <a:off x="6742041" y="2621528"/>
            <a:ext cx="2537426" cy="6863417"/>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6. Final Model </a:t>
            </a:r>
            <a:r>
              <a:rPr lang="en-GB" dirty="0">
                <a:solidFill>
                  <a:prstClr val="black"/>
                </a:solidFill>
                <a:latin typeface="Calibri" panose="020F0502020204030204"/>
              </a:rPr>
              <a:t>&amp; </a:t>
            </a: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Results</a:t>
            </a:r>
          </a:p>
          <a:p>
            <a:pPr lvl="0" defTabSz="1706910">
              <a:defRPr/>
            </a:pPr>
            <a:r>
              <a:rPr lang="en-GB" sz="1000" dirty="0">
                <a:solidFill>
                  <a:prstClr val="black"/>
                </a:solidFill>
              </a:rPr>
              <a:t>After incorporating Feature Selection as part of the model optimisation process, </a:t>
            </a:r>
            <a:r>
              <a:rPr lang="en-GB" sz="1000" b="1" dirty="0">
                <a:solidFill>
                  <a:prstClr val="black"/>
                </a:solidFill>
              </a:rPr>
              <a:t>Logistic Regression achieved the best performance, with the highest recall (Recall = 0.935, AUC = 0.972)</a:t>
            </a:r>
            <a:r>
              <a:rPr lang="en-GB" sz="1000" dirty="0">
                <a:solidFill>
                  <a:prstClr val="black"/>
                </a:solidFill>
              </a:rPr>
              <a:t>, and was therefore selected as the final model. This makes it a suitable for this task, where minimising false negatives is critical. </a:t>
            </a: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00" dirty="0">
              <a:solidFill>
                <a:prstClr val="black"/>
              </a:solidFill>
              <a:latin typeface="Calibri" panose="020F0502020204030204"/>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00" dirty="0">
              <a:solidFill>
                <a:prstClr val="black"/>
              </a:solidFill>
              <a:latin typeface="Calibri" panose="020F0502020204030204"/>
            </a:endParaRPr>
          </a:p>
          <a:p>
            <a:pPr lvl="0" defTabSz="1706910">
              <a:defRPr/>
            </a:pPr>
            <a:endParaRPr kumimoji="0" lang="ru-RU"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ru-RU" sz="10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r>
              <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rPr>
              <a:t>Confusion Matrix shows the following:</a:t>
            </a:r>
          </a:p>
          <a:p>
            <a:pPr lvl="0" defTabSz="1706910">
              <a:defRPr/>
            </a:pPr>
            <a:r>
              <a:rPr lang="en-GB" sz="1000" i="1" dirty="0">
                <a:ea typeface="Calibri"/>
                <a:cs typeface="Calibri"/>
              </a:rPr>
              <a:t>• </a:t>
            </a:r>
            <a:r>
              <a:rPr lang="en-GB" sz="1000" dirty="0">
                <a:solidFill>
                  <a:prstClr val="black"/>
                </a:solidFill>
              </a:rPr>
              <a:t>True Negatives </a:t>
            </a:r>
            <a:r>
              <a:rPr lang="en-GB" sz="1000" b="1" dirty="0">
                <a:solidFill>
                  <a:prstClr val="black"/>
                </a:solidFill>
              </a:rPr>
              <a:t>(TN) = 81 </a:t>
            </a:r>
            <a:endParaRPr lang="ru-RU" sz="1000" b="1" dirty="0">
              <a:solidFill>
                <a:prstClr val="black"/>
              </a:solidFill>
            </a:endParaRPr>
          </a:p>
          <a:p>
            <a:pPr lvl="0" defTabSz="1706910">
              <a:defRPr/>
            </a:pPr>
            <a:r>
              <a:rPr lang="ru-RU" sz="1000" dirty="0">
                <a:solidFill>
                  <a:prstClr val="black"/>
                </a:solidFill>
              </a:rPr>
              <a:t>   </a:t>
            </a:r>
            <a:r>
              <a:rPr lang="en-GB" sz="1000" dirty="0">
                <a:solidFill>
                  <a:prstClr val="black"/>
                </a:solidFill>
              </a:rPr>
              <a:t>(correctly predicted no failure);</a:t>
            </a:r>
          </a:p>
          <a:p>
            <a:pPr lvl="0" defTabSz="1706910">
              <a:defRPr/>
            </a:pPr>
            <a:r>
              <a:rPr lang="en-GB" sz="1000" i="1" dirty="0">
                <a:ea typeface="Calibri"/>
                <a:cs typeface="Calibri"/>
              </a:rPr>
              <a:t>• </a:t>
            </a:r>
            <a:r>
              <a:rPr lang="en-GB" sz="1000" dirty="0">
                <a:solidFill>
                  <a:prstClr val="black"/>
                </a:solidFill>
              </a:rPr>
              <a:t>False Positives </a:t>
            </a:r>
            <a:r>
              <a:rPr lang="en-GB" sz="1000" b="1" dirty="0">
                <a:solidFill>
                  <a:prstClr val="black"/>
                </a:solidFill>
              </a:rPr>
              <a:t>(FP) = 5 </a:t>
            </a:r>
            <a:endParaRPr lang="ru-RU" sz="1000" b="1" dirty="0">
              <a:solidFill>
                <a:prstClr val="black"/>
              </a:solidFill>
            </a:endParaRPr>
          </a:p>
          <a:p>
            <a:pPr lvl="0" defTabSz="1706910">
              <a:defRPr/>
            </a:pPr>
            <a:r>
              <a:rPr lang="ru-RU" sz="1000" dirty="0">
                <a:solidFill>
                  <a:prstClr val="black"/>
                </a:solidFill>
              </a:rPr>
              <a:t>   </a:t>
            </a:r>
            <a:r>
              <a:rPr lang="en-GB" sz="1000" dirty="0">
                <a:solidFill>
                  <a:prstClr val="black"/>
                </a:solidFill>
              </a:rPr>
              <a:t>(predicted a failure when none occurred);</a:t>
            </a:r>
          </a:p>
          <a:p>
            <a:pPr lvl="0" defTabSz="1706910">
              <a:defRPr/>
            </a:pPr>
            <a:r>
              <a:rPr lang="en-GB" sz="1000" i="1" dirty="0">
                <a:ea typeface="Calibri"/>
                <a:cs typeface="Calibri"/>
              </a:rPr>
              <a:t>• </a:t>
            </a:r>
            <a:r>
              <a:rPr lang="en-GB" sz="1000" dirty="0">
                <a:solidFill>
                  <a:prstClr val="black"/>
                </a:solidFill>
              </a:rPr>
              <a:t>False Negatives </a:t>
            </a:r>
            <a:r>
              <a:rPr lang="en-GB" sz="1000" b="1" dirty="0">
                <a:solidFill>
                  <a:prstClr val="black"/>
                </a:solidFill>
              </a:rPr>
              <a:t>(FN) = 5 </a:t>
            </a:r>
            <a:endParaRPr lang="ru-RU" sz="1000" b="1" dirty="0">
              <a:solidFill>
                <a:prstClr val="black"/>
              </a:solidFill>
            </a:endParaRPr>
          </a:p>
          <a:p>
            <a:pPr lvl="0" defTabSz="1706910">
              <a:defRPr/>
            </a:pPr>
            <a:r>
              <a:rPr lang="ru-RU" sz="1000" dirty="0">
                <a:solidFill>
                  <a:prstClr val="black"/>
                </a:solidFill>
              </a:rPr>
              <a:t>   </a:t>
            </a:r>
            <a:r>
              <a:rPr lang="en-GB" sz="1000" dirty="0">
                <a:solidFill>
                  <a:prstClr val="black"/>
                </a:solidFill>
              </a:rPr>
              <a:t>(the model missed a failure case);</a:t>
            </a:r>
          </a:p>
          <a:p>
            <a:pPr lvl="0" defTabSz="1706910">
              <a:defRPr/>
            </a:pPr>
            <a:r>
              <a:rPr lang="en-GB" sz="1000" i="1" dirty="0">
                <a:ea typeface="Calibri"/>
                <a:cs typeface="Calibri"/>
              </a:rPr>
              <a:t>• </a:t>
            </a:r>
            <a:r>
              <a:rPr lang="en-GB" sz="1000" dirty="0">
                <a:solidFill>
                  <a:prstClr val="black"/>
                </a:solidFill>
              </a:rPr>
              <a:t>True Positives </a:t>
            </a:r>
            <a:r>
              <a:rPr lang="en-GB" sz="1000" b="1" dirty="0">
                <a:solidFill>
                  <a:prstClr val="black"/>
                </a:solidFill>
              </a:rPr>
              <a:t>(TP) = 42 </a:t>
            </a:r>
            <a:endParaRPr lang="ru-RU" sz="1000" b="1" dirty="0">
              <a:solidFill>
                <a:prstClr val="black"/>
              </a:solidFill>
            </a:endParaRPr>
          </a:p>
          <a:p>
            <a:pPr lvl="0" defTabSz="1706910">
              <a:defRPr/>
            </a:pPr>
            <a:r>
              <a:rPr lang="ru-RU" sz="1000" dirty="0">
                <a:solidFill>
                  <a:prstClr val="black"/>
                </a:solidFill>
              </a:rPr>
              <a:t>   </a:t>
            </a:r>
            <a:r>
              <a:rPr lang="en-GB" sz="1000" dirty="0">
                <a:solidFill>
                  <a:prstClr val="black"/>
                </a:solidFill>
              </a:rPr>
              <a:t>(correctly detected failure cases). </a:t>
            </a:r>
            <a:endParaRPr lang="ru-RU" sz="1000" dirty="0">
              <a:solidFill>
                <a:prstClr val="black"/>
              </a:solidFill>
            </a:endParaRPr>
          </a:p>
          <a:p>
            <a:pPr lvl="0" defTabSz="1706910">
              <a:defRPr/>
            </a:pPr>
            <a:endParaRPr lang="en-GB" sz="1000" dirty="0">
              <a:solidFill>
                <a:prstClr val="black"/>
              </a:solidFill>
            </a:endParaRPr>
          </a:p>
          <a:p>
            <a:pPr lvl="0" defTabSz="1706910">
              <a:defRPr/>
            </a:pPr>
            <a:r>
              <a:rPr lang="en-GB" sz="1000" b="1" dirty="0">
                <a:solidFill>
                  <a:prstClr val="black"/>
                </a:solidFill>
              </a:rPr>
              <a:t>Recall = TP / (TP + FN) = 42 / (42 + 5) ≈ 0.894</a:t>
            </a:r>
          </a:p>
          <a:p>
            <a:pPr lvl="0" defTabSz="1706910">
              <a:defRPr/>
            </a:pPr>
            <a:r>
              <a:rPr lang="en-GB" sz="1000" i="1" dirty="0">
                <a:solidFill>
                  <a:prstClr val="black"/>
                </a:solidFill>
              </a:rPr>
              <a:t>This means that the model correctly identifies about 89.4% of all failure cases. </a:t>
            </a:r>
          </a:p>
          <a:p>
            <a:pPr lvl="0" defTabSz="1706910">
              <a:defRPr/>
            </a:pPr>
            <a:endParaRPr lang="ru-RU" sz="1000" dirty="0">
              <a:solidFill>
                <a:prstClr val="black"/>
              </a:solidFill>
            </a:endParaRPr>
          </a:p>
          <a:p>
            <a:pPr lvl="0" defTabSz="1706910">
              <a:defRPr/>
            </a:pPr>
            <a:r>
              <a:rPr lang="en-GB" sz="1000" dirty="0">
                <a:solidFill>
                  <a:prstClr val="black"/>
                </a:solidFill>
              </a:rPr>
              <a:t>The Recall obtained from the confusion matrix differs slightly from the cross-validation result, as it is calculated on a single test split rather than averaged across 5 folds. Cross-validation provides a more robust assessment of model performance, while the confusion matrix reflects performance on a specific dataset.</a:t>
            </a:r>
            <a:endParaRPr lang="ru-RU" sz="1000" dirty="0">
              <a:solidFill>
                <a:prstClr val="black"/>
              </a:solidFill>
            </a:endParaRPr>
          </a:p>
          <a:p>
            <a:pPr lvl="0" defTabSz="1706910">
              <a:defRPr/>
            </a:pPr>
            <a:endParaRPr lang="en-GB" sz="1000" dirty="0">
              <a:solidFill>
                <a:prstClr val="black"/>
              </a:solidFill>
            </a:endParaRPr>
          </a:p>
          <a:p>
            <a:pPr lvl="0" defTabSz="1706910">
              <a:defRPr/>
            </a:pPr>
            <a:r>
              <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rPr>
              <a:t>Overall</a:t>
            </a:r>
            <a:r>
              <a:rPr lang="en-GB" sz="1000" b="1" dirty="0">
                <a:solidFill>
                  <a:prstClr val="black"/>
                </a:solidFill>
              </a:rPr>
              <a:t>, the relatively low number of false negatives indicates that the model is effective at identifying high-risk cases. </a:t>
            </a:r>
            <a:endParaRPr kumimoji="0" lang="en-GB" sz="10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D64EC670-AB4A-C9DA-C649-64F97B96CE99}"/>
              </a:ext>
            </a:extLst>
          </p:cNvPr>
          <p:cNvPicPr>
            <a:picLocks noChangeAspect="1"/>
          </p:cNvPicPr>
          <p:nvPr/>
        </p:nvPicPr>
        <p:blipFill>
          <a:blip r:embed="rId3"/>
          <a:stretch>
            <a:fillRect/>
          </a:stretch>
        </p:blipFill>
        <p:spPr>
          <a:xfrm>
            <a:off x="6918176" y="4162306"/>
            <a:ext cx="1930212" cy="1054800"/>
          </a:xfrm>
          <a:prstGeom prst="rect">
            <a:avLst/>
          </a:prstGeom>
        </p:spPr>
      </p:pic>
      <p:sp>
        <p:nvSpPr>
          <p:cNvPr id="18" name="TextBox 17">
            <a:extLst>
              <a:ext uri="{FF2B5EF4-FFF2-40B4-BE49-F238E27FC236}">
                <a16:creationId xmlns:a16="http://schemas.microsoft.com/office/drawing/2014/main" id="{C388C717-AB61-4AA5-0065-CF8334987466}"/>
              </a:ext>
            </a:extLst>
          </p:cNvPr>
          <p:cNvSpPr txBox="1"/>
          <p:nvPr/>
        </p:nvSpPr>
        <p:spPr>
          <a:xfrm>
            <a:off x="351666" y="2689960"/>
            <a:ext cx="6277733" cy="4185761"/>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5. Model Training and Hyperparameters</a:t>
            </a:r>
            <a:endParaRPr lang="en-GB"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lvl="0" defTabSz="1706910">
              <a:defRPr/>
            </a:pPr>
            <a:r>
              <a:rPr lang="en-GB" sz="1000" dirty="0">
                <a:ea typeface="Calibri"/>
                <a:cs typeface="Calibri"/>
              </a:rPr>
              <a:t>A number of models were built using different hyperparameter settings. A</a:t>
            </a:r>
            <a:r>
              <a:rPr lang="ru-RU" sz="1000" dirty="0">
                <a:ea typeface="Calibri"/>
                <a:cs typeface="Calibri"/>
              </a:rPr>
              <a:t> </a:t>
            </a:r>
            <a:r>
              <a:rPr lang="en-GB" sz="1000" dirty="0">
                <a:ea typeface="Calibri"/>
                <a:cs typeface="Calibri"/>
              </a:rPr>
              <a:t>systematic approach was applied, where only one hyperparameter was varied at a time. Each model was evaluated using 5-fold cross-validation. </a:t>
            </a:r>
          </a:p>
          <a:p>
            <a:pPr lvl="0" defTabSz="1706910">
              <a:defRPr/>
            </a:pPr>
            <a:r>
              <a:rPr lang="en-GB" sz="1000" dirty="0">
                <a:ea typeface="Calibri"/>
                <a:cs typeface="Calibri"/>
              </a:rPr>
              <a:t>The optimal hyperparameter configuration was selected based on maximising Recall, with AUC used as a secondary performance metric.</a:t>
            </a:r>
          </a:p>
          <a:p>
            <a:pPr lvl="0" defTabSz="1706910">
              <a:defRPr/>
            </a:pPr>
            <a:endParaRPr lang="en-GB" sz="1000" dirty="0">
              <a:ea typeface="Calibri"/>
              <a:cs typeface="Calibri"/>
            </a:endParaRPr>
          </a:p>
          <a:p>
            <a:pPr lvl="0" defTabSz="1706910">
              <a:defRPr/>
            </a:pPr>
            <a:endParaRPr lang="en-GB" sz="1000" dirty="0">
              <a:ea typeface="Calibri"/>
              <a:cs typeface="Calibri"/>
            </a:endParaRPr>
          </a:p>
          <a:p>
            <a:pPr lvl="0" defTabSz="1706910">
              <a:defRPr/>
            </a:pPr>
            <a:endParaRPr lang="en-GB" sz="1000" dirty="0">
              <a:ea typeface="Calibri"/>
              <a:cs typeface="Calibri"/>
            </a:endParaRPr>
          </a:p>
          <a:p>
            <a:pPr lvl="0" defTabSz="1706910">
              <a:defRPr/>
            </a:pPr>
            <a:endParaRPr lang="en-GB" sz="1000" dirty="0">
              <a:ea typeface="Calibri"/>
              <a:cs typeface="Calibri"/>
            </a:endParaRPr>
          </a:p>
          <a:p>
            <a:pPr lvl="0" defTabSz="1706910">
              <a:defRPr/>
            </a:pPr>
            <a:endParaRPr lang="en-GB" sz="1000" dirty="0">
              <a:ea typeface="Calibri"/>
              <a:cs typeface="Calibri"/>
            </a:endParaRPr>
          </a:p>
          <a:p>
            <a:pPr lvl="0" defTabSz="1706910">
              <a:defRPr/>
            </a:pPr>
            <a:endParaRPr lang="en-GB" sz="1000" dirty="0">
              <a:ea typeface="Calibri"/>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Table 7">
            <a:extLst>
              <a:ext uri="{FF2B5EF4-FFF2-40B4-BE49-F238E27FC236}">
                <a16:creationId xmlns:a16="http://schemas.microsoft.com/office/drawing/2014/main" id="{FBE95B7C-B010-6D30-1BB3-D0BB1817071D}"/>
              </a:ext>
            </a:extLst>
          </p:cNvPr>
          <p:cNvGraphicFramePr>
            <a:graphicFrameLocks noGrp="1"/>
          </p:cNvGraphicFramePr>
          <p:nvPr>
            <p:extLst>
              <p:ext uri="{D42A27DB-BD31-4B8C-83A1-F6EECF244321}">
                <p14:modId xmlns:p14="http://schemas.microsoft.com/office/powerpoint/2010/main" val="147152562"/>
              </p:ext>
            </p:extLst>
          </p:nvPr>
        </p:nvGraphicFramePr>
        <p:xfrm>
          <a:off x="464308" y="3704236"/>
          <a:ext cx="6052448" cy="3086100"/>
        </p:xfrm>
        <a:graphic>
          <a:graphicData uri="http://schemas.openxmlformats.org/drawingml/2006/table">
            <a:tbl>
              <a:tblPr firstRow="1" bandRow="1">
                <a:tableStyleId>{5C22544A-7EE6-4342-B048-85BDC9FD1C3A}</a:tableStyleId>
              </a:tblPr>
              <a:tblGrid>
                <a:gridCol w="803114">
                  <a:extLst>
                    <a:ext uri="{9D8B030D-6E8A-4147-A177-3AD203B41FA5}">
                      <a16:colId xmlns:a16="http://schemas.microsoft.com/office/drawing/2014/main" val="1907166431"/>
                    </a:ext>
                  </a:extLst>
                </a:gridCol>
                <a:gridCol w="4224866">
                  <a:extLst>
                    <a:ext uri="{9D8B030D-6E8A-4147-A177-3AD203B41FA5}">
                      <a16:colId xmlns:a16="http://schemas.microsoft.com/office/drawing/2014/main" val="3484362391"/>
                    </a:ext>
                  </a:extLst>
                </a:gridCol>
                <a:gridCol w="1024468">
                  <a:extLst>
                    <a:ext uri="{9D8B030D-6E8A-4147-A177-3AD203B41FA5}">
                      <a16:colId xmlns:a16="http://schemas.microsoft.com/office/drawing/2014/main" val="326053815"/>
                    </a:ext>
                  </a:extLst>
                </a:gridCol>
              </a:tblGrid>
              <a:tr h="376697">
                <a:tc>
                  <a:txBody>
                    <a:bodyPr/>
                    <a:lstStyle/>
                    <a:p>
                      <a:r>
                        <a:rPr lang="en-GB" sz="1100" dirty="0"/>
                        <a:t>Model</a:t>
                      </a:r>
                    </a:p>
                  </a:txBody>
                  <a:tcPr/>
                </a:tc>
                <a:tc>
                  <a:txBody>
                    <a:bodyPr/>
                    <a:lstStyle/>
                    <a:p>
                      <a:r>
                        <a:rPr lang="en-GB" sz="1100" dirty="0"/>
                        <a:t>Hyperparameters</a:t>
                      </a:r>
                    </a:p>
                  </a:txBody>
                  <a:tcPr/>
                </a:tc>
                <a:tc>
                  <a:txBody>
                    <a:bodyPr/>
                    <a:lstStyle/>
                    <a:p>
                      <a:r>
                        <a:rPr lang="en-GB" sz="1050" dirty="0"/>
                        <a:t>Validation Metric</a:t>
                      </a:r>
                    </a:p>
                  </a:txBody>
                  <a:tcPr/>
                </a:tc>
                <a:extLst>
                  <a:ext uri="{0D108BD9-81ED-4DB2-BD59-A6C34878D82A}">
                    <a16:rowId xmlns:a16="http://schemas.microsoft.com/office/drawing/2014/main" val="3158663126"/>
                  </a:ext>
                </a:extLst>
              </a:tr>
              <a:tr h="485121">
                <a:tc>
                  <a:txBody>
                    <a:bodyPr/>
                    <a:lstStyle/>
                    <a:p>
                      <a:r>
                        <a:rPr lang="en-US" sz="1050" dirty="0"/>
                        <a:t>1. Logistic Regression</a:t>
                      </a:r>
                      <a:endParaRPr lang="en-GB" sz="1050" dirty="0"/>
                    </a:p>
                  </a:txBody>
                  <a:tcPr/>
                </a:tc>
                <a:tc>
                  <a:txBody>
                    <a:bodyPr/>
                    <a:lstStyle/>
                    <a:p>
                      <a:r>
                        <a:rPr lang="en-GB" sz="1050" i="1" dirty="0">
                          <a:ea typeface="Calibri"/>
                          <a:cs typeface="Calibri"/>
                        </a:rPr>
                        <a:t>• </a:t>
                      </a:r>
                      <a:r>
                        <a:rPr lang="en-GB" sz="1050" i="1" dirty="0"/>
                        <a:t>L1-regularisation (Lasso), C</a:t>
                      </a:r>
                      <a:r>
                        <a:rPr lang="en-GB" sz="1050" dirty="0"/>
                        <a:t> : 0.001, 0.01, 0.05, 0.1, 0.2, 1, 10, 100, 1000;</a:t>
                      </a:r>
                    </a:p>
                    <a:p>
                      <a:r>
                        <a:rPr lang="en-GB" sz="1050" i="1" dirty="0">
                          <a:ea typeface="Calibri"/>
                          <a:cs typeface="Calibri"/>
                        </a:rPr>
                        <a:t>• </a:t>
                      </a:r>
                      <a:r>
                        <a:rPr lang="en-GB" sz="1050" i="1" dirty="0"/>
                        <a:t>L2-regularisation (Ridge), C</a:t>
                      </a:r>
                      <a:r>
                        <a:rPr lang="en-GB" sz="1050" dirty="0"/>
                        <a:t> : 0.001, 0.01, 0.05, 0.1, 0.2, 1, 10, 100, 1000 </a:t>
                      </a: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50" b="1" i="1" dirty="0">
                          <a:ea typeface="Calibri"/>
                          <a:cs typeface="Calibri"/>
                        </a:rPr>
                        <a:t>The best result was achieved at L2, C = 0.05 and class balancing. </a:t>
                      </a:r>
                      <a:endParaRPr lang="en-GB" sz="1050" b="1" i="1" dirty="0"/>
                    </a:p>
                  </a:txBody>
                  <a:tcPr/>
                </a:tc>
                <a:tc>
                  <a:txBody>
                    <a:bodyPr/>
                    <a:lstStyle/>
                    <a:p>
                      <a:endParaRPr lang="en-GB" sz="1050" dirty="0">
                        <a:ea typeface="Calibri"/>
                        <a:cs typeface="Calibri"/>
                      </a:endParaRPr>
                    </a:p>
                    <a:p>
                      <a:r>
                        <a:rPr lang="en-GB" sz="1050" b="1" dirty="0">
                          <a:ea typeface="Calibri"/>
                          <a:cs typeface="Calibri"/>
                        </a:rPr>
                        <a:t>Recall = 91.9</a:t>
                      </a:r>
                      <a:r>
                        <a:rPr lang="en-GB" sz="1050" b="1" dirty="0"/>
                        <a:t>%</a:t>
                      </a:r>
                    </a:p>
                    <a:p>
                      <a:r>
                        <a:rPr lang="en-GB" sz="1050" b="1" dirty="0">
                          <a:ea typeface="Calibri"/>
                          <a:cs typeface="Calibri"/>
                        </a:rPr>
                        <a:t>AUC = 97.1</a:t>
                      </a:r>
                      <a:r>
                        <a:rPr lang="en-GB" sz="1050" b="1" dirty="0"/>
                        <a:t>%</a:t>
                      </a:r>
                    </a:p>
                  </a:txBody>
                  <a:tcPr/>
                </a:tc>
                <a:extLst>
                  <a:ext uri="{0D108BD9-81ED-4DB2-BD59-A6C34878D82A}">
                    <a16:rowId xmlns:a16="http://schemas.microsoft.com/office/drawing/2014/main" val="391472538"/>
                  </a:ext>
                </a:extLst>
              </a:tr>
              <a:tr h="29107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2. Neural Network</a:t>
                      </a:r>
                      <a:endParaRPr lang="en-GB" sz="1050" dirty="0"/>
                    </a:p>
                  </a:txBody>
                  <a:tcPr/>
                </a:tc>
                <a:tc>
                  <a:txBody>
                    <a:bodyPr/>
                    <a:lstStyle/>
                    <a:p>
                      <a:pPr marL="0" indent="0">
                        <a:buFont typeface="Arial" panose="020B0604020202020204" pitchFamily="34" charset="0"/>
                        <a:buNone/>
                        <a:tabLst>
                          <a:tab pos="219075" algn="l"/>
                        </a:tabLst>
                      </a:pPr>
                      <a:r>
                        <a:rPr lang="en-GB" sz="1050" i="1" dirty="0">
                          <a:ea typeface="Calibri"/>
                          <a:cs typeface="Calibri"/>
                        </a:rPr>
                        <a:t>• Neurons in hidden layers: </a:t>
                      </a:r>
                      <a:r>
                        <a:rPr lang="en-GB" sz="1050" dirty="0">
                          <a:ea typeface="Calibri"/>
                          <a:cs typeface="Calibri"/>
                        </a:rPr>
                        <a:t>10, 20, 50, 100, 200, 300;</a:t>
                      </a:r>
                    </a:p>
                    <a:p>
                      <a:pPr marL="0" indent="0">
                        <a:buFont typeface="Arial" panose="020B0604020202020204" pitchFamily="34" charset="0"/>
                        <a:buNone/>
                        <a:tabLst>
                          <a:tab pos="219075" algn="l"/>
                        </a:tabLst>
                      </a:pPr>
                      <a:r>
                        <a:rPr lang="en-GB" sz="1050" i="1" dirty="0">
                          <a:ea typeface="Calibri"/>
                          <a:cs typeface="Calibri"/>
                        </a:rPr>
                        <a:t>• Activation functions</a:t>
                      </a:r>
                      <a:r>
                        <a:rPr lang="en-GB" sz="1050" dirty="0">
                          <a:ea typeface="Calibri"/>
                          <a:cs typeface="Calibri"/>
                        </a:rPr>
                        <a:t>: </a:t>
                      </a:r>
                      <a:r>
                        <a:rPr lang="en-GB" sz="1050" dirty="0" err="1">
                          <a:ea typeface="Calibri"/>
                          <a:cs typeface="Calibri"/>
                        </a:rPr>
                        <a:t>ReLu</a:t>
                      </a:r>
                      <a:r>
                        <a:rPr lang="en-GB" sz="1050" dirty="0">
                          <a:ea typeface="Calibri"/>
                          <a:cs typeface="Calibri"/>
                        </a:rPr>
                        <a:t>, tanh, logistic;</a:t>
                      </a:r>
                    </a:p>
                    <a:p>
                      <a:pPr marL="0" indent="0">
                        <a:buFont typeface="Arial" panose="020B0604020202020204" pitchFamily="34" charset="0"/>
                        <a:buNone/>
                        <a:tabLst>
                          <a:tab pos="219075" algn="l"/>
                        </a:tabLst>
                      </a:pPr>
                      <a:r>
                        <a:rPr lang="en-GB" sz="1050" i="1" dirty="0">
                          <a:ea typeface="Calibri"/>
                          <a:cs typeface="Calibri"/>
                        </a:rPr>
                        <a:t>• Solver: </a:t>
                      </a:r>
                      <a:r>
                        <a:rPr lang="en-GB" sz="1050" dirty="0">
                          <a:ea typeface="Calibri"/>
                          <a:cs typeface="Calibri"/>
                        </a:rPr>
                        <a:t>Adam, L-BFGS, SGD;</a:t>
                      </a:r>
                    </a:p>
                    <a:p>
                      <a:pPr marL="0" indent="0">
                        <a:buFont typeface="Arial" panose="020B0604020202020204" pitchFamily="34" charset="0"/>
                        <a:buNone/>
                        <a:tabLst>
                          <a:tab pos="219075" algn="l"/>
                        </a:tabLst>
                      </a:pPr>
                      <a:r>
                        <a:rPr lang="en-GB" sz="1050" i="1" dirty="0">
                          <a:ea typeface="Calibri"/>
                          <a:cs typeface="Calibri"/>
                        </a:rPr>
                        <a:t>• Regularisation: </a:t>
                      </a:r>
                      <a:r>
                        <a:rPr lang="en-GB" sz="1050" dirty="0">
                          <a:ea typeface="Calibri"/>
                          <a:cs typeface="Calibri"/>
                        </a:rPr>
                        <a:t>0.0001, 0.001, 0.01, 0.1, 1, 2, 3, 4, 5, 6, 7, 8, 10, 15;</a:t>
                      </a:r>
                    </a:p>
                    <a:p>
                      <a:pPr marL="0" indent="0">
                        <a:buFont typeface="Arial" panose="020B0604020202020204" pitchFamily="34" charset="0"/>
                        <a:buNone/>
                        <a:tabLst>
                          <a:tab pos="219075" algn="l"/>
                        </a:tabLst>
                      </a:pPr>
                      <a:r>
                        <a:rPr lang="en-GB" sz="1050" i="1" dirty="0">
                          <a:ea typeface="Calibri"/>
                          <a:cs typeface="Calibri"/>
                        </a:rPr>
                        <a:t>• Max iterations: </a:t>
                      </a:r>
                      <a:r>
                        <a:rPr lang="en-GB" sz="1050" dirty="0">
                          <a:ea typeface="Calibri"/>
                          <a:cs typeface="Calibri"/>
                        </a:rPr>
                        <a:t>50, 100, 200, 300, 400, 500, 700, 800, 1000. </a:t>
                      </a:r>
                    </a:p>
                    <a:p>
                      <a:pPr marL="0" indent="0">
                        <a:buFont typeface="Arial" panose="020B0604020202020204" pitchFamily="34" charset="0"/>
                        <a:buNone/>
                        <a:tabLst>
                          <a:tab pos="219075" algn="l"/>
                        </a:tabLst>
                      </a:pPr>
                      <a:r>
                        <a:rPr lang="en-GB" sz="1050" b="1" i="1" dirty="0">
                          <a:ea typeface="Calibri"/>
                          <a:cs typeface="Calibri"/>
                        </a:rPr>
                        <a:t>The best result was achieved at </a:t>
                      </a:r>
                      <a:r>
                        <a:rPr lang="en-GB" sz="1050" b="1" i="1" dirty="0"/>
                        <a:t>50 neurons in the hidden layer, a tanh activation function, the SGD solver and 200 </a:t>
                      </a:r>
                      <a:r>
                        <a:rPr lang="en-GB" sz="1050" b="1" i="1" dirty="0">
                          <a:ea typeface="Calibri"/>
                          <a:cs typeface="Calibri"/>
                        </a:rPr>
                        <a:t>epochs. </a:t>
                      </a:r>
                    </a:p>
                  </a:txBody>
                  <a:tcPr/>
                </a:tc>
                <a:tc>
                  <a:txBody>
                    <a:bodyPr/>
                    <a:lstStyle/>
                    <a:p>
                      <a:endParaRPr lang="en-GB" sz="1050" dirty="0"/>
                    </a:p>
                    <a:p>
                      <a:endParaRPr lang="en-GB" sz="1050" dirty="0"/>
                    </a:p>
                    <a:p>
                      <a:endParaRPr lang="en-GB" sz="1050" dirty="0"/>
                    </a:p>
                    <a:p>
                      <a:endParaRPr lang="en-GB" sz="1050" dirty="0"/>
                    </a:p>
                    <a:p>
                      <a:endParaRPr lang="en-GB" sz="1050" b="1" dirty="0">
                        <a:ea typeface="Calibri"/>
                        <a:cs typeface="Calibri"/>
                      </a:endParaRPr>
                    </a:p>
                    <a:p>
                      <a:r>
                        <a:rPr lang="en-GB" sz="1050" b="1" dirty="0">
                          <a:ea typeface="Calibri"/>
                          <a:cs typeface="Calibri"/>
                        </a:rPr>
                        <a:t>Recall = 92.8</a:t>
                      </a:r>
                      <a:r>
                        <a:rPr lang="en-GB" sz="1050" b="1" dirty="0"/>
                        <a:t>%</a:t>
                      </a:r>
                    </a:p>
                    <a:p>
                      <a:r>
                        <a:rPr lang="en-GB" sz="1050" b="1" dirty="0">
                          <a:ea typeface="Calibri"/>
                          <a:cs typeface="Calibri"/>
                        </a:rPr>
                        <a:t>AUC = 96.5</a:t>
                      </a:r>
                      <a:r>
                        <a:rPr lang="en-GB" sz="1050" b="1" dirty="0"/>
                        <a:t>%</a:t>
                      </a:r>
                    </a:p>
                  </a:txBody>
                  <a:tcPr/>
                </a:tc>
                <a:extLst>
                  <a:ext uri="{0D108BD9-81ED-4DB2-BD59-A6C34878D82A}">
                    <a16:rowId xmlns:a16="http://schemas.microsoft.com/office/drawing/2014/main" val="3680307176"/>
                  </a:ext>
                </a:extLst>
              </a:tr>
              <a:tr h="29107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050" dirty="0"/>
                        <a:t>3. Decision Tree</a:t>
                      </a:r>
                      <a:endParaRPr lang="en-GB" sz="1050" dirty="0"/>
                    </a:p>
                  </a:txBody>
                  <a:tcPr/>
                </a:tc>
                <a:tc>
                  <a:txBody>
                    <a:bodyPr/>
                    <a:lstStyle/>
                    <a:p>
                      <a:pPr marL="0" indent="0">
                        <a:buFont typeface="Arial" panose="020B0604020202020204" pitchFamily="34" charset="0"/>
                        <a:buNone/>
                        <a:tabLst>
                          <a:tab pos="219075" algn="l"/>
                        </a:tabLst>
                      </a:pPr>
                      <a:r>
                        <a:rPr lang="en-GB" sz="1050" i="1" dirty="0">
                          <a:ea typeface="Calibri"/>
                          <a:cs typeface="Calibri"/>
                        </a:rPr>
                        <a:t>• Minimum number of instances in leaves: </a:t>
                      </a:r>
                      <a:r>
                        <a:rPr lang="en-GB" sz="1050" dirty="0">
                          <a:ea typeface="Calibri"/>
                          <a:cs typeface="Calibri"/>
                        </a:rPr>
                        <a:t>2, 5, 10, 20;</a:t>
                      </a:r>
                    </a:p>
                    <a:p>
                      <a:pPr marL="0" indent="0">
                        <a:buFont typeface="Arial" panose="020B0604020202020204" pitchFamily="34" charset="0"/>
                        <a:buNone/>
                        <a:tabLst>
                          <a:tab pos="219075" algn="l"/>
                        </a:tabLst>
                      </a:pPr>
                      <a:r>
                        <a:rPr lang="en-GB" sz="1050" i="1" dirty="0">
                          <a:ea typeface="Calibri"/>
                          <a:cs typeface="Calibri"/>
                        </a:rPr>
                        <a:t>• Split subsets: </a:t>
                      </a:r>
                      <a:r>
                        <a:rPr lang="en-GB" sz="1050" dirty="0">
                          <a:ea typeface="Calibri"/>
                          <a:cs typeface="Calibri"/>
                        </a:rPr>
                        <a:t>5, 10, 20, which did not have any effect on the results;</a:t>
                      </a:r>
                    </a:p>
                    <a:p>
                      <a:pPr marL="0" indent="0">
                        <a:buFont typeface="Arial" panose="020B0604020202020204" pitchFamily="34" charset="0"/>
                        <a:buNone/>
                        <a:tabLst>
                          <a:tab pos="219075" algn="l"/>
                        </a:tabLst>
                      </a:pPr>
                      <a:r>
                        <a:rPr lang="en-GB" sz="1050" i="1" dirty="0">
                          <a:ea typeface="Calibri"/>
                          <a:cs typeface="Calibri"/>
                        </a:rPr>
                        <a:t>• Maximum tree depth: </a:t>
                      </a:r>
                      <a:r>
                        <a:rPr lang="en-GB" sz="1050" dirty="0">
                          <a:ea typeface="Calibri"/>
                          <a:cs typeface="Calibri"/>
                        </a:rPr>
                        <a:t>2, 5, 8, 10. </a:t>
                      </a:r>
                    </a:p>
                    <a:p>
                      <a:pPr>
                        <a:tabLst>
                          <a:tab pos="219075" algn="l"/>
                        </a:tabLst>
                      </a:pPr>
                      <a:r>
                        <a:rPr lang="en-GB" sz="1050" b="1" i="1" dirty="0">
                          <a:ea typeface="Calibri"/>
                          <a:cs typeface="Calibri"/>
                        </a:rPr>
                        <a:t>The best result was achieved at 10 instances in leaves, 5 split subsets and a maximum tree depth of 10</a:t>
                      </a:r>
                      <a:r>
                        <a:rPr lang="en-GB" sz="1050" dirty="0">
                          <a:ea typeface="Calibri"/>
                          <a:cs typeface="Calibri"/>
                        </a:rPr>
                        <a:t>. </a:t>
                      </a:r>
                      <a:endParaRPr lang="en-GB" sz="1050" b="1" dirty="0">
                        <a:ea typeface="Calibri"/>
                        <a:cs typeface="Calibri"/>
                      </a:endParaRPr>
                    </a:p>
                  </a:txBody>
                  <a:tcPr/>
                </a:tc>
                <a:tc>
                  <a:txBody>
                    <a:bodyPr/>
                    <a:lstStyle/>
                    <a:p>
                      <a:endParaRPr lang="en-GB" sz="1050" b="1" dirty="0">
                        <a:ea typeface="Calibri"/>
                        <a:cs typeface="Calibri"/>
                      </a:endParaRPr>
                    </a:p>
                    <a:p>
                      <a:endParaRPr lang="en-GB" sz="1050" b="1" dirty="0">
                        <a:ea typeface="Calibri"/>
                        <a:cs typeface="Calibri"/>
                      </a:endParaRPr>
                    </a:p>
                    <a:p>
                      <a:endParaRPr lang="en-GB" sz="1050" b="1" dirty="0">
                        <a:ea typeface="Calibri"/>
                        <a:cs typeface="Calibri"/>
                      </a:endParaRPr>
                    </a:p>
                    <a:p>
                      <a:r>
                        <a:rPr lang="en-GB" sz="1050" b="1" dirty="0">
                          <a:ea typeface="Calibri"/>
                          <a:cs typeface="Calibri"/>
                        </a:rPr>
                        <a:t>Recall = 88.9</a:t>
                      </a:r>
                      <a:r>
                        <a:rPr lang="en-GB" sz="1050" b="1" dirty="0"/>
                        <a:t>%</a:t>
                      </a:r>
                    </a:p>
                    <a:p>
                      <a:r>
                        <a:rPr lang="en-GB" sz="1050" b="1" dirty="0">
                          <a:ea typeface="Calibri"/>
                          <a:cs typeface="Calibri"/>
                        </a:rPr>
                        <a:t>AUC = 93.8</a:t>
                      </a:r>
                      <a:r>
                        <a:rPr lang="en-GB" sz="1050" b="1" dirty="0"/>
                        <a:t>%</a:t>
                      </a:r>
                    </a:p>
                  </a:txBody>
                  <a:tcPr/>
                </a:tc>
                <a:extLst>
                  <a:ext uri="{0D108BD9-81ED-4DB2-BD59-A6C34878D82A}">
                    <a16:rowId xmlns:a16="http://schemas.microsoft.com/office/drawing/2014/main" val="1144539082"/>
                  </a:ext>
                </a:extLst>
              </a:tr>
            </a:tbl>
          </a:graphicData>
        </a:graphic>
      </p:graphicFrame>
      <p:sp>
        <p:nvSpPr>
          <p:cNvPr id="8" name="TextBox 7">
            <a:extLst>
              <a:ext uri="{FF2B5EF4-FFF2-40B4-BE49-F238E27FC236}">
                <a16:creationId xmlns:a16="http://schemas.microsoft.com/office/drawing/2014/main" id="{53F18AD2-7D7C-86A1-617F-5ED4C88C525F}"/>
              </a:ext>
            </a:extLst>
          </p:cNvPr>
          <p:cNvSpPr txBox="1"/>
          <p:nvPr/>
        </p:nvSpPr>
        <p:spPr>
          <a:xfrm>
            <a:off x="358007" y="221862"/>
            <a:ext cx="8885186" cy="523220"/>
          </a:xfrm>
          <a:prstGeom prst="rect">
            <a:avLst/>
          </a:prstGeom>
          <a:noFill/>
        </p:spPr>
        <p:txBody>
          <a:bodyPr wrap="square" lIns="91440" tIns="45720" rIns="91440" bIns="45720" rtlCol="0" anchor="t">
            <a:spAutoFit/>
          </a:bodyPr>
          <a:lstStyle/>
          <a:p>
            <a:r>
              <a:rPr lang="en-GB" sz="2800" dirty="0"/>
              <a:t>ITNPBD6 Assignment 1. Student Number </a:t>
            </a:r>
            <a:r>
              <a:rPr lang="en-GB" sz="2800" dirty="0" err="1"/>
              <a:t>xxxxxx</a:t>
            </a:r>
            <a:endParaRPr lang="en-GB" sz="2800" dirty="0">
              <a:ea typeface="Calibri" panose="020F0502020204030204"/>
              <a:cs typeface="Calibri" panose="020F0502020204030204"/>
            </a:endParaRPr>
          </a:p>
        </p:txBody>
      </p:sp>
      <p:sp>
        <p:nvSpPr>
          <p:cNvPr id="14" name="TextBox 13">
            <a:extLst>
              <a:ext uri="{FF2B5EF4-FFF2-40B4-BE49-F238E27FC236}">
                <a16:creationId xmlns:a16="http://schemas.microsoft.com/office/drawing/2014/main" id="{720648D2-2C2F-D4B7-A939-01723E5AA434}"/>
              </a:ext>
            </a:extLst>
          </p:cNvPr>
          <p:cNvSpPr txBox="1"/>
          <p:nvPr/>
        </p:nvSpPr>
        <p:spPr>
          <a:xfrm>
            <a:off x="358007" y="745082"/>
            <a:ext cx="6271392" cy="1785104"/>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dirty="0"/>
              <a:t>3. Variables</a:t>
            </a:r>
            <a:endParaRPr lang="en-GB" sz="900" dirty="0">
              <a:ea typeface="Calibri"/>
              <a:cs typeface="Calibri"/>
            </a:endParaRPr>
          </a:p>
          <a:p>
            <a:pPr lvl="0" defTabSz="1706910">
              <a:defRPr/>
            </a:pPr>
            <a:r>
              <a:rPr lang="en-GB" sz="1000" dirty="0">
                <a:ea typeface="Calibri"/>
                <a:cs typeface="Calibri"/>
              </a:rPr>
              <a:t>Almost all input variables are continuous numeric features; only two variables (</a:t>
            </a:r>
            <a:r>
              <a:rPr lang="en-GB" sz="1000" dirty="0" err="1">
                <a:ea typeface="Calibri"/>
                <a:cs typeface="Calibri"/>
              </a:rPr>
              <a:t>inspection_season</a:t>
            </a:r>
            <a:r>
              <a:rPr lang="en-GB" sz="1000" dirty="0">
                <a:ea typeface="Calibri"/>
                <a:cs typeface="Calibri"/>
              </a:rPr>
              <a:t> and </a:t>
            </a:r>
            <a:r>
              <a:rPr lang="en-GB" sz="1000" dirty="0" err="1">
                <a:ea typeface="Calibri"/>
                <a:cs typeface="Calibri"/>
              </a:rPr>
              <a:t>inspection_window</a:t>
            </a:r>
            <a:r>
              <a:rPr lang="en-GB" sz="1000" dirty="0">
                <a:ea typeface="Calibri"/>
                <a:cs typeface="Calibri"/>
              </a:rPr>
              <a:t>) are categorical and were encoded using one-hot encoding for Logistic Regression and Neural Network models. </a:t>
            </a:r>
          </a:p>
          <a:p>
            <a:pPr lvl="0" defTabSz="1706910">
              <a:defRPr/>
            </a:pPr>
            <a:r>
              <a:rPr lang="en-GB" sz="1000" dirty="0">
                <a:ea typeface="Calibri"/>
                <a:cs typeface="Calibri"/>
              </a:rPr>
              <a:t>Additionally, there is one discrete numerical variable – </a:t>
            </a:r>
            <a:r>
              <a:rPr lang="en-GB" sz="1000" dirty="0" err="1">
                <a:ea typeface="Calibri"/>
                <a:cs typeface="Calibri"/>
              </a:rPr>
              <a:t>inspector_id</a:t>
            </a:r>
            <a:r>
              <a:rPr lang="en-GB" sz="1000" dirty="0">
                <a:ea typeface="Calibri"/>
                <a:cs typeface="Calibri"/>
              </a:rPr>
              <a:t>, - which identifies an inspector and not contain information about infrastructure, so it has almost nothing to do with failure. This variable adds unnecessary dimension to the model, increase its complexity, and introduces more noise. Thus, it was removed from the dataset.</a:t>
            </a:r>
          </a:p>
          <a:p>
            <a:pPr lvl="0" defTabSz="1706910">
              <a:defRPr/>
            </a:pPr>
            <a:r>
              <a:rPr lang="en-GB" sz="1000" dirty="0">
                <a:solidFill>
                  <a:prstClr val="black"/>
                </a:solidFill>
                <a:latin typeface="Calibri" panose="020F0502020204030204"/>
                <a:cs typeface="Calibri"/>
              </a:rPr>
              <a:t>During </a:t>
            </a:r>
            <a:r>
              <a:rPr lang="en-GB" sz="1000" dirty="0"/>
              <a:t>the Feature Selection stage, </a:t>
            </a:r>
            <a:r>
              <a:rPr lang="en-GB" sz="1000" dirty="0" err="1"/>
              <a:t>inspection_window</a:t>
            </a:r>
            <a:r>
              <a:rPr lang="en-GB" sz="1000" dirty="0"/>
              <a:t>, </a:t>
            </a:r>
            <a:r>
              <a:rPr lang="en-GB" sz="1000" dirty="0" err="1"/>
              <a:t>inspection_season</a:t>
            </a:r>
            <a:r>
              <a:rPr lang="en-GB" sz="1000" dirty="0"/>
              <a:t>=autumn, </a:t>
            </a:r>
            <a:r>
              <a:rPr lang="en-GB" sz="1000" dirty="0" err="1"/>
              <a:t>inspection_season</a:t>
            </a:r>
            <a:r>
              <a:rPr lang="en-GB" sz="1000" dirty="0"/>
              <a:t>=spring, and </a:t>
            </a:r>
            <a:r>
              <a:rPr lang="en-GB" sz="1000" dirty="0" err="1"/>
              <a:t>vibration_exposure</a:t>
            </a:r>
            <a:r>
              <a:rPr lang="en-GB" sz="1000" dirty="0"/>
              <a:t> were deleted due to their very low predictive value. This improved model performance by reducing dimensionality, model complexity and noise.</a:t>
            </a:r>
            <a:endParaRPr lang="en-GB" sz="1000" dirty="0">
              <a:solidFill>
                <a:prstClr val="black"/>
              </a:solidFill>
              <a:latin typeface="Calibri" panose="020F0502020204030204"/>
              <a:cs typeface="Calibri"/>
            </a:endParaRPr>
          </a:p>
        </p:txBody>
      </p:sp>
      <p:sp>
        <p:nvSpPr>
          <p:cNvPr id="3" name="TextBox 2">
            <a:extLst>
              <a:ext uri="{FF2B5EF4-FFF2-40B4-BE49-F238E27FC236}">
                <a16:creationId xmlns:a16="http://schemas.microsoft.com/office/drawing/2014/main" id="{483CDE9C-72DC-E883-E910-51206EB5A594}"/>
              </a:ext>
            </a:extLst>
          </p:cNvPr>
          <p:cNvSpPr txBox="1"/>
          <p:nvPr/>
        </p:nvSpPr>
        <p:spPr>
          <a:xfrm>
            <a:off x="351666" y="6966667"/>
            <a:ext cx="6277733" cy="2523768"/>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dirty="0"/>
              <a:t>7. Insight about data </a:t>
            </a:r>
            <a:r>
              <a:rPr lang="en-GB" b="0" i="0" dirty="0">
                <a:solidFill>
                  <a:srgbClr val="000000"/>
                </a:solidFill>
                <a:effectLst/>
                <a:latin typeface="Calibri"/>
                <a:ea typeface="Calibri"/>
                <a:cs typeface="Calibri"/>
              </a:rPr>
              <a:t>or </a:t>
            </a:r>
            <a:r>
              <a:rPr lang="en-GB" dirty="0">
                <a:solidFill>
                  <a:srgbClr val="000000"/>
                </a:solidFill>
                <a:latin typeface="Calibri"/>
                <a:ea typeface="Calibri"/>
                <a:cs typeface="Calibri"/>
              </a:rPr>
              <a:t>models gained</a:t>
            </a:r>
            <a:endParaRPr lang="en-GB" sz="1200" dirty="0">
              <a:solidFill>
                <a:srgbClr val="000000"/>
              </a:solidFill>
              <a:latin typeface="Calibri"/>
              <a:ea typeface="Calibri"/>
              <a:cs typeface="Calibri"/>
            </a:endParaRPr>
          </a:p>
          <a:p>
            <a:r>
              <a:rPr lang="en-GB" sz="1000" dirty="0">
                <a:ea typeface="Calibri"/>
                <a:cs typeface="Calibri"/>
              </a:rPr>
              <a:t>Features such as </a:t>
            </a:r>
            <a:r>
              <a:rPr lang="en-GB" sz="1000" dirty="0" err="1">
                <a:ea typeface="Calibri"/>
                <a:cs typeface="Calibri"/>
              </a:rPr>
              <a:t>surface_debris</a:t>
            </a:r>
            <a:r>
              <a:rPr lang="en-GB" sz="1000" dirty="0">
                <a:ea typeface="Calibri"/>
                <a:cs typeface="Calibri"/>
              </a:rPr>
              <a:t>, </a:t>
            </a:r>
            <a:r>
              <a:rPr lang="en-GB" sz="1000" dirty="0" err="1">
                <a:ea typeface="Calibri"/>
                <a:cs typeface="Calibri"/>
              </a:rPr>
              <a:t>structural_mass_ratio</a:t>
            </a:r>
            <a:r>
              <a:rPr lang="en-GB" sz="1000" dirty="0">
                <a:ea typeface="Calibri"/>
                <a:cs typeface="Calibri"/>
              </a:rPr>
              <a:t>, </a:t>
            </a:r>
            <a:r>
              <a:rPr lang="en-GB" sz="1000" dirty="0" err="1">
                <a:ea typeface="Calibri"/>
                <a:cs typeface="Calibri"/>
              </a:rPr>
              <a:t>recent_precipitation</a:t>
            </a:r>
            <a:r>
              <a:rPr lang="en-GB" sz="1000" dirty="0">
                <a:ea typeface="Calibri"/>
                <a:cs typeface="Calibri"/>
              </a:rPr>
              <a:t>, </a:t>
            </a:r>
            <a:r>
              <a:rPr lang="en-GB" sz="1000" dirty="0" err="1">
                <a:ea typeface="Calibri"/>
                <a:cs typeface="Calibri"/>
              </a:rPr>
              <a:t>infrastructure_age</a:t>
            </a:r>
            <a:r>
              <a:rPr lang="en-GB" sz="1000" dirty="0">
                <a:ea typeface="Calibri"/>
                <a:cs typeface="Calibri"/>
              </a:rPr>
              <a:t>, </a:t>
            </a:r>
            <a:r>
              <a:rPr lang="en-GB" sz="1000" dirty="0" err="1">
                <a:ea typeface="Calibri"/>
                <a:cs typeface="Calibri"/>
              </a:rPr>
              <a:t>moisture_stress</a:t>
            </a:r>
            <a:r>
              <a:rPr lang="en-GB" sz="1000" dirty="0">
                <a:ea typeface="Calibri"/>
                <a:cs typeface="Calibri"/>
              </a:rPr>
              <a:t> have a significant impact on infrastructure failure, with higher values associated with an increased probability of failure. In contrast, features such as </a:t>
            </a:r>
            <a:r>
              <a:rPr lang="en-GB" sz="1000" dirty="0" err="1">
                <a:ea typeface="Calibri"/>
                <a:cs typeface="Calibri"/>
              </a:rPr>
              <a:t>inspection_window</a:t>
            </a:r>
            <a:r>
              <a:rPr lang="en-GB" sz="1000" dirty="0">
                <a:ea typeface="Calibri"/>
                <a:cs typeface="Calibri"/>
              </a:rPr>
              <a:t>, </a:t>
            </a:r>
            <a:r>
              <a:rPr lang="en-GB" sz="1000" dirty="0" err="1">
                <a:ea typeface="Calibri"/>
                <a:cs typeface="Calibri"/>
              </a:rPr>
              <a:t>inspection_season</a:t>
            </a:r>
            <a:r>
              <a:rPr lang="en-GB" sz="1000" dirty="0">
                <a:ea typeface="Calibri"/>
                <a:cs typeface="Calibri"/>
              </a:rPr>
              <a:t> = autumn, </a:t>
            </a:r>
            <a:r>
              <a:rPr lang="en-GB" sz="1000" dirty="0" err="1">
                <a:ea typeface="Calibri"/>
                <a:cs typeface="Calibri"/>
              </a:rPr>
              <a:t>inspection_season</a:t>
            </a:r>
            <a:r>
              <a:rPr lang="en-GB" sz="1000" dirty="0">
                <a:ea typeface="Calibri"/>
                <a:cs typeface="Calibri"/>
              </a:rPr>
              <a:t> = spring, and </a:t>
            </a:r>
            <a:r>
              <a:rPr lang="en-GB" sz="1000" dirty="0" err="1">
                <a:ea typeface="Calibri"/>
                <a:cs typeface="Calibri"/>
              </a:rPr>
              <a:t>vibration_exposure</a:t>
            </a:r>
            <a:r>
              <a:rPr lang="en-GB" sz="1000" dirty="0">
                <a:ea typeface="Calibri"/>
                <a:cs typeface="Calibri"/>
              </a:rPr>
              <a:t> showed almost no predictive value and were therefore removed during feature selection.</a:t>
            </a:r>
          </a:p>
          <a:p>
            <a:r>
              <a:rPr lang="en-GB" sz="1000" dirty="0">
                <a:solidFill>
                  <a:srgbClr val="000000"/>
                </a:solidFill>
                <a:ea typeface="Calibri"/>
                <a:cs typeface="Calibri"/>
              </a:rPr>
              <a:t>The analysis also indicates a clear environmental influence, with failures occurring more frequently during the summer period. This suggests that weather conditions play an important role. </a:t>
            </a:r>
          </a:p>
          <a:p>
            <a:r>
              <a:rPr lang="en-GB" sz="1000" dirty="0">
                <a:solidFill>
                  <a:srgbClr val="000000"/>
                </a:solidFill>
                <a:ea typeface="Calibri"/>
                <a:cs typeface="Calibri"/>
              </a:rPr>
              <a:t>Overall, infrastructure failure depends on both structural characteristics and external environmental factors (e.g., weather and level of infrastructure usage). No strong model bias was observed; however, some seasonal variation is present in the data.</a:t>
            </a:r>
          </a:p>
          <a:p>
            <a:r>
              <a:rPr lang="en-GB" sz="1000" b="1" dirty="0">
                <a:solidFill>
                  <a:srgbClr val="000000"/>
                </a:solidFill>
                <a:ea typeface="Calibri"/>
                <a:cs typeface="Calibri"/>
              </a:rPr>
              <a:t>Logistic Regression was selected as the final model due to its strong performance and interpretability. Its coefficients indicate the direction and strength of the relationship between each feature and the probability of failure, helping to understand which factors lead to failure, it is fast (learns and predicts quickly), simple to tune (few hyperparameters), and practical for real-world decision-making. This demonstrates that simpler, interpretable models can achieve both high performance and practical value in real-world applications.</a:t>
            </a:r>
          </a:p>
        </p:txBody>
      </p:sp>
      <p:grpSp>
        <p:nvGrpSpPr>
          <p:cNvPr id="17" name="Group 16">
            <a:extLst>
              <a:ext uri="{FF2B5EF4-FFF2-40B4-BE49-F238E27FC236}">
                <a16:creationId xmlns:a16="http://schemas.microsoft.com/office/drawing/2014/main" id="{C9381235-277D-FEE5-8190-37A00614230F}"/>
              </a:ext>
            </a:extLst>
          </p:cNvPr>
          <p:cNvGrpSpPr/>
          <p:nvPr/>
        </p:nvGrpSpPr>
        <p:grpSpPr>
          <a:xfrm>
            <a:off x="6755767" y="745082"/>
            <a:ext cx="2523700" cy="1762021"/>
            <a:chOff x="525103" y="5538821"/>
            <a:chExt cx="2523700" cy="1670882"/>
          </a:xfrm>
        </p:grpSpPr>
        <p:sp>
          <p:nvSpPr>
            <p:cNvPr id="16" name="TextBox 15">
              <a:extLst>
                <a:ext uri="{FF2B5EF4-FFF2-40B4-BE49-F238E27FC236}">
                  <a16:creationId xmlns:a16="http://schemas.microsoft.com/office/drawing/2014/main" id="{303339E9-D30D-6514-92CD-6CDE78311274}"/>
                </a:ext>
              </a:extLst>
            </p:cNvPr>
            <p:cNvSpPr txBox="1"/>
            <p:nvPr/>
          </p:nvSpPr>
          <p:spPr>
            <a:xfrm>
              <a:off x="525103" y="5538821"/>
              <a:ext cx="2523700" cy="1670882"/>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prstClr val="black"/>
                  </a:solidFill>
                  <a:effectLst/>
                  <a:uLnTx/>
                  <a:uFillTx/>
                  <a:latin typeface="Calibri" panose="020F0502020204030204"/>
                  <a:ea typeface="+mn-ea"/>
                  <a:cs typeface="+mn-cs"/>
                </a:rPr>
                <a:t>4. Data Preparation</a:t>
              </a:r>
            </a:p>
            <a:p>
              <a:pPr lvl="0" defTabSz="1706910">
                <a:defRPr/>
              </a:pPr>
              <a:r>
                <a:rPr lang="en-GB" sz="1000" dirty="0">
                  <a:solidFill>
                    <a:prstClr val="black"/>
                  </a:solidFill>
                </a:rPr>
                <a:t>The </a:t>
              </a:r>
              <a:r>
                <a:rPr lang="en-GB" sz="1000" dirty="0" err="1">
                  <a:solidFill>
                    <a:prstClr val="black"/>
                  </a:solidFill>
                </a:rPr>
                <a:t>inspection_window</a:t>
              </a:r>
              <a:r>
                <a:rPr lang="en-GB" sz="1000" dirty="0">
                  <a:solidFill>
                    <a:prstClr val="black"/>
                  </a:solidFill>
                </a:rPr>
                <a:t> variable before and </a:t>
              </a:r>
              <a:r>
                <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rPr>
                <a:t>after cleaning. </a:t>
              </a: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00" dirty="0">
                <a:solidFill>
                  <a:prstClr val="black"/>
                </a:solidFill>
                <a:latin typeface="Calibri" panose="020F0502020204030204"/>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pic>
          <p:nvPicPr>
            <p:cNvPr id="4" name="Picture 3">
              <a:extLst>
                <a:ext uri="{FF2B5EF4-FFF2-40B4-BE49-F238E27FC236}">
                  <a16:creationId xmlns:a16="http://schemas.microsoft.com/office/drawing/2014/main" id="{93529DE9-51EE-5AE5-9434-9F9A848C7D78}"/>
                </a:ext>
              </a:extLst>
            </p:cNvPr>
            <p:cNvPicPr>
              <a:picLocks noChangeAspect="1"/>
            </p:cNvPicPr>
            <p:nvPr/>
          </p:nvPicPr>
          <p:blipFill>
            <a:blip r:embed="rId4"/>
            <a:stretch>
              <a:fillRect/>
            </a:stretch>
          </p:blipFill>
          <p:spPr>
            <a:xfrm>
              <a:off x="589137" y="6290327"/>
              <a:ext cx="1063481" cy="817992"/>
            </a:xfrm>
            <a:prstGeom prst="rect">
              <a:avLst/>
            </a:prstGeom>
          </p:spPr>
        </p:pic>
        <p:pic>
          <p:nvPicPr>
            <p:cNvPr id="15" name="Picture 14">
              <a:extLst>
                <a:ext uri="{FF2B5EF4-FFF2-40B4-BE49-F238E27FC236}">
                  <a16:creationId xmlns:a16="http://schemas.microsoft.com/office/drawing/2014/main" id="{639BB438-5B1D-90A3-CBAD-C53CAF55CB98}"/>
                </a:ext>
              </a:extLst>
            </p:cNvPr>
            <p:cNvPicPr>
              <a:picLocks noChangeAspect="1"/>
            </p:cNvPicPr>
            <p:nvPr/>
          </p:nvPicPr>
          <p:blipFill>
            <a:blip r:embed="rId5"/>
            <a:stretch>
              <a:fillRect/>
            </a:stretch>
          </p:blipFill>
          <p:spPr>
            <a:xfrm>
              <a:off x="1916127" y="6275492"/>
              <a:ext cx="1063482" cy="820322"/>
            </a:xfrm>
            <a:prstGeom prst="rect">
              <a:avLst/>
            </a:prstGeom>
          </p:spPr>
        </p:pic>
      </p:grpSp>
    </p:spTree>
    <p:extLst>
      <p:ext uri="{BB962C8B-B14F-4D97-AF65-F5344CB8AC3E}">
        <p14:creationId xmlns:p14="http://schemas.microsoft.com/office/powerpoint/2010/main" val="16987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49E239-D122-40A9-AB11-D677033190C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78572B-7D4E-4A33-82E0-6D91E9A8F67C}">
  <ds:schemaRefs>
    <ds:schemaRef ds:uri="http://schemas.microsoft.com/sharepoint/v3/contenttype/forms"/>
  </ds:schemaRefs>
</ds:datastoreItem>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otalTime>1916</TotalTime>
  <Words>1009</Words>
  <Application>Microsoft Macintosh PowerPoint</Application>
  <PresentationFormat>A3 Paper (297x420 mm)</PresentationFormat>
  <Paragraphs>98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Kristina Palesheva</cp:lastModifiedBy>
  <cp:revision>83</cp:revision>
  <dcterms:created xsi:type="dcterms:W3CDTF">2022-12-31T18:26:39Z</dcterms:created>
  <dcterms:modified xsi:type="dcterms:W3CDTF">2026-03-30T20:04:04Z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